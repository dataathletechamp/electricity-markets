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gif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662" r:id="rId16"/>
  </p:sldMasterIdLst>
  <p:notesMasterIdLst>
    <p:notesMasterId r:id="rId45"/>
  </p:notesMasterIdLst>
  <p:handoutMasterIdLst>
    <p:handoutMasterId r:id="rId46"/>
  </p:handoutMasterIdLst>
  <p:sldIdLst>
    <p:sldId id="322" r:id="rId17"/>
    <p:sldId id="347" r:id="rId18"/>
    <p:sldId id="324" r:id="rId19"/>
    <p:sldId id="323" r:id="rId20"/>
    <p:sldId id="325" r:id="rId21"/>
    <p:sldId id="326" r:id="rId22"/>
    <p:sldId id="328" r:id="rId23"/>
    <p:sldId id="327" r:id="rId24"/>
    <p:sldId id="329" r:id="rId25"/>
    <p:sldId id="330" r:id="rId26"/>
    <p:sldId id="332" r:id="rId27"/>
    <p:sldId id="331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8" r:id="rId37"/>
    <p:sldId id="343" r:id="rId38"/>
    <p:sldId id="341" r:id="rId39"/>
    <p:sldId id="342" r:id="rId40"/>
    <p:sldId id="344" r:id="rId41"/>
    <p:sldId id="345" r:id="rId42"/>
    <p:sldId id="346" r:id="rId43"/>
    <p:sldId id="272" r:id="rId44"/>
  </p:sldIdLst>
  <p:sldSz cx="12190413" cy="6858000"/>
  <p:notesSz cx="6858000" cy="9144000"/>
  <p:custDataLst>
    <p:tags r:id="rId4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C7634"/>
    <a:srgbClr val="171748"/>
    <a:srgbClr val="FFFFFF"/>
    <a:srgbClr val="FFCC00"/>
    <a:srgbClr val="FCBEC5"/>
    <a:srgbClr val="B2D5FF"/>
    <a:srgbClr val="21D063"/>
    <a:srgbClr val="82D096"/>
    <a:srgbClr val="FD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5" autoAdjust="0"/>
    <p:restoredTop sz="96102" autoAdjust="0"/>
  </p:normalViewPr>
  <p:slideViewPr>
    <p:cSldViewPr showGuides="1">
      <p:cViewPr varScale="1">
        <p:scale>
          <a:sx n="70" d="100"/>
          <a:sy n="70" d="100"/>
        </p:scale>
        <p:origin x="612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slide" Target="slides/slide23.xml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slide" Target="slides/slide26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9" Type="http://schemas.openxmlformats.org/officeDocument/2006/relationships/slide" Target="slides/slide13.xml"/><Relationship Id="rId11" Type="http://schemas.openxmlformats.org/officeDocument/2006/relationships/customXml" Target="../customXml/item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40" Type="http://schemas.openxmlformats.org/officeDocument/2006/relationships/slide" Target="slides/slide24.xml"/><Relationship Id="rId45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49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4" Type="http://schemas.openxmlformats.org/officeDocument/2006/relationships/slide" Target="slides/slide28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43" Type="http://schemas.openxmlformats.org/officeDocument/2006/relationships/slide" Target="slides/slide27.xml"/><Relationship Id="rId48" Type="http://schemas.openxmlformats.org/officeDocument/2006/relationships/presProps" Target="presProps.xml"/><Relationship Id="rId8" Type="http://schemas.openxmlformats.org/officeDocument/2006/relationships/customXml" Target="../customXml/item8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slide" Target="slides/slide22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4.xml"/><Relationship Id="rId41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1B27-9FDB-24B1-E1AF-B250046B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1F8F2-DC19-1ECB-2006-625694E60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D4869-9D98-D933-7A19-FB3B5F543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that today is warm up</a:t>
            </a:r>
          </a:p>
          <a:p>
            <a:endParaRPr lang="en-US" dirty="0"/>
          </a:p>
          <a:p>
            <a:r>
              <a:rPr lang="en-US" dirty="0"/>
              <a:t>They can always ask questions</a:t>
            </a:r>
          </a:p>
          <a:p>
            <a:endParaRPr lang="en-US" dirty="0"/>
          </a:p>
          <a:p>
            <a:r>
              <a:rPr lang="en-US" dirty="0"/>
              <a:t>My first lecture, therefore always feedback please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8058C-CF2F-B4D9-07B9-AD1BA2FA7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0771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51F7-1472-316E-8446-20E812BA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52C1D-4BC0-39FE-7E06-ECE9F61F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C83B5-04E5-D9FD-E3FE-B9CE06AC1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EFE6-AA96-2349-9DAB-9F82EBF52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9809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7D5B0-12D3-46CB-B5AD-74A578F638EE}" type="datetime1">
              <a:rPr lang="da-DK" smtClean="0"/>
              <a:t>11-09-2026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E16EF-7DEF-410E-9DA4-B89576A89077}" type="datetime1">
              <a:rPr lang="da-DK" smtClean="0"/>
              <a:t>11-09-2026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800B-FB61-4825-A914-A6516E1E9B64}" type="datetime1">
              <a:rPr lang="da-DK" smtClean="0"/>
              <a:t>11-09-2026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C715493-C4FB-4F30-8E14-EBC89873AF9F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F5BB3F0-8875-4175-806B-DD53DCCF103A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CD448D4-F0E9-4920-918B-EDE1918D79E0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1FCBD6E-7247-42A5-98FC-F30500AC62CE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69EF73A-9E5D-4805-BEF4-D62B7DE67521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E3CA2B6-9335-422D-A8BC-289E0F2E394B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6A717C8A-1C4A-4080-851A-3770C4DFDEA4}" type="datetime1">
              <a:rPr lang="da-DK" smtClean="0"/>
              <a:t>11-09-2026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F2086FEF-CFE7-44C2-B7ED-627081236CC6}" type="datetime1">
              <a:rPr lang="da-DK" smtClean="0"/>
              <a:t>11-09-2026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Game Theory in Electricity Markets - Week 1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632028-DBB3-4F6E-A766-16920CC97322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3723-EB62-C230-2C92-C47B91D7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35C89D01-785F-ABF6-C2DC-C85658D94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58" y="1772816"/>
            <a:ext cx="10840028" cy="2822575"/>
          </a:xfrm>
        </p:spPr>
        <p:txBody>
          <a:bodyPr/>
          <a:lstStyle/>
          <a:p>
            <a:r>
              <a:rPr lang="en-GB" sz="5400" dirty="0"/>
              <a:t>Game Theory in Electricity Markets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C6376EFE-956A-E14F-FAC8-0428F366F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348" y="3061285"/>
            <a:ext cx="10840028" cy="1550517"/>
          </a:xfrm>
        </p:spPr>
        <p:txBody>
          <a:bodyPr/>
          <a:lstStyle/>
          <a:p>
            <a:r>
              <a:rPr lang="en-GB" sz="2000" dirty="0"/>
              <a:t>Week 2 – Solution Concepts 1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8241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2DC5-F15E-DCDF-6DCA-21D9BFA9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you, Marcel!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ECB04-90EF-70E5-68C5-FC22EEB0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800B-FB61-4825-A914-A6516E1E9B64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036B3-2B0B-CCAE-6B0F-13EAB9D8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00FC2-5E9D-7B11-DE97-CB7374AF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439BC2-9F30-795A-8E74-413BCA1F4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3A71BD-09E8-85C9-AF87-AC7CD8873485}"/>
              </a:ext>
            </a:extLst>
          </p:cNvPr>
          <p:cNvSpPr/>
          <p:nvPr/>
        </p:nvSpPr>
        <p:spPr bwMode="auto">
          <a:xfrm>
            <a:off x="4737906" y="2182508"/>
            <a:ext cx="2714600" cy="271460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23942F-5644-EF36-5368-8622B4ED4FE0}"/>
              </a:ext>
            </a:extLst>
          </p:cNvPr>
          <p:cNvSpPr txBox="1"/>
          <p:nvPr/>
        </p:nvSpPr>
        <p:spPr>
          <a:xfrm>
            <a:off x="5087094" y="5000027"/>
            <a:ext cx="1897955" cy="5745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1800" b="1" dirty="0">
                <a:latin typeface="+mn-lt"/>
              </a:rPr>
              <a:t>Marcel Solé </a:t>
            </a:r>
            <a:r>
              <a:rPr lang="en-US" sz="1800" b="1" dirty="0" err="1">
                <a:latin typeface="+mn-lt"/>
              </a:rPr>
              <a:t>Àvila</a:t>
            </a:r>
            <a:endParaRPr lang="en-US" sz="1800" b="1" dirty="0">
              <a:latin typeface="+mn-lt"/>
            </a:endParaRPr>
          </a:p>
          <a:p>
            <a:pPr algn="l">
              <a:spcBef>
                <a:spcPts val="432"/>
              </a:spcBef>
            </a:pPr>
            <a:endParaRPr lang="en-US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77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E911-E229-69C7-9E3F-1C85FF3D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755B-6A81-E591-93FB-F1193E2F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Strategic games in normal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0D9F-D6A8-5798-DED2-88A6B6432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A </a:t>
            </a:r>
            <a:r>
              <a:rPr lang="en-US" sz="1900" i="1" dirty="0">
                <a:solidFill>
                  <a:schemeClr val="tx1"/>
                </a:solidFill>
              </a:rPr>
              <a:t>strategic game in normal form</a:t>
            </a:r>
            <a:r>
              <a:rPr lang="en-US" sz="1900" dirty="0">
                <a:solidFill>
                  <a:schemeClr val="tx1"/>
                </a:solidFill>
              </a:rPr>
              <a:t> is a tuple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i="1" dirty="0"/>
              <a:t>Γ = (N, (A</a:t>
            </a:r>
            <a:r>
              <a:rPr lang="en-US" sz="1700" i="1" baseline="-25000" dirty="0"/>
              <a:t>i</a:t>
            </a:r>
            <a:r>
              <a:rPr lang="en-US" sz="2400" i="1" dirty="0"/>
              <a:t>)</a:t>
            </a:r>
            <a:r>
              <a:rPr lang="en-US" sz="1500" i="1" baseline="-25000" dirty="0"/>
              <a:t>i</a:t>
            </a:r>
            <a:r>
              <a:rPr lang="en-US" sz="1500" baseline="-25000" dirty="0"/>
              <a:t>∈N</a:t>
            </a:r>
            <a:r>
              <a:rPr lang="en-US" sz="2400" i="1" dirty="0"/>
              <a:t>, (c</a:t>
            </a:r>
            <a:r>
              <a:rPr lang="en-US" sz="1700" i="1" baseline="-25000" dirty="0"/>
              <a:t>i</a:t>
            </a:r>
            <a:r>
              <a:rPr lang="en-US" sz="2400" i="1" dirty="0"/>
              <a:t>)</a:t>
            </a:r>
            <a:r>
              <a:rPr lang="en-US" sz="1500" i="1" baseline="-25000" dirty="0"/>
              <a:t>i</a:t>
            </a:r>
            <a:r>
              <a:rPr lang="en-US" sz="1500" baseline="-25000" dirty="0"/>
              <a:t>∈N</a:t>
            </a:r>
            <a:r>
              <a:rPr lang="en-US" sz="24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where: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N</a:t>
            </a:r>
            <a:r>
              <a:rPr lang="en-US" sz="1800" b="1" dirty="0">
                <a:solidFill>
                  <a:schemeClr val="tx1"/>
                </a:solidFill>
              </a:rPr>
              <a:t>   finite, non-empty set of players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 = {1, …, n}: the set of players participating in the game.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  non-empty set of actions for player i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set of actions available to player i ∈ N. We write A = A₁ × A₂ × ⋯ × Aₙ for the set of joint actions (action profiles), and a = (a₁, …, aₙ) ∈ A for a typical joint action.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 : A → ℝ</a:t>
            </a:r>
            <a:r>
              <a:rPr lang="en-US" sz="1800" b="1" dirty="0">
                <a:solidFill>
                  <a:schemeClr val="tx1"/>
                </a:solidFill>
              </a:rPr>
              <a:t>   cost function for player i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Maps a joint action a ∈ A to the cost cᵢ(a) incurred by player 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6EE9B-F491-175F-943A-815729C5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9236E-C517-AF67-ECA3-ECCA7134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96EAD-E45F-B87C-051C-DB85956B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519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The market clearing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43" y="1105941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Let's instantiate </a:t>
            </a:r>
            <a:r>
              <a:rPr lang="en-US" sz="1900" i="1" dirty="0">
                <a:solidFill>
                  <a:schemeClr val="tx1"/>
                </a:solidFill>
              </a:rPr>
              <a:t>Γ = (N, (Aᵢ), (cᵢ))</a:t>
            </a:r>
            <a:r>
              <a:rPr lang="en-US" sz="1900" dirty="0">
                <a:solidFill>
                  <a:schemeClr val="tx1"/>
                </a:solidFill>
              </a:rPr>
              <a:t> for last week's market clearing problem: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N = {G</a:t>
            </a:r>
            <a:r>
              <a:rPr lang="en-US" sz="1400" b="1" i="1" baseline="-25000" dirty="0">
                <a:solidFill>
                  <a:schemeClr val="accent1"/>
                </a:solidFill>
              </a:rPr>
              <a:t>1</a:t>
            </a:r>
            <a:r>
              <a:rPr lang="en-US" sz="1800" b="1" dirty="0">
                <a:solidFill>
                  <a:schemeClr val="accent1"/>
                </a:solidFill>
              </a:rPr>
              <a:t>, …, G</a:t>
            </a:r>
            <a:r>
              <a:rPr lang="en-US" sz="1400" b="1" i="1" baseline="-25000" dirty="0">
                <a:solidFill>
                  <a:schemeClr val="accent1"/>
                </a:solidFill>
              </a:rPr>
              <a:t>5</a:t>
            </a:r>
            <a:r>
              <a:rPr lang="en-US" sz="1800" b="1" dirty="0">
                <a:solidFill>
                  <a:schemeClr val="accent1"/>
                </a:solidFill>
              </a:rPr>
              <a:t>}</a:t>
            </a:r>
            <a:r>
              <a:rPr lang="en-US" sz="1800" b="1" dirty="0">
                <a:solidFill>
                  <a:schemeClr val="tx1"/>
                </a:solidFill>
              </a:rPr>
              <a:t>   the five generators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Each of the five generators from last week's market-clearing example (G₁–G₅) is a player.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A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 = [0, bid_ub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]</a:t>
            </a:r>
            <a:r>
              <a:rPr lang="en-US" sz="1800" b="1" dirty="0">
                <a:solidFill>
                  <a:schemeClr val="tx1"/>
                </a:solidFill>
              </a:rPr>
              <a:t>   generator i's bid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Generator i's action is the price it bids for its capacity.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(a) = c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 · dispatch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(a) − price(a) · dispatch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(a)</a:t>
            </a:r>
            <a:r>
              <a:rPr lang="en-US" sz="1800" b="1" dirty="0">
                <a:solidFill>
                  <a:schemeClr val="tx1"/>
                </a:solidFill>
              </a:rPr>
              <a:t>   generator i's cost under bids 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True production cost minus market revenue: the area between generator i's true-cost block and the market-clearing price, over the quantity it is dispatched — the same “profit” area from last week, now written as a cost.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DC351-009F-52E3-3F7A-DF631970ACE3}"/>
              </a:ext>
            </a:extLst>
          </p:cNvPr>
          <p:cNvSpPr txBox="1"/>
          <p:nvPr/>
        </p:nvSpPr>
        <p:spPr>
          <a:xfrm>
            <a:off x="651543" y="2485126"/>
            <a:ext cx="11277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1800" b="1" dirty="0">
                <a:solidFill>
                  <a:srgbClr val="990000"/>
                </a:solidFill>
                <a:latin typeface="+mn-lt"/>
              </a:rPr>
              <a:t>N 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3C325-3D4D-9787-73D0-F202231218D1}"/>
              </a:ext>
            </a:extLst>
          </p:cNvPr>
          <p:cNvSpPr txBox="1"/>
          <p:nvPr/>
        </p:nvSpPr>
        <p:spPr>
          <a:xfrm>
            <a:off x="651543" y="2834133"/>
            <a:ext cx="387927" cy="748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+mn-lt"/>
              </a:rPr>
              <a:t>A</a:t>
            </a:r>
            <a:r>
              <a:rPr lang="en-US" sz="1200" b="1" i="1" baseline="-25000" dirty="0">
                <a:solidFill>
                  <a:schemeClr val="accent1"/>
                </a:solidFill>
                <a:latin typeface="+mn-lt"/>
              </a:rPr>
              <a:t>i</a:t>
            </a: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+mn-lt"/>
              </a:rPr>
              <a:t>=</a:t>
            </a:r>
            <a:endParaRPr lang="en-US" sz="1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27276-AC8F-C3E5-64FE-B49E7CC3F4B2}"/>
              </a:ext>
            </a:extLst>
          </p:cNvPr>
          <p:cNvSpPr txBox="1"/>
          <p:nvPr/>
        </p:nvSpPr>
        <p:spPr>
          <a:xfrm>
            <a:off x="651543" y="4130277"/>
            <a:ext cx="65242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1800" b="1" dirty="0">
                <a:solidFill>
                  <a:schemeClr val="accent1"/>
                </a:solidFill>
                <a:latin typeface="+mn-lt"/>
              </a:rPr>
              <a:t>c</a:t>
            </a:r>
            <a:r>
              <a:rPr lang="en-US" sz="1800" b="1" i="1" baseline="-25000" dirty="0">
                <a:solidFill>
                  <a:schemeClr val="accent1"/>
                </a:solidFill>
                <a:latin typeface="+mn-lt"/>
              </a:rPr>
              <a:t>i</a:t>
            </a:r>
            <a:r>
              <a:rPr lang="en-US" sz="1800" b="1" dirty="0">
                <a:solidFill>
                  <a:schemeClr val="accent1"/>
                </a:solidFill>
                <a:latin typeface="+mn-lt"/>
              </a:rPr>
              <a:t>(a) =</a:t>
            </a:r>
            <a:endParaRPr lang="en-US" sz="1800" dirty="0">
              <a:latin typeface="+mn-l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7491FA-4177-08A8-CBED-89B00FDCC6D1}"/>
              </a:ext>
            </a:extLst>
          </p:cNvPr>
          <p:cNvGrpSpPr/>
          <p:nvPr/>
        </p:nvGrpSpPr>
        <p:grpSpPr>
          <a:xfrm>
            <a:off x="8237915" y="800648"/>
            <a:ext cx="3484836" cy="1913599"/>
            <a:chOff x="803341" y="2767879"/>
            <a:chExt cx="7236081" cy="397348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7DF911C-04E3-5018-A5B5-A3B6CD95D940}"/>
                </a:ext>
              </a:extLst>
            </p:cNvPr>
            <p:cNvCxnSpPr/>
            <p:nvPr/>
          </p:nvCxnSpPr>
          <p:spPr bwMode="auto">
            <a:xfrm flipV="1">
              <a:off x="2824725" y="3141368"/>
              <a:ext cx="0" cy="36000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203442-BA5A-CFF4-52AF-E9C43B973451}"/>
                </a:ext>
              </a:extLst>
            </p:cNvPr>
            <p:cNvSpPr/>
            <p:nvPr/>
          </p:nvSpPr>
          <p:spPr bwMode="auto">
            <a:xfrm>
              <a:off x="2854846" y="6564948"/>
              <a:ext cx="1224136" cy="156557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67059"/>
              </a:schemeClr>
            </a:solidFill>
            <a:ln>
              <a:solidFill>
                <a:schemeClr val="accent5"/>
              </a:solidFill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0A01B5-EAD5-ED66-5C1D-9D7C6AF46AF9}"/>
                </a:ext>
              </a:extLst>
            </p:cNvPr>
            <p:cNvSpPr/>
            <p:nvPr/>
          </p:nvSpPr>
          <p:spPr bwMode="auto">
            <a:xfrm>
              <a:off x="4093797" y="6323984"/>
              <a:ext cx="720077" cy="396797"/>
            </a:xfrm>
            <a:prstGeom prst="rect">
              <a:avLst/>
            </a:prstGeom>
            <a:solidFill>
              <a:srgbClr val="B2D5FF"/>
            </a:solidFill>
            <a:ln>
              <a:solidFill>
                <a:srgbClr val="6583CD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98283A-9CB4-FCC1-0F16-38915A50DCED}"/>
                </a:ext>
              </a:extLst>
            </p:cNvPr>
            <p:cNvSpPr/>
            <p:nvPr/>
          </p:nvSpPr>
          <p:spPr bwMode="auto">
            <a:xfrm>
              <a:off x="4828689" y="5880412"/>
              <a:ext cx="849281" cy="840369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327C29-939B-4701-1095-16FAC58BD80A}"/>
                </a:ext>
              </a:extLst>
            </p:cNvPr>
            <p:cNvSpPr/>
            <p:nvPr/>
          </p:nvSpPr>
          <p:spPr bwMode="auto">
            <a:xfrm>
              <a:off x="5703255" y="5407340"/>
              <a:ext cx="468109" cy="13079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0E6E744-2C3D-929E-4CFB-19E5F1E0B69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19142" y="3612620"/>
              <a:ext cx="0" cy="3128748"/>
            </a:xfrm>
            <a:prstGeom prst="line">
              <a:avLst/>
            </a:prstGeom>
            <a:ln w="38100"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6D4DD5-9E8B-38E9-E6A3-7650E43B0ADF}"/>
                </a:ext>
              </a:extLst>
            </p:cNvPr>
            <p:cNvSpPr txBox="1"/>
            <p:nvPr/>
          </p:nvSpPr>
          <p:spPr>
            <a:xfrm>
              <a:off x="5131505" y="3278218"/>
              <a:ext cx="1152129" cy="52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DK" dirty="0">
                <a:latin typeface="+mn-lt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2A2803-B486-2D23-C37E-3DD02B45A319}"/>
                </a:ext>
              </a:extLst>
            </p:cNvPr>
            <p:cNvCxnSpPr/>
            <p:nvPr/>
          </p:nvCxnSpPr>
          <p:spPr bwMode="auto">
            <a:xfrm>
              <a:off x="2819326" y="6741368"/>
              <a:ext cx="5220096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A66EFB-07F5-3AE6-2D94-E2CF5F33120B}"/>
                </a:ext>
              </a:extLst>
            </p:cNvPr>
            <p:cNvSpPr txBox="1"/>
            <p:nvPr/>
          </p:nvSpPr>
          <p:spPr>
            <a:xfrm>
              <a:off x="2098763" y="2767879"/>
              <a:ext cx="1512167" cy="52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DK" dirty="0">
                <a:latin typeface="+mn-lt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68E98C-4CB2-72B3-7497-DD809E5F45A8}"/>
                </a:ext>
              </a:extLst>
            </p:cNvPr>
            <p:cNvCxnSpPr/>
            <p:nvPr/>
          </p:nvCxnSpPr>
          <p:spPr bwMode="auto">
            <a:xfrm>
              <a:off x="2854846" y="5880412"/>
              <a:ext cx="266429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ysDot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A0177F-126A-7DD3-B8F0-9290837E3DB4}"/>
                </a:ext>
              </a:extLst>
            </p:cNvPr>
            <p:cNvSpPr txBox="1"/>
            <p:nvPr/>
          </p:nvSpPr>
          <p:spPr>
            <a:xfrm>
              <a:off x="803341" y="5739184"/>
              <a:ext cx="2279530" cy="5225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DK" dirty="0">
                <a:latin typeface="+mn-lt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724CE6-1E88-2CF0-8DC5-B84344837637}"/>
                </a:ext>
              </a:extLst>
            </p:cNvPr>
            <p:cNvCxnSpPr/>
            <p:nvPr/>
          </p:nvCxnSpPr>
          <p:spPr bwMode="auto">
            <a:xfrm flipV="1">
              <a:off x="2854846" y="5880412"/>
              <a:ext cx="658667" cy="6419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086CBE-A7AB-B5AE-C919-4F54B8120767}"/>
                </a:ext>
              </a:extLst>
            </p:cNvPr>
            <p:cNvCxnSpPr/>
            <p:nvPr/>
          </p:nvCxnSpPr>
          <p:spPr bwMode="auto">
            <a:xfrm flipV="1">
              <a:off x="3165973" y="5906481"/>
              <a:ext cx="658667" cy="6419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E9E7D12-A1C0-FB3E-1974-D19786A581E7}"/>
                </a:ext>
              </a:extLst>
            </p:cNvPr>
            <p:cNvCxnSpPr/>
            <p:nvPr/>
          </p:nvCxnSpPr>
          <p:spPr bwMode="auto">
            <a:xfrm flipV="1">
              <a:off x="3499982" y="5916413"/>
              <a:ext cx="658667" cy="6419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F1C6EE-6FD9-BA2C-A0C8-6C752490798C}"/>
                </a:ext>
              </a:extLst>
            </p:cNvPr>
            <p:cNvCxnSpPr/>
            <p:nvPr/>
          </p:nvCxnSpPr>
          <p:spPr bwMode="auto">
            <a:xfrm flipV="1">
              <a:off x="3785944" y="5916413"/>
              <a:ext cx="658667" cy="6419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59C086-E484-7818-EB6B-59FB42D9063A}"/>
                </a:ext>
              </a:extLst>
            </p:cNvPr>
            <p:cNvCxnSpPr/>
            <p:nvPr/>
          </p:nvCxnSpPr>
          <p:spPr bwMode="auto">
            <a:xfrm flipV="1">
              <a:off x="4336306" y="5848874"/>
              <a:ext cx="467098" cy="46972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5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DF66D51-91D0-3946-A116-21B836EC233C}"/>
                </a:ext>
              </a:extLst>
            </p:cNvPr>
            <p:cNvSpPr txBox="1"/>
            <p:nvPr/>
          </p:nvSpPr>
          <p:spPr>
            <a:xfrm>
              <a:off x="3082871" y="5024109"/>
              <a:ext cx="138" cy="52256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endParaRPr lang="en-US" dirty="0">
                <a:solidFill>
                  <a:schemeClr val="accent5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9FC70C-6146-CB17-E213-0FD7B477272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093796" y="5842242"/>
              <a:ext cx="9578" cy="476355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F0A3E48-6084-8896-9583-E8BF74082AEE}"/>
                </a:ext>
              </a:extLst>
            </p:cNvPr>
            <p:cNvSpPr/>
            <p:nvPr/>
          </p:nvSpPr>
          <p:spPr bwMode="auto">
            <a:xfrm>
              <a:off x="5519142" y="5880412"/>
              <a:ext cx="158828" cy="8348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99E0A85-CB60-F8C7-69D1-5E69A4A35442}"/>
                </a:ext>
              </a:extLst>
            </p:cNvPr>
            <p:cNvSpPr/>
            <p:nvPr/>
          </p:nvSpPr>
          <p:spPr bwMode="auto">
            <a:xfrm>
              <a:off x="6187517" y="4476718"/>
              <a:ext cx="468109" cy="2245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DK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179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Dominant and dominated strategies</a:t>
            </a:r>
          </a:p>
        </p:txBody>
      </p:sp>
      <p:sp>
        <p:nvSpPr>
          <p:cNvPr id="11" name="Content Placeholder Left"/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Dominant strategy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strategy a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* ∈ A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is a dominant strategy for player i if it gives i the lowest possible cost no matter what the other players do: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i="1" dirty="0"/>
              <a:t>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*, a</a:t>
            </a:r>
            <a:r>
              <a:rPr lang="en-US" sz="1300" i="1" baseline="-25000" dirty="0"/>
              <a:t>−i</a:t>
            </a:r>
            <a:r>
              <a:rPr lang="en-US" sz="1700" i="1" dirty="0"/>
              <a:t>)  ≤  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, a</a:t>
            </a:r>
            <a:r>
              <a:rPr lang="en-US" sz="1300" i="1" baseline="-25000" dirty="0"/>
              <a:t>−i</a:t>
            </a:r>
            <a:r>
              <a:rPr lang="en-US" sz="17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every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dominant strategy is a best response to everything the other players might do — no guessing required.</a:t>
            </a:r>
          </a:p>
        </p:txBody>
      </p:sp>
      <p:sp>
        <p:nvSpPr>
          <p:cNvPr id="12" name="Content Placeholder Right"/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Dominated strategies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Strictly dominated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∈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is strictly dominated if some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′ ∈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is always strictly better:</a:t>
            </a: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i="1" dirty="0"/>
              <a:t>c</a:t>
            </a:r>
            <a:r>
              <a:rPr lang="en-US" sz="1150" i="1" baseline="-25000" dirty="0"/>
              <a:t>i</a:t>
            </a:r>
            <a:r>
              <a:rPr lang="en-US" sz="1500" i="1" dirty="0"/>
              <a:t>(a</a:t>
            </a:r>
            <a:r>
              <a:rPr lang="en-US" sz="1150" i="1" baseline="-25000" dirty="0"/>
              <a:t>i</a:t>
            </a:r>
            <a:r>
              <a:rPr lang="en-US" sz="1500" i="1" dirty="0"/>
              <a:t>′, a</a:t>
            </a:r>
            <a:r>
              <a:rPr lang="en-US" sz="1150" i="1" baseline="-25000" dirty="0"/>
              <a:t>−i</a:t>
            </a:r>
            <a:r>
              <a:rPr lang="en-US" sz="1500" i="1" dirty="0"/>
              <a:t>)  &lt;  c</a:t>
            </a:r>
            <a:r>
              <a:rPr lang="en-US" sz="1150" i="1" baseline="-25000" dirty="0"/>
              <a:t>i</a:t>
            </a:r>
            <a:r>
              <a:rPr lang="en-US" sz="1500" i="1" dirty="0"/>
              <a:t>(a</a:t>
            </a:r>
            <a:r>
              <a:rPr lang="en-US" sz="1150" i="1" baseline="-25000" dirty="0"/>
              <a:t>i</a:t>
            </a:r>
            <a:r>
              <a:rPr lang="en-US" sz="1500" i="1" dirty="0"/>
              <a:t>, a</a:t>
            </a:r>
            <a:r>
              <a:rPr lang="en-US" sz="1150" i="1" baseline="-25000" dirty="0"/>
              <a:t>−i</a:t>
            </a:r>
            <a:r>
              <a:rPr lang="en-US" sz="15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a</a:t>
            </a:r>
            <a:r>
              <a:rPr lang="en-US" sz="9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9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Weakly dominated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∈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is weakly dominated if some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′ ∈ A</a:t>
            </a:r>
            <a:r>
              <a:rPr lang="en-US" sz="1050" i="1" baseline="-25000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is never worse, and sometimes strictly better:</a:t>
            </a:r>
          </a:p>
          <a:p>
            <a:pPr marL="0" indent="0" algn="ctr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i="1" dirty="0"/>
              <a:t>c</a:t>
            </a:r>
            <a:r>
              <a:rPr lang="en-US" sz="1150" i="1" baseline="-25000" dirty="0"/>
              <a:t>i</a:t>
            </a:r>
            <a:r>
              <a:rPr lang="en-US" sz="1500" i="1" dirty="0"/>
              <a:t>(a</a:t>
            </a:r>
            <a:r>
              <a:rPr lang="en-US" sz="1150" i="1" baseline="-25000" dirty="0"/>
              <a:t>i</a:t>
            </a:r>
            <a:r>
              <a:rPr lang="en-US" sz="1500" i="1" dirty="0"/>
              <a:t>′, a</a:t>
            </a:r>
            <a:r>
              <a:rPr lang="en-US" sz="1150" i="1" baseline="-25000" dirty="0"/>
              <a:t>−i</a:t>
            </a:r>
            <a:r>
              <a:rPr lang="en-US" sz="1500" i="1" dirty="0"/>
              <a:t>)  ≤  c</a:t>
            </a:r>
            <a:r>
              <a:rPr lang="en-US" sz="1150" i="1" baseline="-25000" dirty="0"/>
              <a:t>i</a:t>
            </a:r>
            <a:r>
              <a:rPr lang="en-US" sz="1500" i="1" dirty="0"/>
              <a:t>(a</a:t>
            </a:r>
            <a:r>
              <a:rPr lang="en-US" sz="1150" i="1" baseline="-25000" dirty="0"/>
              <a:t>i</a:t>
            </a:r>
            <a:r>
              <a:rPr lang="en-US" sz="1500" i="1" dirty="0"/>
              <a:t>, a</a:t>
            </a:r>
            <a:r>
              <a:rPr lang="en-US" sz="1150" i="1" baseline="-25000" dirty="0"/>
              <a:t>−i</a:t>
            </a:r>
            <a:r>
              <a:rPr lang="en-US" sz="15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a</a:t>
            </a:r>
            <a:r>
              <a:rPr lang="en-US" sz="9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9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with strict inequality for at least one a</a:t>
            </a:r>
            <a:r>
              <a:rPr lang="en-US" sz="9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cxnSp>
        <p:nvCxnSpPr>
          <p:cNvPr id="30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4</a:t>
            </a:fld>
            <a:endParaRPr lang="da-DK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Checking for dominated actions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8267D-9C41-E6C4-44B4-D0DD16102D84}"/>
              </a:ext>
            </a:extLst>
          </p:cNvPr>
          <p:cNvSpPr txBox="1"/>
          <p:nvPr/>
        </p:nvSpPr>
        <p:spPr>
          <a:xfrm>
            <a:off x="1054646" y="1410022"/>
            <a:ext cx="9666044" cy="47089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b="1" dirty="0">
                <a:solidFill>
                  <a:schemeClr val="accent1"/>
                </a:solidFill>
                <a:latin typeface="+mn-lt"/>
              </a:rPr>
              <a:t>Q1   </a:t>
            </a:r>
            <a:r>
              <a:rPr lang="en-US" b="1" dirty="0">
                <a:latin typeface="+mn-lt"/>
              </a:rPr>
              <a:t>What are the dominated actions in the bed problem? Are they weakly or strictly dominated?</a:t>
            </a:r>
          </a:p>
          <a:p>
            <a:pPr>
              <a:spcBef>
                <a:spcPts val="432"/>
              </a:spcBef>
            </a:pPr>
            <a:endParaRPr lang="en-US" b="1" dirty="0">
              <a:solidFill>
                <a:srgbClr val="990000"/>
              </a:solidFill>
              <a:latin typeface="+mn-lt"/>
            </a:endParaRPr>
          </a:p>
          <a:p>
            <a:pPr>
              <a:spcBef>
                <a:spcPts val="432"/>
              </a:spcBef>
            </a:pPr>
            <a:r>
              <a:rPr lang="en-US" b="1" dirty="0">
                <a:solidFill>
                  <a:srgbClr val="990000"/>
                </a:solidFill>
                <a:latin typeface="+mn-lt"/>
              </a:rPr>
              <a:t>A1</a:t>
            </a:r>
            <a:r>
              <a:rPr lang="en-US" b="1" dirty="0">
                <a:latin typeface="+mn-lt"/>
              </a:rPr>
              <a:t>   To get the bed at any day except the first day is strictly dominated by getting it on the first day.</a:t>
            </a: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r>
              <a:rPr lang="en-US" b="1" dirty="0">
                <a:solidFill>
                  <a:srgbClr val="990000"/>
                </a:solidFill>
                <a:latin typeface="+mn-lt"/>
              </a:rPr>
              <a:t>Q2</a:t>
            </a:r>
            <a:r>
              <a:rPr lang="en-US" b="1" dirty="0">
                <a:latin typeface="+mn-lt"/>
              </a:rPr>
              <a:t>   Are there any dominated actions in the war of attrition?</a:t>
            </a: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r>
              <a:rPr lang="en-US" b="1" dirty="0">
                <a:solidFill>
                  <a:srgbClr val="990000"/>
                </a:solidFill>
                <a:latin typeface="+mn-lt"/>
              </a:rPr>
              <a:t>A2</a:t>
            </a:r>
            <a:r>
              <a:rPr lang="en-US" b="1" dirty="0">
                <a:latin typeface="+mn-lt"/>
              </a:rPr>
              <a:t>   No, how good an action performs always depends on what the other person does.</a:t>
            </a: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r>
              <a:rPr lang="en-US" b="1" dirty="0">
                <a:solidFill>
                  <a:srgbClr val="990000"/>
                </a:solidFill>
                <a:latin typeface="+mn-lt"/>
              </a:rPr>
              <a:t>Q3</a:t>
            </a:r>
            <a:r>
              <a:rPr lang="en-US" b="1" dirty="0">
                <a:latin typeface="+mn-lt"/>
              </a:rPr>
              <a:t>   Are there any dominated actions in our market model?</a:t>
            </a: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r>
              <a:rPr lang="en-US" b="1" dirty="0">
                <a:solidFill>
                  <a:srgbClr val="990000"/>
                </a:solidFill>
                <a:latin typeface="+mn-lt"/>
              </a:rPr>
              <a:t>A3</a:t>
            </a:r>
            <a:r>
              <a:rPr lang="en-US" b="1" dirty="0">
                <a:latin typeface="+mn-lt"/>
              </a:rPr>
              <a:t>   To bid below your actual cost is weakly dominated by bidding exactly your own cost.</a:t>
            </a: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>
              <a:spcBef>
                <a:spcPts val="432"/>
              </a:spcBef>
            </a:pPr>
            <a:endParaRPr lang="en-US" b="1" dirty="0">
              <a:latin typeface="+mn-lt"/>
            </a:endParaRPr>
          </a:p>
          <a:p>
            <a:pPr algn="l">
              <a:spcBef>
                <a:spcPts val="432"/>
              </a:spcBef>
            </a:pPr>
            <a:endParaRPr lang="en-US" dirty="0" err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751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Dominant strategy equilibrium</a:t>
            </a:r>
          </a:p>
        </p:txBody>
      </p:sp>
      <p:sp>
        <p:nvSpPr>
          <p:cNvPr id="11" name="Content Placeholder Left"/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Dominant strategy equilibrium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action profile a* = (a</a:t>
            </a:r>
            <a:r>
              <a:rPr lang="en-US" sz="1150" i="1" baseline="-25000" dirty="0">
                <a:solidFill>
                  <a:schemeClr val="tx1"/>
                </a:solidFill>
              </a:rPr>
              <a:t>1</a:t>
            </a:r>
            <a:r>
              <a:rPr lang="en-US" sz="1500" dirty="0">
                <a:solidFill>
                  <a:schemeClr val="tx1"/>
                </a:solidFill>
              </a:rPr>
              <a:t>*, …, a</a:t>
            </a:r>
            <a:r>
              <a:rPr lang="en-US" sz="1150" i="1" baseline="-25000" dirty="0">
                <a:solidFill>
                  <a:schemeClr val="tx1"/>
                </a:solidFill>
              </a:rPr>
              <a:t>n</a:t>
            </a:r>
            <a:r>
              <a:rPr lang="en-US" sz="1500" dirty="0">
                <a:solidFill>
                  <a:schemeClr val="tx1"/>
                </a:solidFill>
              </a:rPr>
              <a:t>*) ∈ A is a dominant strategy equilibrium if a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* is a dominant strategy for every player i ∈ N: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i="1" dirty="0"/>
              <a:t>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*, a</a:t>
            </a:r>
            <a:r>
              <a:rPr lang="en-US" sz="1300" i="1" baseline="-25000" dirty="0"/>
              <a:t>−i</a:t>
            </a:r>
            <a:r>
              <a:rPr lang="en-US" sz="1700" i="1" dirty="0"/>
              <a:t>)  ≤  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, a</a:t>
            </a:r>
            <a:r>
              <a:rPr lang="en-US" sz="1300" i="1" baseline="-25000" dirty="0"/>
              <a:t>−i</a:t>
            </a:r>
            <a:r>
              <a:rPr lang="en-US" sz="17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i ∈ N, every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and every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player can do better by deviating, no matter what anyone else does.</a:t>
            </a:r>
          </a:p>
        </p:txBody>
      </p:sp>
      <p:sp>
        <p:nvSpPr>
          <p:cNvPr id="12" name="Content Placeholder Right"/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Prisoner's Dilemma</a:t>
            </a:r>
          </a:p>
        </p:txBody>
      </p:sp>
      <p:graphicFrame>
        <p:nvGraphicFramePr>
          <p:cNvPr id="40" name="Prisoners Dilemm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61745"/>
              </p:ext>
            </p:extLst>
          </p:nvPr>
        </p:nvGraphicFramePr>
        <p:xfrm>
          <a:off x="6678001" y="2350000"/>
          <a:ext cx="4350000" cy="182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P2: Silent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P2: Confess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P1: Silent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P1: Confess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9, 9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TextBox 45"/>
          <p:cNvSpPr txBox="1"/>
          <p:nvPr/>
        </p:nvSpPr>
        <p:spPr>
          <a:xfrm>
            <a:off x="6678001" y="4420000"/>
            <a:ext cx="4409100" cy="1833199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Confess strictly dominates Silent for both prisoners, so (Confess, Confess) is the dominant-strategy equilibrium.</a:t>
            </a:r>
          </a:p>
        </p:txBody>
      </p:sp>
      <p:cxnSp>
        <p:nvCxnSpPr>
          <p:cNvPr id="30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6</a:t>
            </a:fld>
            <a:endParaRPr lang="da-D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7EB64-3592-DC6B-EBF7-10F4CA7A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DF64F5E-36EF-F3F2-F13D-58463F08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Elimination of strictly dominated actions</a:t>
            </a:r>
          </a:p>
        </p:txBody>
      </p:sp>
      <p:sp>
        <p:nvSpPr>
          <p:cNvPr id="11" name="Content Placeholder Left">
            <a:extLst>
              <a:ext uri="{FF2B5EF4-FFF2-40B4-BE49-F238E27FC236}">
                <a16:creationId xmlns:a16="http://schemas.microsoft.com/office/drawing/2014/main" id="{6A3CF380-BDE5-7ED2-1348-2343C2F9A1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400" dirty="0"/>
              <a:t>Rationality tells us that no one will ever play a strictly dominated action, as they would always be better of by playing the action that strictly dominates it.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400" dirty="0"/>
              <a:t>We may therefore eliminate them from the game as they are not adding anything</a:t>
            </a:r>
          </a:p>
        </p:txBody>
      </p:sp>
      <p:sp>
        <p:nvSpPr>
          <p:cNvPr id="12" name="Content Placeholder Right">
            <a:extLst>
              <a:ext uri="{FF2B5EF4-FFF2-40B4-BE49-F238E27FC236}">
                <a16:creationId xmlns:a16="http://schemas.microsoft.com/office/drawing/2014/main" id="{8FD79F53-6226-FAB6-B73F-5DDC6D6E4C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Prisoner's Dilemma 2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Straight Connector Divider">
            <a:extLst>
              <a:ext uri="{FF2B5EF4-FFF2-40B4-BE49-F238E27FC236}">
                <a16:creationId xmlns:a16="http://schemas.microsoft.com/office/drawing/2014/main" id="{8C371A3B-88B4-7088-D3A0-57E9C1743532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>
            <a:extLst>
              <a:ext uri="{FF2B5EF4-FFF2-40B4-BE49-F238E27FC236}">
                <a16:creationId xmlns:a16="http://schemas.microsoft.com/office/drawing/2014/main" id="{2246BBBF-1E74-7799-D1EC-A9963522A1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15D00FD5-A343-600C-BA70-D3A9BA1FB6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5CCFA79F-8925-7299-8E22-3BF25ED495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7</a:t>
            </a:fld>
            <a:endParaRPr lang="da-DK" dirty="0"/>
          </a:p>
        </p:txBody>
      </p:sp>
      <p:graphicFrame>
        <p:nvGraphicFramePr>
          <p:cNvPr id="3" name="Prisoners Dilemma Table">
            <a:extLst>
              <a:ext uri="{FF2B5EF4-FFF2-40B4-BE49-F238E27FC236}">
                <a16:creationId xmlns:a16="http://schemas.microsoft.com/office/drawing/2014/main" id="{9AC807A1-E35A-DA53-C260-6D6E9D858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480118"/>
              </p:ext>
            </p:extLst>
          </p:nvPr>
        </p:nvGraphicFramePr>
        <p:xfrm>
          <a:off x="6678001" y="2350000"/>
          <a:ext cx="4350001" cy="25058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21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97">
                  <a:extLst>
                    <a:ext uri="{9D8B030D-6E8A-4147-A177-3AD203B41FA5}">
                      <a16:colId xmlns:a16="http://schemas.microsoft.com/office/drawing/2014/main" val="2139589677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P2: Silent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P2: Confess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P2: Attack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P1: Silent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2, 100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P1: Confess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0, 10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9, 9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10, 100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/>
                        <a:t>P1: Attack</a:t>
                      </a:r>
                    </a:p>
                    <a:p>
                      <a:pPr algn="ctr"/>
                      <a:endParaRPr 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100, 2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100, 10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100,100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084908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E3F882-E6EC-F392-F2A8-16CAA25B4106}"/>
              </a:ext>
            </a:extLst>
          </p:cNvPr>
          <p:cNvCxnSpPr>
            <a:cxnSpLocks/>
          </p:cNvCxnSpPr>
          <p:nvPr/>
        </p:nvCxnSpPr>
        <p:spPr bwMode="auto">
          <a:xfrm>
            <a:off x="10487694" y="2350000"/>
            <a:ext cx="0" cy="250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45">
            <a:extLst>
              <a:ext uri="{FF2B5EF4-FFF2-40B4-BE49-F238E27FC236}">
                <a16:creationId xmlns:a16="http://schemas.microsoft.com/office/drawing/2014/main" id="{AFA1E5EC-9A68-2A71-103E-260F52A98C27}"/>
              </a:ext>
            </a:extLst>
          </p:cNvPr>
          <p:cNvSpPr txBox="1"/>
          <p:nvPr/>
        </p:nvSpPr>
        <p:spPr>
          <a:xfrm>
            <a:off x="6669667" y="4900126"/>
            <a:ext cx="4409100" cy="1833199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dominant strategy equilibrium anymore.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can eliminate dominated actions.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Afterwards we have a dominant strategy equilibrium. We say the game is dominant solvable.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5F31DC-8B3B-4CC4-E9E0-33791406F702}"/>
              </a:ext>
            </a:extLst>
          </p:cNvPr>
          <p:cNvSpPr/>
          <p:nvPr/>
        </p:nvSpPr>
        <p:spPr bwMode="auto">
          <a:xfrm>
            <a:off x="9047534" y="3636392"/>
            <a:ext cx="576064" cy="432048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860D77-B4B7-934B-A316-C78C105BF74F}"/>
              </a:ext>
            </a:extLst>
          </p:cNvPr>
          <p:cNvCxnSpPr>
            <a:cxnSpLocks/>
          </p:cNvCxnSpPr>
          <p:nvPr/>
        </p:nvCxnSpPr>
        <p:spPr bwMode="auto">
          <a:xfrm>
            <a:off x="8183438" y="2350000"/>
            <a:ext cx="0" cy="25058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00479D-5415-AA22-0F9C-94BD6743916E}"/>
              </a:ext>
            </a:extLst>
          </p:cNvPr>
          <p:cNvCxnSpPr>
            <a:cxnSpLocks/>
          </p:cNvCxnSpPr>
          <p:nvPr/>
        </p:nvCxnSpPr>
        <p:spPr bwMode="auto">
          <a:xfrm>
            <a:off x="6669667" y="3140968"/>
            <a:ext cx="43500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15DD4F-C2A8-8B41-F53F-F43FE193AB5F}"/>
              </a:ext>
            </a:extLst>
          </p:cNvPr>
          <p:cNvCxnSpPr>
            <a:cxnSpLocks/>
          </p:cNvCxnSpPr>
          <p:nvPr/>
        </p:nvCxnSpPr>
        <p:spPr bwMode="auto">
          <a:xfrm>
            <a:off x="6678001" y="4509120"/>
            <a:ext cx="435000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1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F093B-2E67-6CC6-C25D-69AC685B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Hawk and Dove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2462-D412-7CDF-AA7B-EFAB0F14C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6465E-0C1C-6FC9-5DA2-98C3E94C2D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A9AC3-FE8D-F460-34EB-FE1984DFBC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C715493-C4FB-4F30-8E14-EBC89873AF9F}" type="datetime1">
              <a:rPr lang="da-DK" smtClean="0"/>
              <a:t>11-09-2026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705356-97BA-A9F4-CFD7-3CF75B9AA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571258"/>
              </p:ext>
            </p:extLst>
          </p:nvPr>
        </p:nvGraphicFramePr>
        <p:xfrm>
          <a:off x="1799900" y="2565161"/>
          <a:ext cx="4350000" cy="182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549565350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3036720329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159636173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50059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-3, 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4107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1, 9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5, 5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4068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1A53EC-4849-01F5-6C8E-715941AE60C4}"/>
              </a:ext>
            </a:extLst>
          </p:cNvPr>
          <p:cNvSpPr txBox="1"/>
          <p:nvPr/>
        </p:nvSpPr>
        <p:spPr>
          <a:xfrm>
            <a:off x="1799900" y="1844824"/>
            <a:ext cx="4413068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Consider Hawk and Dove with V = 10 and C = 8.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Payoff matrix: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7AC46-F4AF-AC7D-C420-04DA5153966E}"/>
              </a:ext>
            </a:extLst>
          </p:cNvPr>
          <p:cNvSpPr txBox="1"/>
          <p:nvPr/>
        </p:nvSpPr>
        <p:spPr>
          <a:xfrm>
            <a:off x="1801860" y="4941168"/>
            <a:ext cx="3707746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Is there a dominant strategy equilibrium?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No!</a:t>
            </a:r>
          </a:p>
        </p:txBody>
      </p:sp>
      <p:cxnSp>
        <p:nvCxnSpPr>
          <p:cNvPr id="12" name="Straight Connector Divider">
            <a:extLst>
              <a:ext uri="{FF2B5EF4-FFF2-40B4-BE49-F238E27FC236}">
                <a16:creationId xmlns:a16="http://schemas.microsoft.com/office/drawing/2014/main" id="{B3B69C7B-1CAB-E457-4821-4AD1703497E5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320C1E-5C6A-D771-753B-82D60679C0A4}"/>
              </a:ext>
            </a:extLst>
          </p:cNvPr>
          <p:cNvSpPr txBox="1"/>
          <p:nvPr/>
        </p:nvSpPr>
        <p:spPr>
          <a:xfrm>
            <a:off x="6887294" y="1858891"/>
            <a:ext cx="3534494" cy="20313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There is none in Rock, Paper, Scissors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Neither in the war of attrition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Neither in our market model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           They are very rare.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EF5E7B-1B3F-D283-1CE4-26336A78AB83}"/>
              </a:ext>
            </a:extLst>
          </p:cNvPr>
          <p:cNvCxnSpPr>
            <a:cxnSpLocks/>
          </p:cNvCxnSpPr>
          <p:nvPr/>
        </p:nvCxnSpPr>
        <p:spPr bwMode="auto">
          <a:xfrm>
            <a:off x="7031310" y="3789040"/>
            <a:ext cx="43204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8B741-DCE6-E914-EB37-93D215EC0215}"/>
              </a:ext>
            </a:extLst>
          </p:cNvPr>
          <p:cNvSpPr/>
          <p:nvPr/>
        </p:nvSpPr>
        <p:spPr bwMode="auto">
          <a:xfrm>
            <a:off x="9335566" y="3726330"/>
            <a:ext cx="125419" cy="12541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3007AF-2D31-C2EE-61E8-0B8672D53BD4}"/>
              </a:ext>
            </a:extLst>
          </p:cNvPr>
          <p:cNvCxnSpPr>
            <a:cxnSpLocks/>
          </p:cNvCxnSpPr>
          <p:nvPr/>
        </p:nvCxnSpPr>
        <p:spPr bwMode="auto">
          <a:xfrm>
            <a:off x="7103318" y="5373216"/>
            <a:ext cx="43204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964C53-6469-3AF1-3193-2EBF126A68D7}"/>
              </a:ext>
            </a:extLst>
          </p:cNvPr>
          <p:cNvSpPr txBox="1"/>
          <p:nvPr/>
        </p:nvSpPr>
        <p:spPr>
          <a:xfrm>
            <a:off x="7607374" y="5250105"/>
            <a:ext cx="316862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We need a better solution concept!</a:t>
            </a:r>
          </a:p>
        </p:txBody>
      </p:sp>
    </p:spTree>
    <p:extLst>
      <p:ext uri="{BB962C8B-B14F-4D97-AF65-F5344CB8AC3E}">
        <p14:creationId xmlns:p14="http://schemas.microsoft.com/office/powerpoint/2010/main" val="37150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A79B-221E-D817-A427-1CA1B243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2036967-CB50-BDE2-CBE2-3113554A3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58" y="1772816"/>
            <a:ext cx="10840028" cy="2822575"/>
          </a:xfrm>
        </p:spPr>
        <p:txBody>
          <a:bodyPr/>
          <a:lstStyle/>
          <a:p>
            <a:r>
              <a:rPr lang="en-GB" sz="5400" dirty="0"/>
              <a:t>Imagine a drumroll and Gregorian chants.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9828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(pure) Nash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An action profile a* = (a</a:t>
            </a:r>
            <a:r>
              <a:rPr lang="en-US" sz="1450" i="1" baseline="-25000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*, …, a</a:t>
            </a:r>
            <a:r>
              <a:rPr lang="en-US" sz="1450" i="1" baseline="-25000" dirty="0">
                <a:solidFill>
                  <a:schemeClr val="tx1"/>
                </a:solidFill>
              </a:rPr>
              <a:t>n</a:t>
            </a:r>
            <a:r>
              <a:rPr lang="en-US" sz="1900" dirty="0">
                <a:solidFill>
                  <a:schemeClr val="tx1"/>
                </a:solidFill>
              </a:rPr>
              <a:t>*) ∈ A is a </a:t>
            </a:r>
            <a:r>
              <a:rPr lang="en-US" sz="1900" i="1" dirty="0">
                <a:solidFill>
                  <a:schemeClr val="tx1"/>
                </a:solidFill>
              </a:rPr>
              <a:t>Nash equilibrium</a:t>
            </a:r>
            <a:r>
              <a:rPr lang="en-US" sz="1900" dirty="0">
                <a:solidFill>
                  <a:schemeClr val="tx1"/>
                </a:solidFill>
              </a:rPr>
              <a:t> if no player can lower their own cost by unilaterally deviating: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i="1" dirty="0"/>
              <a:t>c</a:t>
            </a:r>
            <a:r>
              <a:rPr lang="en-US" sz="1800" i="1" baseline="-25000" dirty="0"/>
              <a:t>i</a:t>
            </a:r>
            <a:r>
              <a:rPr lang="en-US" sz="2400" i="1" dirty="0"/>
              <a:t>(a</a:t>
            </a:r>
            <a:r>
              <a:rPr lang="en-US" sz="1800" i="1" baseline="-25000" dirty="0"/>
              <a:t>i</a:t>
            </a:r>
            <a:r>
              <a:rPr lang="en-US" sz="2400" i="1" dirty="0"/>
              <a:t>*, a</a:t>
            </a:r>
            <a:r>
              <a:rPr lang="en-US" sz="1800" i="1" baseline="-25000" dirty="0"/>
              <a:t>−i</a:t>
            </a:r>
            <a:r>
              <a:rPr lang="en-US" sz="2400" i="1" dirty="0"/>
              <a:t>*)  ≤  c</a:t>
            </a:r>
            <a:r>
              <a:rPr lang="en-US" sz="1800" i="1" baseline="-25000" dirty="0"/>
              <a:t>i</a:t>
            </a:r>
            <a:r>
              <a:rPr lang="en-US" sz="2400" i="1" dirty="0"/>
              <a:t>(a</a:t>
            </a:r>
            <a:r>
              <a:rPr lang="en-US" sz="1800" i="1" baseline="-25000" dirty="0"/>
              <a:t>i</a:t>
            </a:r>
            <a:r>
              <a:rPr lang="en-US" sz="2400" i="1" dirty="0"/>
              <a:t>, a</a:t>
            </a:r>
            <a:r>
              <a:rPr lang="en-US" sz="1800" i="1" baseline="-25000" dirty="0"/>
              <a:t>−i</a:t>
            </a:r>
            <a:r>
              <a:rPr lang="en-US" sz="2400" i="1" dirty="0"/>
              <a:t>*)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a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Weaker than a dominant strategy equilibrium: here a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only depends on the other players' equilibrium actions a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−i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*, it does not need to be optimal for everything they might do.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7167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CCEC-75E6-2277-175E-E32AD1D4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2FD1-C341-1051-1D65-ABC90022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Nash equilibrium in action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8B0EE-9F9C-2B98-7B69-3076B473C7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FE220-FD1D-4197-262A-E73C9F6E61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F6D5C2-5176-1967-47AD-C115C99D01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C715493-C4FB-4F30-8E14-EBC89873AF9F}" type="datetime1">
              <a:rPr lang="da-DK" smtClean="0"/>
              <a:t>11-09-2026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778016-7BC3-3BC5-D3E0-F088C07470F0}"/>
              </a:ext>
            </a:extLst>
          </p:cNvPr>
          <p:cNvGraphicFramePr>
            <a:graphicFrameLocks noGrp="1"/>
          </p:cNvGraphicFramePr>
          <p:nvPr/>
        </p:nvGraphicFramePr>
        <p:xfrm>
          <a:off x="1799900" y="2565161"/>
          <a:ext cx="4350000" cy="182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000">
                  <a:extLst>
                    <a:ext uri="{9D8B030D-6E8A-4147-A177-3AD203B41FA5}">
                      <a16:colId xmlns:a16="http://schemas.microsoft.com/office/drawing/2014/main" val="549565350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3036720329"/>
                    </a:ext>
                  </a:extLst>
                </a:gridCol>
                <a:gridCol w="1550000">
                  <a:extLst>
                    <a:ext uri="{9D8B030D-6E8A-4147-A177-3AD203B41FA5}">
                      <a16:colId xmlns:a16="http://schemas.microsoft.com/office/drawing/2014/main" val="1596361733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50059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-3, 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4107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1, 9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5, 5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4068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0B11189-8D3B-CD81-EBE5-C82EE9935009}"/>
              </a:ext>
            </a:extLst>
          </p:cNvPr>
          <p:cNvSpPr txBox="1"/>
          <p:nvPr/>
        </p:nvSpPr>
        <p:spPr>
          <a:xfrm>
            <a:off x="1799900" y="1844824"/>
            <a:ext cx="4413068" cy="5437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Consider Hawk and Dove with V = 10 and C = 8.</a:t>
            </a: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Payoff matrix: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DB6F3-C688-9C4F-C54F-C00F25758203}"/>
              </a:ext>
            </a:extLst>
          </p:cNvPr>
          <p:cNvSpPr txBox="1"/>
          <p:nvPr/>
        </p:nvSpPr>
        <p:spPr>
          <a:xfrm>
            <a:off x="1801860" y="4941168"/>
            <a:ext cx="2553584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Is there a Nash equilibrium?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Yes, even two!</a:t>
            </a:r>
          </a:p>
        </p:txBody>
      </p:sp>
      <p:cxnSp>
        <p:nvCxnSpPr>
          <p:cNvPr id="12" name="Straight Connector Divider">
            <a:extLst>
              <a:ext uri="{FF2B5EF4-FFF2-40B4-BE49-F238E27FC236}">
                <a16:creationId xmlns:a16="http://schemas.microsoft.com/office/drawing/2014/main" id="{EF9B26FA-F8C2-6594-34D2-3414EA5982BE}"/>
              </a:ext>
            </a:extLst>
          </p:cNvPr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7FC6F74-9FC0-8FB7-958D-05987DEBAD73}"/>
              </a:ext>
            </a:extLst>
          </p:cNvPr>
          <p:cNvSpPr/>
          <p:nvPr/>
        </p:nvSpPr>
        <p:spPr bwMode="auto">
          <a:xfrm>
            <a:off x="3520459" y="3882201"/>
            <a:ext cx="648072" cy="369339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4A0602-DF48-56B4-2FB2-63879415ADF5}"/>
              </a:ext>
            </a:extLst>
          </p:cNvPr>
          <p:cNvSpPr/>
          <p:nvPr/>
        </p:nvSpPr>
        <p:spPr bwMode="auto">
          <a:xfrm>
            <a:off x="5015086" y="3245805"/>
            <a:ext cx="648072" cy="369339"/>
          </a:xfrm>
          <a:prstGeom prst="ellipse">
            <a:avLst/>
          </a:prstGeom>
          <a:noFill/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2F6F20-57F3-3A9A-71F3-52A997EBFF86}"/>
              </a:ext>
            </a:extLst>
          </p:cNvPr>
          <p:cNvSpPr txBox="1"/>
          <p:nvPr/>
        </p:nvSpPr>
        <p:spPr>
          <a:xfrm>
            <a:off x="6650011" y="1842736"/>
            <a:ext cx="3600345" cy="841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Consider war of attrition with v_1 &lt; v_2.</a:t>
            </a:r>
          </a:p>
          <a:p>
            <a:pPr algn="l">
              <a:spcBef>
                <a:spcPts val="432"/>
              </a:spcBef>
            </a:pPr>
            <a:endParaRPr lang="en-US" dirty="0">
              <a:latin typeface="+mn-lt"/>
            </a:endParaRPr>
          </a:p>
          <a:p>
            <a:pPr algn="l">
              <a:spcBef>
                <a:spcPts val="432"/>
              </a:spcBef>
            </a:pPr>
            <a:r>
              <a:rPr lang="en-US" dirty="0">
                <a:latin typeface="+mn-lt"/>
              </a:rPr>
              <a:t>What are the Nash equilibria? </a:t>
            </a:r>
          </a:p>
        </p:txBody>
      </p:sp>
    </p:spTree>
    <p:extLst>
      <p:ext uri="{BB962C8B-B14F-4D97-AF65-F5344CB8AC3E}">
        <p14:creationId xmlns:p14="http://schemas.microsoft.com/office/powerpoint/2010/main" val="334621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Nash equilibrium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Consider the war of attrition with v</a:t>
            </a:r>
            <a:r>
              <a:rPr lang="en-US" sz="1400" i="1" baseline="-25000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 &lt; v</a:t>
            </a:r>
            <a:r>
              <a:rPr lang="en-US" sz="1400" i="1" baseline="-25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. The Nash equilibria are</a:t>
            </a:r>
          </a:p>
          <a:p>
            <a:pPr marL="0" indent="0" algn="ctr">
              <a:spcBef>
                <a:spcPts val="200"/>
              </a:spcBef>
              <a:spcAft>
                <a:spcPts val="600"/>
              </a:spcAft>
              <a:buNone/>
            </a:pPr>
            <a:r>
              <a:rPr lang="en-US" sz="2200" i="1" dirty="0"/>
              <a:t>a</a:t>
            </a:r>
            <a:r>
              <a:rPr lang="en-US" sz="1700" i="1" baseline="-25000" dirty="0"/>
              <a:t>1</a:t>
            </a:r>
            <a:r>
              <a:rPr lang="en-US" sz="2200" i="1" dirty="0"/>
              <a:t> = 0,      a</a:t>
            </a:r>
            <a:r>
              <a:rPr lang="en-US" sz="1700" i="1" baseline="-25000" dirty="0"/>
              <a:t>2</a:t>
            </a:r>
            <a:r>
              <a:rPr lang="en-US" sz="2200" i="1" dirty="0"/>
              <a:t> &gt; v</a:t>
            </a:r>
            <a:r>
              <a:rPr lang="en-US" sz="1700" i="1" baseline="-25000" dirty="0"/>
              <a:t>1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endParaRPr lang="en-US" sz="17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dirty="0"/>
              <a:t>No proof, just intuition: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someone must bid 0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Whoever is losing pays their own bid and gets nothing for it. Lowering that bid down to 0 doesn't change the outcome but strictly reduces their cost. In any equilibrium, the lower bidder must bid exactly 0.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Why a</a:t>
            </a:r>
            <a:r>
              <a:rPr lang="en-US" sz="1300" b="1" i="1" baseline="-25000" dirty="0">
                <a:solidFill>
                  <a:schemeClr val="accent1"/>
                </a:solidFill>
              </a:rPr>
              <a:t>2</a:t>
            </a:r>
            <a:r>
              <a:rPr lang="en-US" sz="1700" b="1" dirty="0">
                <a:solidFill>
                  <a:schemeClr val="accent1"/>
                </a:solidFill>
              </a:rPr>
              <a:t> must exceed v</a:t>
            </a:r>
            <a:r>
              <a:rPr lang="en-US" sz="1300" b="1" i="1" baseline="-25000" dirty="0">
                <a:solidFill>
                  <a:schemeClr val="accent1"/>
                </a:solidFill>
              </a:rPr>
              <a:t>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With a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 = 0, player j wins and pays nothing at all, so any </a:t>
            </a:r>
            <a:r>
              <a:rPr lang="en-US" sz="1500" dirty="0" err="1">
                <a:solidFill>
                  <a:schemeClr val="tx1"/>
                </a:solidFill>
              </a:rPr>
              <a:t>a</a:t>
            </a:r>
            <a:r>
              <a:rPr lang="en-US" sz="1150" i="1" baseline="-25000" dirty="0" err="1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&gt; 0 is equally good for them. The only remaining question is player i: could they gain by overbidding </a:t>
            </a:r>
            <a:r>
              <a:rPr lang="en-US" sz="1500" dirty="0" err="1">
                <a:solidFill>
                  <a:schemeClr val="tx1"/>
                </a:solidFill>
              </a:rPr>
              <a:t>a</a:t>
            </a:r>
            <a:r>
              <a:rPr lang="en-US" sz="1150" i="1" baseline="-25000" dirty="0" err="1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and winning instead? That would yield them v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/>
              <a:t> - </a:t>
            </a:r>
            <a:r>
              <a:rPr lang="en-US" sz="1500" dirty="0" err="1"/>
              <a:t>a</a:t>
            </a:r>
            <a:r>
              <a:rPr lang="en-US" sz="1150" i="1" baseline="-25000" dirty="0" err="1"/>
              <a:t>j</a:t>
            </a:r>
            <a:r>
              <a:rPr lang="en-US" sz="1500" dirty="0"/>
              <a:t> </a:t>
            </a:r>
            <a:r>
              <a:rPr lang="en-US" sz="1500" dirty="0">
                <a:solidFill>
                  <a:schemeClr val="tx1"/>
                </a:solidFill>
              </a:rPr>
              <a:t> which beats their current cost of 0 only if </a:t>
            </a:r>
            <a:r>
              <a:rPr lang="en-US" sz="1500" dirty="0" err="1">
                <a:solidFill>
                  <a:schemeClr val="tx1"/>
                </a:solidFill>
              </a:rPr>
              <a:t>a</a:t>
            </a:r>
            <a:r>
              <a:rPr lang="en-US" sz="1150" i="1" baseline="-25000" dirty="0" err="1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&lt; v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. The equilibrium survives exactly when </a:t>
            </a:r>
            <a:r>
              <a:rPr lang="en-US" sz="1500" dirty="0" err="1">
                <a:solidFill>
                  <a:schemeClr val="tx1"/>
                </a:solidFill>
              </a:rPr>
              <a:t>a</a:t>
            </a:r>
            <a:r>
              <a:rPr lang="en-US" sz="1150" i="1" baseline="-25000" dirty="0" err="1">
                <a:solidFill>
                  <a:schemeClr val="tx1"/>
                </a:solidFill>
              </a:rPr>
              <a:t>j</a:t>
            </a:r>
            <a:r>
              <a:rPr lang="en-US" sz="1500" dirty="0">
                <a:solidFill>
                  <a:schemeClr val="tx1"/>
                </a:solidFill>
              </a:rPr>
              <a:t> &gt; v</a:t>
            </a:r>
            <a:r>
              <a:rPr lang="en-US" sz="1150" i="1" baseline="-25000" dirty="0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. This only works when </a:t>
            </a:r>
            <a:r>
              <a:rPr lang="en-US" sz="1500" dirty="0" err="1">
                <a:solidFill>
                  <a:schemeClr val="tx1"/>
                </a:solidFill>
              </a:rPr>
              <a:t>i</a:t>
            </a:r>
            <a:r>
              <a:rPr lang="en-US" sz="1500" dirty="0">
                <a:solidFill>
                  <a:schemeClr val="tx1"/>
                </a:solidFill>
              </a:rPr>
              <a:t>=1 and j=2.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9247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Best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For player i and given the other players' actions a</a:t>
            </a:r>
            <a:r>
              <a:rPr lang="en-US" sz="1450" i="1" baseline="-25000" dirty="0">
                <a:solidFill>
                  <a:schemeClr val="tx1"/>
                </a:solidFill>
              </a:rPr>
              <a:t>−i</a:t>
            </a:r>
            <a:r>
              <a:rPr lang="en-US" sz="1900" dirty="0">
                <a:solidFill>
                  <a:schemeClr val="tx1"/>
                </a:solidFill>
              </a:rPr>
              <a:t> ∈ A</a:t>
            </a:r>
            <a:r>
              <a:rPr lang="en-US" sz="1450" i="1" baseline="-25000" dirty="0">
                <a:solidFill>
                  <a:schemeClr val="tx1"/>
                </a:solidFill>
              </a:rPr>
              <a:t>−i</a:t>
            </a:r>
            <a:r>
              <a:rPr lang="en-US" sz="1900" dirty="0">
                <a:solidFill>
                  <a:schemeClr val="tx1"/>
                </a:solidFill>
              </a:rPr>
              <a:t>, player i's </a:t>
            </a:r>
            <a:r>
              <a:rPr lang="en-US" sz="1900" i="1" dirty="0">
                <a:solidFill>
                  <a:schemeClr val="tx1"/>
                </a:solidFill>
              </a:rPr>
              <a:t>best-response set</a:t>
            </a:r>
            <a:r>
              <a:rPr lang="en-US" sz="1900" dirty="0">
                <a:solidFill>
                  <a:schemeClr val="tx1"/>
                </a:solidFill>
              </a:rPr>
              <a:t> is</a:t>
            </a:r>
          </a:p>
          <a:p>
            <a:pPr marL="0" indent="0" algn="ctr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2000" i="1" dirty="0"/>
              <a:t>BR</a:t>
            </a:r>
            <a:r>
              <a:rPr lang="en-US" sz="1550" i="1" baseline="-25000" dirty="0"/>
              <a:t>i</a:t>
            </a:r>
            <a:r>
              <a:rPr lang="en-US" sz="2000" i="1" dirty="0"/>
              <a:t>(a</a:t>
            </a:r>
            <a:r>
              <a:rPr lang="en-US" sz="1550" i="1" baseline="-25000" dirty="0"/>
              <a:t>−i</a:t>
            </a:r>
            <a:r>
              <a:rPr lang="en-US" sz="2000" i="1" dirty="0"/>
              <a:t>)  =  { a</a:t>
            </a:r>
            <a:r>
              <a:rPr lang="en-US" sz="1550" i="1" baseline="-25000" dirty="0"/>
              <a:t>i</a:t>
            </a:r>
            <a:r>
              <a:rPr lang="en-US" sz="2000" i="1" dirty="0"/>
              <a:t> ∈ A</a:t>
            </a:r>
            <a:r>
              <a:rPr lang="en-US" sz="1550" i="1" baseline="-25000" dirty="0"/>
              <a:t>i</a:t>
            </a:r>
            <a:r>
              <a:rPr lang="en-US" sz="2000" i="1" dirty="0"/>
              <a:t>  :</a:t>
            </a:r>
          </a:p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i="1" dirty="0"/>
              <a:t>c</a:t>
            </a:r>
            <a:r>
              <a:rPr lang="en-US" sz="1450" i="1" baseline="-25000" dirty="0"/>
              <a:t>i</a:t>
            </a:r>
            <a:r>
              <a:rPr lang="en-US" sz="1900" i="1" dirty="0"/>
              <a:t>(a</a:t>
            </a:r>
            <a:r>
              <a:rPr lang="en-US" sz="1450" i="1" baseline="-25000" dirty="0"/>
              <a:t>i</a:t>
            </a:r>
            <a:r>
              <a:rPr lang="en-US" sz="1900" i="1" dirty="0"/>
              <a:t>, a</a:t>
            </a:r>
            <a:r>
              <a:rPr lang="en-US" sz="1450" i="1" baseline="-25000" dirty="0"/>
              <a:t>−i</a:t>
            </a:r>
            <a:r>
              <a:rPr lang="en-US" sz="1900" i="1" dirty="0"/>
              <a:t>)  ≤  c</a:t>
            </a:r>
            <a:r>
              <a:rPr lang="en-US" sz="1450" i="1" baseline="-25000" dirty="0"/>
              <a:t>i</a:t>
            </a:r>
            <a:r>
              <a:rPr lang="en-US" sz="1900" i="1" dirty="0"/>
              <a:t>(a</a:t>
            </a:r>
            <a:r>
              <a:rPr lang="en-US" sz="1450" i="1" baseline="-25000" dirty="0"/>
              <a:t>i</a:t>
            </a:r>
            <a:r>
              <a:rPr lang="en-US" sz="1900" i="1" dirty="0"/>
              <a:t>′, a</a:t>
            </a:r>
            <a:r>
              <a:rPr lang="en-US" sz="1450" i="1" baseline="-25000" dirty="0"/>
              <a:t>−i</a:t>
            </a:r>
            <a:r>
              <a:rPr lang="en-US" sz="1900" i="1" dirty="0"/>
              <a:t>)  for all a</a:t>
            </a:r>
            <a:r>
              <a:rPr lang="en-US" sz="1450" i="1" baseline="-25000" dirty="0"/>
              <a:t>i</a:t>
            </a:r>
            <a:r>
              <a:rPr lang="en-US" sz="1900" i="1" dirty="0"/>
              <a:t>′ ∈ A</a:t>
            </a:r>
            <a:r>
              <a:rPr lang="en-US" sz="1450" i="1" baseline="-25000" dirty="0"/>
              <a:t>i</a:t>
            </a:r>
            <a:r>
              <a:rPr lang="en-US" sz="1900" i="1" dirty="0"/>
              <a:t>  }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action(s) in A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that minimize player i's cost, holding everyone else's actions fixed.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Nash equilibrium, restated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a* ∈ A is a Nash equilibrium </a:t>
            </a:r>
            <a:r>
              <a:rPr lang="en-US" sz="1800" i="1" dirty="0">
                <a:solidFill>
                  <a:schemeClr val="tx1"/>
                </a:solidFill>
              </a:rPr>
              <a:t>if and only if</a:t>
            </a:r>
          </a:p>
          <a:p>
            <a:pPr marL="0" indent="0" algn="ctr">
              <a:spcBef>
                <a:spcPts val="200"/>
              </a:spcBef>
              <a:spcAft>
                <a:spcPts val="500"/>
              </a:spcAft>
              <a:buNone/>
            </a:pPr>
            <a:r>
              <a:rPr lang="en-US" sz="2200" i="1" dirty="0"/>
              <a:t>a</a:t>
            </a:r>
            <a:r>
              <a:rPr lang="en-US" sz="1700" i="1" baseline="-25000" dirty="0"/>
              <a:t>i</a:t>
            </a:r>
            <a:r>
              <a:rPr lang="en-US" sz="2200" i="1" dirty="0"/>
              <a:t>* ∈ BR</a:t>
            </a:r>
            <a:r>
              <a:rPr lang="en-US" sz="1700" i="1" baseline="-25000" dirty="0"/>
              <a:t>i</a:t>
            </a:r>
            <a:r>
              <a:rPr lang="en-US" sz="2200" i="1" dirty="0"/>
              <a:t>(a</a:t>
            </a:r>
            <a:r>
              <a:rPr lang="en-US" sz="1700" i="1" baseline="-25000" dirty="0"/>
              <a:t>−i</a:t>
            </a:r>
            <a:r>
              <a:rPr lang="en-US" sz="2200" i="1" dirty="0"/>
              <a:t>*)      for every i ∈ N.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Finding an equilibrium is the same as finding a profile where every player is simultaneously best-responding to everyone else.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9645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Best response algorithm</a:t>
            </a:r>
          </a:p>
        </p:txBody>
      </p:sp>
      <p:sp>
        <p:nvSpPr>
          <p:cNvPr id="11" name="Content Placeholder Left"/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saw that not every game has a pure Nash equilibrium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 check if a game has a pure NE is exponential in the number of players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Even when we know there must exist one, finding it is exponential in the number of players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Generally, we know nothing.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But there is hope: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12" name="Content Placeholder Right"/>
          <p:cNvSpPr>
            <a:spLocks noGrp="1"/>
          </p:cNvSpPr>
          <p:nvPr>
            <p:ph sz="half" idx="2"/>
          </p:nvPr>
        </p:nvSpPr>
        <p:spPr>
          <a:xfrm>
            <a:off x="6527254" y="1490128"/>
            <a:ext cx="4409100" cy="4546800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Best-response algorithm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it does not converge, we know nothing!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endParaRPr lang="en-US" sz="1800" b="1" dirty="0">
              <a:solidFill>
                <a:schemeClr val="accent1"/>
              </a:solidFill>
            </a:endParaRPr>
          </a:p>
        </p:txBody>
      </p:sp>
      <p:sp>
        <p:nvSpPr>
          <p:cNvPr id="51" name="Callout"/>
          <p:cNvSpPr/>
          <p:nvPr/>
        </p:nvSpPr>
        <p:spPr>
          <a:xfrm>
            <a:off x="6527254" y="4715109"/>
            <a:ext cx="4409100" cy="7000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If it converges, we found a Nash equilibrium.</a:t>
            </a:r>
          </a:p>
        </p:txBody>
      </p:sp>
      <p:cxnSp>
        <p:nvCxnSpPr>
          <p:cNvPr id="30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14</a:t>
            </a:fld>
            <a:endParaRPr lang="da-DK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32684C-8475-A8D1-B59E-12247CD0A25C}"/>
              </a:ext>
            </a:extLst>
          </p:cNvPr>
          <p:cNvCxnSpPr/>
          <p:nvPr/>
        </p:nvCxnSpPr>
        <p:spPr bwMode="auto">
          <a:xfrm>
            <a:off x="1774800" y="4293096"/>
            <a:ext cx="360040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ode Box">
            <a:extLst>
              <a:ext uri="{FF2B5EF4-FFF2-40B4-BE49-F238E27FC236}">
                <a16:creationId xmlns:a16="http://schemas.microsoft.com/office/drawing/2014/main" id="{4F41EC53-D912-ADD6-D5E7-09F8B191E3A2}"/>
              </a:ext>
            </a:extLst>
          </p:cNvPr>
          <p:cNvSpPr/>
          <p:nvPr/>
        </p:nvSpPr>
        <p:spPr>
          <a:xfrm>
            <a:off x="6538114" y="2110837"/>
            <a:ext cx="4409100" cy="2450000"/>
          </a:xfrm>
          <a:prstGeom prst="roundRect">
            <a:avLst>
              <a:gd name="adj" fmla="val 4000"/>
            </a:avLst>
          </a:prstGeom>
          <a:solidFill>
            <a:schemeClr val="tx1">
              <a:lumMod val="4000"/>
              <a:lumOff val="96000"/>
            </a:schemeClr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lIns="180000" tIns="140000" rIns="180000" bIns="140000"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50" dirty="0">
                <a:latin typeface="Courier New"/>
                <a:cs typeface="Courier New"/>
              </a:rPr>
              <a:t>Input: any action profile a = (a</a:t>
            </a:r>
            <a:r>
              <a:rPr lang="en-US" sz="1088" baseline="-25000" dirty="0">
                <a:latin typeface="Courier New"/>
                <a:cs typeface="Courier New"/>
              </a:rPr>
              <a:t>1</a:t>
            </a:r>
            <a:r>
              <a:rPr lang="en-US" sz="1450" dirty="0">
                <a:latin typeface="Courier New"/>
                <a:cs typeface="Courier New"/>
              </a:rPr>
              <a:t>, …, a</a:t>
            </a:r>
            <a:r>
              <a:rPr lang="en-US" sz="1088" baseline="-25000" dirty="0">
                <a:latin typeface="Courier New"/>
                <a:cs typeface="Courier New"/>
              </a:rPr>
              <a:t>n</a:t>
            </a:r>
            <a:r>
              <a:rPr lang="en-US" sz="1450" dirty="0">
                <a:latin typeface="Courier New"/>
                <a:cs typeface="Courier New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50" b="1" dirty="0">
                <a:latin typeface="Courier New"/>
                <a:cs typeface="Courier New"/>
              </a:rPr>
              <a:t>repeat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50" dirty="0">
                <a:latin typeface="Courier New"/>
                <a:cs typeface="Courier New"/>
              </a:rPr>
              <a:t>    for each player i ∈ N: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450" dirty="0">
                <a:latin typeface="Courier New"/>
                <a:cs typeface="Courier New"/>
              </a:rPr>
              <a:t>        a</a:t>
            </a:r>
            <a:r>
              <a:rPr lang="en-US" sz="1088" baseline="-25000" dirty="0">
                <a:latin typeface="Courier New"/>
                <a:cs typeface="Courier New"/>
              </a:rPr>
              <a:t>i</a:t>
            </a:r>
            <a:r>
              <a:rPr lang="en-US" sz="1450" dirty="0">
                <a:latin typeface="Courier New"/>
                <a:cs typeface="Courier New"/>
              </a:rPr>
              <a:t> ← BR</a:t>
            </a:r>
            <a:r>
              <a:rPr lang="en-US" sz="1088" baseline="-25000" dirty="0">
                <a:latin typeface="Courier New"/>
                <a:cs typeface="Courier New"/>
              </a:rPr>
              <a:t>i</a:t>
            </a:r>
            <a:r>
              <a:rPr lang="en-US" sz="1450" dirty="0">
                <a:latin typeface="Courier New"/>
                <a:cs typeface="Courier New"/>
              </a:rPr>
              <a:t>(a</a:t>
            </a:r>
            <a:r>
              <a:rPr lang="en-US" sz="1088" baseline="-25000" dirty="0">
                <a:latin typeface="Courier New"/>
                <a:cs typeface="Courier New"/>
              </a:rPr>
              <a:t>−i</a:t>
            </a:r>
            <a:r>
              <a:rPr lang="en-US" sz="1450" dirty="0">
                <a:latin typeface="Courier New"/>
                <a:cs typeface="Courier New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50" b="1" dirty="0">
                <a:latin typeface="Courier New"/>
                <a:cs typeface="Courier New"/>
              </a:rPr>
              <a:t>until no player's action changes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dirty="0">
                <a:latin typeface="Courier New"/>
                <a:cs typeface="Courier New"/>
              </a:rPr>
              <a:t>return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51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Best response algorithm</a:t>
            </a:r>
          </a:p>
        </p:txBody>
      </p:sp>
      <p:sp>
        <p:nvSpPr>
          <p:cNvPr id="11" name="Content Placeholder Left"/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Rock, Paper, Scissors</a:t>
            </a:r>
          </a:p>
        </p:txBody>
      </p:sp>
      <p:sp>
        <p:nvSpPr>
          <p:cNvPr id="12" name="Content Placeholder Right"/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Rock, Paper, Scissors, Kiss</a:t>
            </a:r>
          </a:p>
        </p:txBody>
      </p:sp>
      <p:graphicFrame>
        <p:nvGraphicFramePr>
          <p:cNvPr id="41" name="Prisoners Dilemma Table"/>
          <p:cNvGraphicFramePr>
            <a:graphicFrameLocks noGrp="1"/>
          </p:cNvGraphicFramePr>
          <p:nvPr/>
        </p:nvGraphicFramePr>
        <p:xfrm>
          <a:off x="1774800" y="2150000"/>
          <a:ext cx="4390000" cy="187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" name="Prisoners Dilemm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298759"/>
              </p:ext>
            </p:extLst>
          </p:nvPr>
        </p:nvGraphicFramePr>
        <p:xfrm>
          <a:off x="6678001" y="2150000"/>
          <a:ext cx="4409100" cy="206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0, 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50" b="1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/>
                        <a:t>-10, 0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b="1" dirty="0"/>
                        <a:t>100, 100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Callout"/>
          <p:cNvSpPr/>
          <p:nvPr/>
        </p:nvSpPr>
        <p:spPr>
          <a:xfrm>
            <a:off x="1774800" y="5450262"/>
            <a:ext cx="4410177" cy="800000"/>
          </a:xfrm>
          <a:prstGeom prst="roundRect">
            <a:avLst>
              <a:gd name="adj" fmla="val 8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There is no pure Nash equilibrium, so it will never converge.</a:t>
            </a:r>
          </a:p>
        </p:txBody>
      </p:sp>
      <p:sp>
        <p:nvSpPr>
          <p:cNvPr id="62" name="Callout"/>
          <p:cNvSpPr/>
          <p:nvPr/>
        </p:nvSpPr>
        <p:spPr>
          <a:xfrm>
            <a:off x="6678001" y="5450262"/>
            <a:ext cx="4409100" cy="800000"/>
          </a:xfrm>
          <a:prstGeom prst="roundRect">
            <a:avLst>
              <a:gd name="adj" fmla="val 8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A pure Nash exists. But it can't be found if the starting point is wrong.</a:t>
            </a:r>
          </a:p>
        </p:txBody>
      </p:sp>
      <p:cxnSp>
        <p:nvCxnSpPr>
          <p:cNvPr id="30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3" name="Callout">
            <a:extLst>
              <a:ext uri="{FF2B5EF4-FFF2-40B4-BE49-F238E27FC236}">
                <a16:creationId xmlns:a16="http://schemas.microsoft.com/office/drawing/2014/main" id="{5712C289-2FC1-C275-7551-9692181883BB}"/>
              </a:ext>
            </a:extLst>
          </p:cNvPr>
          <p:cNvSpPr/>
          <p:nvPr/>
        </p:nvSpPr>
        <p:spPr>
          <a:xfrm>
            <a:off x="6690410" y="4370045"/>
            <a:ext cx="4409100" cy="800000"/>
          </a:xfrm>
          <a:prstGeom prst="roundRect">
            <a:avLst>
              <a:gd name="adj" fmla="val 8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If we start by playing actual R,P,S the algorithm never stops playing.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5652-531A-D95E-DC41-50946FEA8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14" y="1995233"/>
            <a:ext cx="10153128" cy="4546800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the best-response algorithm does not converge, we know nothing!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09900-2CF5-10C9-4CD8-CD48A6EC4A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7E20-6F82-3738-ED20-C7775807CD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91CCC-802C-0967-1B97-9290DC3F7F0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C715493-C4FB-4F30-8E14-EBC89873AF9F}" type="datetime1">
              <a:rPr lang="da-DK" smtClean="0"/>
              <a:t>11-09-2026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66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ε-Nash equilibrium</a:t>
            </a:r>
          </a:p>
        </p:txBody>
      </p:sp>
      <p:sp>
        <p:nvSpPr>
          <p:cNvPr id="11" name="Content Placeholder Left"/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ε-Nash equilibrium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Definition.  </a:t>
            </a:r>
            <a:r>
              <a:rPr lang="en-US" sz="1500" dirty="0">
                <a:solidFill>
                  <a:schemeClr val="tx1"/>
                </a:solidFill>
              </a:rPr>
              <a:t>Fix a tolerance ε ≥ 0. An action profile a* = (a</a:t>
            </a:r>
            <a:r>
              <a:rPr lang="en-US" sz="1150" i="1" baseline="-25000" dirty="0">
                <a:solidFill>
                  <a:schemeClr val="tx1"/>
                </a:solidFill>
              </a:rPr>
              <a:t>1</a:t>
            </a:r>
            <a:r>
              <a:rPr lang="en-US" sz="1500" dirty="0">
                <a:solidFill>
                  <a:schemeClr val="tx1"/>
                </a:solidFill>
              </a:rPr>
              <a:t>*, …, a</a:t>
            </a:r>
            <a:r>
              <a:rPr lang="en-US" sz="1150" i="1" baseline="-25000" dirty="0">
                <a:solidFill>
                  <a:schemeClr val="tx1"/>
                </a:solidFill>
              </a:rPr>
              <a:t>n</a:t>
            </a:r>
            <a:r>
              <a:rPr lang="en-US" sz="1500" dirty="0">
                <a:solidFill>
                  <a:schemeClr val="tx1"/>
                </a:solidFill>
              </a:rPr>
              <a:t>*) ∈ A is an </a:t>
            </a:r>
            <a:r>
              <a:rPr lang="en-US" sz="1500" i="1" dirty="0">
                <a:solidFill>
                  <a:schemeClr val="tx1"/>
                </a:solidFill>
              </a:rPr>
              <a:t>ε-Nash equilibrium</a:t>
            </a:r>
            <a:r>
              <a:rPr lang="en-US" sz="1500" dirty="0">
                <a:solidFill>
                  <a:schemeClr val="tx1"/>
                </a:solidFill>
              </a:rPr>
              <a:t> if no player can lower their own cost by more than ε by unilaterally deviating:</a:t>
            </a:r>
          </a:p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700" i="1" dirty="0"/>
              <a:t>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*, a</a:t>
            </a:r>
            <a:r>
              <a:rPr lang="en-US" sz="1300" i="1" baseline="-25000" dirty="0"/>
              <a:t>−i</a:t>
            </a:r>
            <a:r>
              <a:rPr lang="en-US" sz="1700" i="1" dirty="0"/>
              <a:t>*)  ≤  c</a:t>
            </a:r>
            <a:r>
              <a:rPr lang="en-US" sz="1300" i="1" baseline="-25000" dirty="0"/>
              <a:t>i</a:t>
            </a:r>
            <a:r>
              <a:rPr lang="en-US" sz="1700" i="1" dirty="0"/>
              <a:t>(a</a:t>
            </a:r>
            <a:r>
              <a:rPr lang="en-US" sz="1300" i="1" baseline="-25000" dirty="0"/>
              <a:t>i</a:t>
            </a:r>
            <a:r>
              <a:rPr lang="en-US" sz="1700" i="1" dirty="0"/>
              <a:t>, a</a:t>
            </a:r>
            <a:r>
              <a:rPr lang="en-US" sz="1300" i="1" baseline="-25000" dirty="0"/>
              <a:t>−i</a:t>
            </a:r>
            <a:r>
              <a:rPr lang="en-US" sz="1700" i="1" dirty="0"/>
              <a:t>*)  +  ε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00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Every Nash equilibrium is a 0-NE. Allowing ε &gt; 0 only enlarges the set of qualifying profiles. This is useful when an algorithm can only guarantee approximately-best responses.</a:t>
            </a:r>
          </a:p>
        </p:txBody>
      </p:sp>
      <p:sp>
        <p:nvSpPr>
          <p:cNvPr id="12" name="Content Placeholder Right"/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ε-best-response algorithm</a:t>
            </a:r>
          </a:p>
        </p:txBody>
      </p:sp>
      <p:sp>
        <p:nvSpPr>
          <p:cNvPr id="50" name="Code Box"/>
          <p:cNvSpPr/>
          <p:nvPr/>
        </p:nvSpPr>
        <p:spPr>
          <a:xfrm>
            <a:off x="6678001" y="2300000"/>
            <a:ext cx="4409100" cy="2750000"/>
          </a:xfrm>
          <a:prstGeom prst="roundRect">
            <a:avLst>
              <a:gd name="adj" fmla="val 4000"/>
            </a:avLst>
          </a:prstGeom>
          <a:solidFill>
            <a:schemeClr val="tx1">
              <a:lumMod val="4000"/>
              <a:lumOff val="96000"/>
            </a:schemeClr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 lIns="180000" tIns="140000" rIns="180000" bIns="140000" anchor="t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Input: a = (a</a:t>
            </a:r>
            <a:r>
              <a:rPr lang="en-US" sz="975" baseline="-25000" dirty="0">
                <a:latin typeface="Courier New"/>
                <a:cs typeface="Courier New"/>
              </a:rPr>
              <a:t>1</a:t>
            </a:r>
            <a:r>
              <a:rPr lang="en-US" sz="1300" dirty="0">
                <a:latin typeface="Courier New"/>
                <a:cs typeface="Courier New"/>
              </a:rPr>
              <a:t>, …, a</a:t>
            </a:r>
            <a:r>
              <a:rPr lang="en-US" sz="975" baseline="-25000" dirty="0">
                <a:latin typeface="Courier New"/>
                <a:cs typeface="Courier New"/>
              </a:rPr>
              <a:t>n</a:t>
            </a:r>
            <a:r>
              <a:rPr lang="en-US" sz="1300" dirty="0">
                <a:latin typeface="Courier New"/>
                <a:cs typeface="Courier New"/>
              </a:rPr>
              <a:t>),  ε ≥ 0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50" b="1" dirty="0">
                <a:latin typeface="Courier New"/>
                <a:cs typeface="Courier New"/>
              </a:rPr>
              <a:t>repeat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50" dirty="0">
                <a:latin typeface="Courier New"/>
                <a:cs typeface="Courier New"/>
              </a:rPr>
              <a:t>  # 1. compute all best responses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  for each player i ∈ N: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      b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 ← BR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(a</a:t>
            </a:r>
            <a:r>
              <a:rPr lang="en-US" sz="975" baseline="-25000" dirty="0">
                <a:latin typeface="Courier New"/>
                <a:cs typeface="Courier New"/>
              </a:rPr>
              <a:t>−i</a:t>
            </a:r>
            <a:r>
              <a:rPr lang="en-US" sz="1300" dirty="0">
                <a:latin typeface="Courier New"/>
                <a:cs typeface="Courier New"/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50" dirty="0">
                <a:latin typeface="Courier New"/>
                <a:cs typeface="Courier New"/>
              </a:rPr>
              <a:t>  # 2. Check if the ε-condition fails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  for any player j ∈ N:</a:t>
            </a:r>
          </a:p>
          <a:p>
            <a:pPr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      if c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(a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, a</a:t>
            </a:r>
            <a:r>
              <a:rPr lang="en-US" sz="975" baseline="-25000" dirty="0">
                <a:latin typeface="Courier New"/>
                <a:cs typeface="Courier New"/>
              </a:rPr>
              <a:t>−i</a:t>
            </a:r>
            <a:r>
              <a:rPr lang="en-US" sz="1300" dirty="0">
                <a:latin typeface="Courier New"/>
                <a:cs typeface="Courier New"/>
              </a:rPr>
              <a:t>) &gt; c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(b</a:t>
            </a:r>
            <a:r>
              <a:rPr lang="en-US" sz="975" baseline="-25000" dirty="0">
                <a:latin typeface="Courier New"/>
                <a:cs typeface="Courier New"/>
              </a:rPr>
              <a:t>i</a:t>
            </a:r>
            <a:r>
              <a:rPr lang="en-US" sz="1300" dirty="0">
                <a:latin typeface="Courier New"/>
                <a:cs typeface="Courier New"/>
              </a:rPr>
              <a:t>, a</a:t>
            </a:r>
            <a:r>
              <a:rPr lang="en-US" sz="975" baseline="-25000" dirty="0">
                <a:latin typeface="Courier New"/>
                <a:cs typeface="Courier New"/>
              </a:rPr>
              <a:t>−i</a:t>
            </a:r>
            <a:r>
              <a:rPr lang="en-US" sz="1300" dirty="0">
                <a:latin typeface="Courier New"/>
                <a:cs typeface="Courier New"/>
              </a:rPr>
              <a:t>) + ε for 	any i: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          	</a:t>
            </a:r>
            <a:r>
              <a:rPr lang="en-US" sz="1300" dirty="0" err="1">
                <a:latin typeface="Courier New"/>
                <a:cs typeface="Courier New"/>
              </a:rPr>
              <a:t>a</a:t>
            </a:r>
            <a:r>
              <a:rPr lang="en-US" sz="975" baseline="-25000" dirty="0" err="1">
                <a:latin typeface="Courier New"/>
                <a:cs typeface="Courier New"/>
              </a:rPr>
              <a:t>j</a:t>
            </a:r>
            <a:r>
              <a:rPr lang="en-US" sz="1300" dirty="0">
                <a:latin typeface="Courier New"/>
                <a:cs typeface="Courier New"/>
              </a:rPr>
              <a:t> ← </a:t>
            </a:r>
            <a:r>
              <a:rPr lang="en-US" sz="1300" dirty="0" err="1">
                <a:latin typeface="Courier New"/>
                <a:cs typeface="Courier New"/>
              </a:rPr>
              <a:t>b</a:t>
            </a:r>
            <a:r>
              <a:rPr lang="en-US" sz="975" baseline="-25000" dirty="0" err="1">
                <a:latin typeface="Courier New"/>
                <a:cs typeface="Courier New"/>
              </a:rPr>
              <a:t>j</a:t>
            </a:r>
            <a:endParaRPr lang="en-US" sz="975" baseline="-25000" dirty="0">
              <a:latin typeface="Courier New"/>
              <a:cs typeface="Courier New"/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dirty="0">
                <a:latin typeface="Courier New"/>
                <a:cs typeface="Courier New"/>
              </a:rPr>
              <a:t>until no player’s cost changes enough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ourier New"/>
                <a:cs typeface="Courier New"/>
              </a:rPr>
              <a:t>return a</a:t>
            </a:r>
          </a:p>
        </p:txBody>
      </p:sp>
      <p:sp>
        <p:nvSpPr>
          <p:cNvPr id="71" name="Callout"/>
          <p:cNvSpPr/>
          <p:nvPr/>
        </p:nvSpPr>
        <p:spPr>
          <a:xfrm>
            <a:off x="6678001" y="5350000"/>
            <a:ext cx="4409100" cy="750000"/>
          </a:xfrm>
          <a:prstGeom prst="roundRect">
            <a:avLst>
              <a:gd name="adj" fmla="val 8000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rIns="180000" anchor="ctr">
            <a:normAutofit/>
          </a:bodyPr>
          <a:lstStyle/>
          <a:p>
            <a:pPr algn="ctr"/>
            <a:r>
              <a:rPr lang="en-US" sz="1800" b="1" i="1" dirty="0">
                <a:solidFill>
                  <a:srgbClr val="FFFFFF"/>
                </a:solidFill>
              </a:rPr>
              <a:t>Calculate all best response first – then update</a:t>
            </a:r>
          </a:p>
        </p:txBody>
      </p:sp>
      <p:cxnSp>
        <p:nvCxnSpPr>
          <p:cNvPr id="30" name="Straight Connector Divider"/>
          <p:cNvCxnSpPr>
            <a:cxnSpLocks/>
          </p:cNvCxnSpPr>
          <p:nvPr/>
        </p:nvCxnSpPr>
        <p:spPr bwMode="auto">
          <a:xfrm>
            <a:off x="6431489" y="1706399"/>
            <a:ext cx="0" cy="4546800"/>
          </a:xfrm>
          <a:prstGeom prst="line">
            <a:avLst/>
          </a:prstGeom>
          <a:ln w="9525" cap="flat" cmpd="sng" algn="ctr">
            <a:solidFill>
              <a:schemeClr val="tx1">
                <a:lumMod val="35000"/>
                <a:lumOff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E}" type="slidenum">
              <a:rPr lang="da-DK" smtClean="0"/>
              <a:pPr/>
              <a:t>17</a:t>
            </a:fld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50" grpId="0" animBg="1"/>
      <p:bldP spid="7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D6AC-564A-A3B9-4349-725F45FA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C83AB74-56F5-B62E-B27F-3C17F57BD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58" y="1772816"/>
            <a:ext cx="10840028" cy="2822575"/>
          </a:xfrm>
        </p:spPr>
        <p:txBody>
          <a:bodyPr/>
          <a:lstStyle/>
          <a:p>
            <a:r>
              <a:rPr lang="en-GB" sz="5400" dirty="0"/>
              <a:t>This helps finding a Nash equilibrium. It does not help if there is none.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63907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Mixed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So far, player i chose a single action 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 ∈ 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 with certainty. A </a:t>
            </a:r>
            <a:r>
              <a:rPr lang="en-US" sz="1900" i="1" dirty="0">
                <a:solidFill>
                  <a:schemeClr val="tx1"/>
                </a:solidFill>
              </a:rPr>
              <a:t>mixed strategy</a:t>
            </a:r>
            <a:r>
              <a:rPr lang="en-US" sz="1900" dirty="0">
                <a:solidFill>
                  <a:schemeClr val="tx1"/>
                </a:solidFill>
              </a:rPr>
              <a:t> instead lets player i randomize over their actions: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σ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 ∈ Δ(A</a:t>
            </a:r>
            <a:r>
              <a:rPr lang="en-US" sz="1400" b="1" i="1" baseline="-25000" dirty="0">
                <a:solidFill>
                  <a:schemeClr val="accent1"/>
                </a:solidFill>
              </a:rPr>
              <a:t>i</a:t>
            </a:r>
            <a:r>
              <a:rPr lang="en-US" sz="1800" b="1" dirty="0">
                <a:solidFill>
                  <a:schemeClr val="accent1"/>
                </a:solidFill>
              </a:rPr>
              <a:t>)</a:t>
            </a:r>
            <a:r>
              <a:rPr lang="en-US" sz="1800" b="1" dirty="0">
                <a:solidFill>
                  <a:schemeClr val="tx1"/>
                </a:solidFill>
              </a:rPr>
              <a:t>   player i's mixed strategy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probability distribution over player i's action set Aᵢ, assigning probability σᵢ(aᵢ) to each pure action aᵢ ∈ Aᵢ.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σ = (σ</a:t>
            </a:r>
            <a:r>
              <a:rPr lang="en-US" sz="1400" b="1" i="1" baseline="-25000" dirty="0">
                <a:solidFill>
                  <a:schemeClr val="accent1"/>
                </a:solidFill>
              </a:rPr>
              <a:t>1</a:t>
            </a:r>
            <a:r>
              <a:rPr lang="en-US" sz="1800" b="1" dirty="0">
                <a:solidFill>
                  <a:schemeClr val="accent1"/>
                </a:solidFill>
              </a:rPr>
              <a:t>, …, σ</a:t>
            </a:r>
            <a:r>
              <a:rPr lang="en-US" sz="1400" b="1" i="1" baseline="-25000" dirty="0">
                <a:solidFill>
                  <a:schemeClr val="accent1"/>
                </a:solidFill>
              </a:rPr>
              <a:t>n</a:t>
            </a:r>
            <a:r>
              <a:rPr lang="en-US" sz="1800" b="1" dirty="0">
                <a:solidFill>
                  <a:schemeClr val="accent1"/>
                </a:solidFill>
              </a:rPr>
              <a:t>)</a:t>
            </a:r>
            <a:r>
              <a:rPr lang="en-US" sz="1800" b="1" dirty="0">
                <a:solidFill>
                  <a:schemeClr val="tx1"/>
                </a:solidFill>
              </a:rPr>
              <a:t>   the joint mixed strategy</a:t>
            </a:r>
          </a:p>
          <a:p>
            <a:pPr marL="0" indent="0"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 assume the players randomize independently, so σ is the product distribution: σ(a) = σ₁(a₁) · σ₂(a₂) ⋯ σₙ(aₙ), for every joint action a = (a₁, …, aₙ) ∈ A.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Player i's </a:t>
            </a:r>
            <a:r>
              <a:rPr lang="en-US" sz="1900" i="1" dirty="0">
                <a:solidFill>
                  <a:schemeClr val="tx1"/>
                </a:solidFill>
              </a:rPr>
              <a:t>expected cost</a:t>
            </a:r>
            <a:r>
              <a:rPr lang="en-US" sz="1900" dirty="0">
                <a:solidFill>
                  <a:schemeClr val="tx1"/>
                </a:solidFill>
              </a:rPr>
              <a:t> under σ is then defined by the integral</a:t>
            </a:r>
          </a:p>
          <a:p>
            <a:pPr marL="0" indent="0" algn="ctr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2400" i="1" dirty="0"/>
              <a:t>c</a:t>
            </a:r>
            <a:r>
              <a:rPr lang="en-US" sz="1800" i="1" baseline="-25000" dirty="0"/>
              <a:t>i</a:t>
            </a:r>
            <a:r>
              <a:rPr lang="en-US" sz="2400" i="1" dirty="0"/>
              <a:t>(σ)  =  </a:t>
            </a:r>
            <a:r>
              <a:rPr lang="en-US" sz="2800" i="1" dirty="0"/>
              <a:t>∫</a:t>
            </a:r>
            <a:r>
              <a:rPr lang="en-US" sz="1500" i="1" baseline="-25000" dirty="0"/>
              <a:t>A</a:t>
            </a:r>
            <a:r>
              <a:rPr lang="en-US" sz="2400" i="1" dirty="0"/>
              <a:t>  c</a:t>
            </a:r>
            <a:r>
              <a:rPr lang="en-US" sz="1800" i="1" baseline="-25000" dirty="0"/>
              <a:t>i</a:t>
            </a:r>
            <a:r>
              <a:rPr lang="en-US" sz="2400" i="1" dirty="0"/>
              <a:t>(a)  dσ(a)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expectation of the (deterministic) cost c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(a) over joint actions are drawn according to the independent product distribution σ.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19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941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Mixed Nash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Definition.  </a:t>
            </a:r>
            <a:r>
              <a:rPr lang="en-US" sz="1900" dirty="0">
                <a:solidFill>
                  <a:schemeClr val="tx1"/>
                </a:solidFill>
              </a:rPr>
              <a:t>A mixed profile σ* = (σ</a:t>
            </a:r>
            <a:r>
              <a:rPr lang="en-US" sz="1450" i="1" baseline="-25000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*, …, σ</a:t>
            </a:r>
            <a:r>
              <a:rPr lang="en-US" sz="1450" i="1" baseline="-25000" dirty="0">
                <a:solidFill>
                  <a:schemeClr val="tx1"/>
                </a:solidFill>
              </a:rPr>
              <a:t>n</a:t>
            </a:r>
            <a:r>
              <a:rPr lang="en-US" sz="1900" dirty="0">
                <a:solidFill>
                  <a:schemeClr val="tx1"/>
                </a:solidFill>
              </a:rPr>
              <a:t>*) is a </a:t>
            </a:r>
            <a:r>
              <a:rPr lang="en-US" sz="1900" i="1" dirty="0">
                <a:solidFill>
                  <a:schemeClr val="tx1"/>
                </a:solidFill>
              </a:rPr>
              <a:t>mixed Nash equilibrium</a:t>
            </a:r>
            <a:r>
              <a:rPr lang="en-US" sz="1900" dirty="0">
                <a:solidFill>
                  <a:schemeClr val="tx1"/>
                </a:solidFill>
              </a:rPr>
              <a:t> if no player can lower their expected cost by unilaterally deviating:</a:t>
            </a:r>
          </a:p>
          <a:p>
            <a:pPr marL="0" indent="0"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i="1" dirty="0"/>
              <a:t>c</a:t>
            </a:r>
            <a:r>
              <a:rPr lang="en-US" sz="1800" i="1" baseline="-25000" dirty="0"/>
              <a:t>i</a:t>
            </a:r>
            <a:r>
              <a:rPr lang="en-US" sz="2400" i="1" dirty="0"/>
              <a:t>(σ</a:t>
            </a:r>
            <a:r>
              <a:rPr lang="en-US" sz="1800" i="1" baseline="-25000" dirty="0"/>
              <a:t>i</a:t>
            </a:r>
            <a:r>
              <a:rPr lang="en-US" sz="2400" i="1" dirty="0"/>
              <a:t>*, σ</a:t>
            </a:r>
            <a:r>
              <a:rPr lang="en-US" sz="1800" i="1" baseline="-25000" dirty="0"/>
              <a:t>−i</a:t>
            </a:r>
            <a:r>
              <a:rPr lang="en-US" sz="2400" i="1" dirty="0"/>
              <a:t>*)  ≤  c</a:t>
            </a:r>
            <a:r>
              <a:rPr lang="en-US" sz="1800" i="1" baseline="-25000" dirty="0"/>
              <a:t>i</a:t>
            </a:r>
            <a:r>
              <a:rPr lang="en-US" sz="2400" i="1" dirty="0"/>
              <a:t>(σ</a:t>
            </a:r>
            <a:r>
              <a:rPr lang="en-US" sz="1800" i="1" baseline="-25000" dirty="0"/>
              <a:t>i</a:t>
            </a:r>
            <a:r>
              <a:rPr lang="en-US" sz="2400" i="1" dirty="0"/>
              <a:t>, σ</a:t>
            </a:r>
            <a:r>
              <a:rPr lang="en-US" sz="1800" i="1" baseline="-25000" dirty="0"/>
              <a:t>−i</a:t>
            </a:r>
            <a:r>
              <a:rPr lang="en-US" sz="2400" i="1" dirty="0"/>
              <a:t>*)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every player i ∈ N and every σ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Δ(A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Recall player i's expected cost, now written as an </a:t>
            </a:r>
            <a:r>
              <a:rPr lang="en-US" sz="1900" i="1" dirty="0">
                <a:solidFill>
                  <a:schemeClr val="tx1"/>
                </a:solidFill>
              </a:rPr>
              <a:t>expected value</a:t>
            </a:r>
            <a:r>
              <a:rPr lang="en-US" sz="1900" dirty="0">
                <a:solidFill>
                  <a:schemeClr val="tx1"/>
                </a:solidFill>
              </a:rPr>
              <a:t> rather than an integral:</a:t>
            </a:r>
          </a:p>
          <a:p>
            <a:pPr marL="0" indent="0" algn="ctr">
              <a:spcBef>
                <a:spcPts val="200"/>
              </a:spcBef>
              <a:spcAft>
                <a:spcPts val="400"/>
              </a:spcAft>
              <a:buNone/>
            </a:pPr>
            <a:r>
              <a:rPr lang="en-US" sz="2400" i="1" dirty="0"/>
              <a:t>c</a:t>
            </a:r>
            <a:r>
              <a:rPr lang="en-US" sz="1800" i="1" baseline="-25000" dirty="0"/>
              <a:t>i</a:t>
            </a:r>
            <a:r>
              <a:rPr lang="en-US" sz="2400" i="1" dirty="0"/>
              <a:t>(σ)  =  </a:t>
            </a:r>
            <a:r>
              <a:rPr lang="en-US" sz="2800" i="1" dirty="0"/>
              <a:t>Σ</a:t>
            </a:r>
            <a:r>
              <a:rPr lang="en-US" sz="1500" i="1" baseline="-25000" dirty="0"/>
              <a:t>a∈A</a:t>
            </a:r>
            <a:r>
              <a:rPr lang="en-US" sz="2400" i="1" dirty="0"/>
              <a:t>  σ(a) c</a:t>
            </a:r>
            <a:r>
              <a:rPr lang="en-US" sz="1800" i="1" baseline="-25000" dirty="0"/>
              <a:t>i</a:t>
            </a:r>
            <a:r>
              <a:rPr lang="en-US" sz="2400" i="1" dirty="0"/>
              <a:t>(a)  =  E</a:t>
            </a:r>
            <a:r>
              <a:rPr lang="en-US" sz="1800" i="1" baseline="-25000" dirty="0"/>
              <a:t>a∼σ </a:t>
            </a:r>
            <a:r>
              <a:rPr lang="en-US" sz="2400" i="1" dirty="0"/>
              <a:t> [c</a:t>
            </a:r>
            <a:r>
              <a:rPr lang="en-US" sz="1800" i="1" baseline="-25000" dirty="0"/>
              <a:t>i</a:t>
            </a:r>
            <a:r>
              <a:rPr lang="en-US" sz="2400" i="1" dirty="0"/>
              <a:t>(a)]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pure Nash equilibrium is the special case where every σ</a:t>
            </a:r>
            <a:r>
              <a:rPr lang="en-US" sz="12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puts probability 1 on a single action.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9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20}" type="slidenum">
              <a:rPr lang="da-DK" smtClean="0"/>
              <a:pPr/>
              <a:t>20</a:t>
            </a:fld>
            <a:endParaRPr lang="da-DK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Support and best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Proposition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profile σ* = (σ</a:t>
            </a:r>
            <a:r>
              <a:rPr lang="en-US" sz="1450" i="1" baseline="-25000" dirty="0">
                <a:solidFill>
                  <a:schemeClr val="tx1"/>
                </a:solidFill>
              </a:rPr>
              <a:t>1</a:t>
            </a:r>
            <a:r>
              <a:rPr lang="en-US" sz="1900" dirty="0">
                <a:solidFill>
                  <a:schemeClr val="tx1"/>
                </a:solidFill>
              </a:rPr>
              <a:t>*, …, σ</a:t>
            </a:r>
            <a:r>
              <a:rPr lang="en-US" sz="1450" i="1" baseline="-25000" dirty="0">
                <a:solidFill>
                  <a:schemeClr val="tx1"/>
                </a:solidFill>
              </a:rPr>
              <a:t>n</a:t>
            </a:r>
            <a:r>
              <a:rPr lang="en-US" sz="1900" dirty="0">
                <a:solidFill>
                  <a:schemeClr val="tx1"/>
                </a:solidFill>
              </a:rPr>
              <a:t>*) is a mixed Nash equilibrium </a:t>
            </a:r>
            <a:r>
              <a:rPr lang="en-US" sz="1900" i="1" dirty="0">
                <a:solidFill>
                  <a:schemeClr val="tx1"/>
                </a:solidFill>
              </a:rPr>
              <a:t>if and only if</a:t>
            </a:r>
            <a:r>
              <a:rPr lang="en-US" sz="1900" dirty="0">
                <a:solidFill>
                  <a:schemeClr val="tx1"/>
                </a:solidFill>
              </a:rPr>
              <a:t>, for every player i ∈ N, every pure action in the support of σ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* is a best response to σ</a:t>
            </a:r>
            <a:r>
              <a:rPr lang="en-US" sz="1450" i="1" baseline="-25000" dirty="0">
                <a:solidFill>
                  <a:schemeClr val="tx1"/>
                </a:solidFill>
              </a:rPr>
              <a:t>−i</a:t>
            </a:r>
            <a:r>
              <a:rPr lang="en-US" sz="1900" dirty="0">
                <a:solidFill>
                  <a:schemeClr val="tx1"/>
                </a:solidFill>
              </a:rPr>
              <a:t>*:</a:t>
            </a:r>
          </a:p>
          <a:p>
            <a:pPr marL="0" indent="0" algn="ctr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2200" i="1" dirty="0"/>
              <a:t>supp(σ</a:t>
            </a:r>
            <a:r>
              <a:rPr lang="en-US" sz="1700" i="1" baseline="-25000" dirty="0"/>
              <a:t>i</a:t>
            </a:r>
            <a:r>
              <a:rPr lang="en-US" sz="2200" i="1" dirty="0"/>
              <a:t>*)  ⊆  BR</a:t>
            </a:r>
            <a:r>
              <a:rPr lang="en-US" sz="1700" i="1" baseline="-25000" dirty="0"/>
              <a:t>i</a:t>
            </a:r>
            <a:r>
              <a:rPr lang="en-US" sz="2200" i="1" dirty="0"/>
              <a:t>(σ</a:t>
            </a:r>
            <a:r>
              <a:rPr lang="en-US" sz="1700" i="1" baseline="-25000" dirty="0"/>
              <a:t>−i</a:t>
            </a:r>
            <a:r>
              <a:rPr lang="en-US" sz="2200" i="1" dirty="0"/>
              <a:t>*)      for every i ∈ N.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supp(σ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a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∈ A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σ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&gt; 0 } is the set of actions player i plays with positive probability.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Beyond finite games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This characterization is completely general: it holds in </a:t>
            </a:r>
            <a:r>
              <a:rPr lang="en-US" sz="1600" i="1" dirty="0">
                <a:solidFill>
                  <a:schemeClr val="tx1"/>
                </a:solidFill>
              </a:rPr>
              <a:t>any</a:t>
            </a:r>
            <a:r>
              <a:rPr lang="en-US" sz="1600" dirty="0">
                <a:solidFill>
                  <a:schemeClr val="tx1"/>
                </a:solidFill>
              </a:rPr>
              <a:t> game, including ones with infinite actions.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693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6A67-D413-31FF-CDC3-04FB3CE8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4408EA9-59EC-9E7C-7817-53CFD85DA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58" y="1772816"/>
            <a:ext cx="10840028" cy="2822575"/>
          </a:xfrm>
        </p:spPr>
        <p:txBody>
          <a:bodyPr/>
          <a:lstStyle/>
          <a:p>
            <a:r>
              <a:rPr lang="en-GB" sz="5400" dirty="0"/>
              <a:t>More drumroll, more Gregorian chants!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43567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Existence of Nash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295232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Theorem (Nash, 1950)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Every </a:t>
            </a:r>
            <a:r>
              <a:rPr lang="en-US" sz="1900" i="1" dirty="0">
                <a:solidFill>
                  <a:schemeClr val="tx1"/>
                </a:solidFill>
              </a:rPr>
              <a:t>finite game</a:t>
            </a:r>
            <a:r>
              <a:rPr lang="en-US" sz="1900" dirty="0">
                <a:solidFill>
                  <a:schemeClr val="tx1"/>
                </a:solidFill>
              </a:rPr>
              <a:t> Γ = (N, (A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350" baseline="-25000" dirty="0">
                <a:solidFill>
                  <a:schemeClr val="tx1"/>
                </a:solidFill>
              </a:rPr>
              <a:t>∈N</a:t>
            </a:r>
            <a:r>
              <a:rPr lang="en-US" sz="1900" dirty="0">
                <a:solidFill>
                  <a:schemeClr val="tx1"/>
                </a:solidFill>
              </a:rPr>
              <a:t>, (c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350" baseline="-25000" dirty="0">
                <a:solidFill>
                  <a:schemeClr val="tx1"/>
                </a:solidFill>
              </a:rPr>
              <a:t>∈N</a:t>
            </a:r>
            <a:r>
              <a:rPr lang="en-US" sz="1900" dirty="0">
                <a:solidFill>
                  <a:schemeClr val="tx1"/>
                </a:solidFill>
              </a:rPr>
              <a:t>) , that is one with finitely many players, each holding a finite action set 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, has at least one mixed Nash equilibrium:</a:t>
            </a:r>
          </a:p>
          <a:p>
            <a:pPr marL="0" indent="0" algn="ctr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2200" i="1" dirty="0"/>
              <a:t>∃ σ* = (σ</a:t>
            </a:r>
            <a:r>
              <a:rPr lang="en-US" sz="1700" i="1" baseline="-25000" dirty="0"/>
              <a:t>1</a:t>
            </a:r>
            <a:r>
              <a:rPr lang="en-US" sz="2200" i="1" dirty="0"/>
              <a:t>*, …, σ</a:t>
            </a:r>
            <a:r>
              <a:rPr lang="en-US" sz="1700" i="1" baseline="-25000" dirty="0"/>
              <a:t>n</a:t>
            </a:r>
            <a:r>
              <a:rPr lang="en-US" sz="2200" i="1" dirty="0"/>
              <a:t>*)  ∈  Δ(A</a:t>
            </a:r>
            <a:r>
              <a:rPr lang="en-US" sz="1700" i="1" baseline="-25000" dirty="0"/>
              <a:t>1</a:t>
            </a:r>
            <a:r>
              <a:rPr lang="en-US" sz="2200" i="1" dirty="0"/>
              <a:t>) × ⋯ × Δ(A</a:t>
            </a:r>
            <a:r>
              <a:rPr lang="en-US" sz="1700" i="1" baseline="-25000" dirty="0"/>
              <a:t>n</a:t>
            </a:r>
            <a:r>
              <a:rPr lang="en-US" sz="2200" i="1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23</a:t>
            </a:fld>
            <a:endParaRPr lang="da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BE85FF-62F5-BDB3-4AC1-F1F024636E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667" y="3024336"/>
            <a:ext cx="2159451" cy="2708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3AE9F3-F7A8-4FA4-E19B-8F4EB6C406B6}"/>
              </a:ext>
            </a:extLst>
          </p:cNvPr>
          <p:cNvSpPr txBox="1"/>
          <p:nvPr/>
        </p:nvSpPr>
        <p:spPr>
          <a:xfrm>
            <a:off x="9335566" y="6381328"/>
            <a:ext cx="10009111" cy="2667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GB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Image from: </a:t>
            </a:r>
            <a:r>
              <a:rPr lang="en-GB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https://www.britannica.com/</a:t>
            </a:r>
            <a:r>
              <a:rPr lang="en-GB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endParaRPr lang="en-DK" sz="7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  <a:p>
            <a:pPr algn="l">
              <a:spcBef>
                <a:spcPts val="432"/>
              </a:spcBef>
            </a:pPr>
            <a:endParaRPr lang="en-DK" sz="700" dirty="0" err="1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5A27A0-213E-30DD-7926-F26692D94172}"/>
              </a:ext>
            </a:extLst>
          </p:cNvPr>
          <p:cNvSpPr txBox="1"/>
          <p:nvPr/>
        </p:nvSpPr>
        <p:spPr>
          <a:xfrm>
            <a:off x="9671667" y="5880799"/>
            <a:ext cx="196848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US" sz="1000" dirty="0">
                <a:latin typeface="+mn-lt"/>
              </a:rPr>
              <a:t>John Nash, Nobel Laureate (1994</a:t>
            </a:r>
            <a:r>
              <a:rPr lang="en-US" sz="1000" dirty="0"/>
              <a:t>)</a:t>
            </a:r>
            <a:endParaRPr lang="en-US" sz="1000" dirty="0">
              <a:latin typeface="+mn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ABAE09-6946-5FFD-53CE-2153A9F0E481}"/>
              </a:ext>
            </a:extLst>
          </p:cNvPr>
          <p:cNvGrpSpPr/>
          <p:nvPr/>
        </p:nvGrpSpPr>
        <p:grpSpPr>
          <a:xfrm>
            <a:off x="478582" y="3634870"/>
            <a:ext cx="2369121" cy="3013198"/>
            <a:chOff x="478582" y="3634870"/>
            <a:chExt cx="2369121" cy="301319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F553A15-AD3B-EB1E-22B9-A2932B5F0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582" y="4293096"/>
              <a:ext cx="1284494" cy="167508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800C10-3EB2-360E-CCB4-C08305037209}"/>
                </a:ext>
              </a:extLst>
            </p:cNvPr>
            <p:cNvSpPr txBox="1"/>
            <p:nvPr/>
          </p:nvSpPr>
          <p:spPr>
            <a:xfrm>
              <a:off x="478582" y="6381328"/>
              <a:ext cx="1656184" cy="266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en-GB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Image from: </a:t>
              </a:r>
              <a:r>
                <a:rPr lang="en-GB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https://www.wikipedia.org/</a:t>
              </a:r>
              <a:r>
                <a:rPr lang="en-GB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</a:t>
              </a:r>
              <a:endParaRPr lang="en-DK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  <a:p>
              <a:pPr algn="l">
                <a:spcBef>
                  <a:spcPts val="432"/>
                </a:spcBef>
              </a:pPr>
              <a:endParaRPr lang="en-DK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A89774-677D-CD61-9DCE-D764D41ECCEA}"/>
                </a:ext>
              </a:extLst>
            </p:cNvPr>
            <p:cNvSpPr txBox="1"/>
            <p:nvPr/>
          </p:nvSpPr>
          <p:spPr>
            <a:xfrm>
              <a:off x="478582" y="6030317"/>
              <a:ext cx="1104470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en-US" sz="1000" dirty="0">
                  <a:latin typeface="+mn-lt"/>
                </a:rPr>
                <a:t>John von Neumann</a:t>
              </a:r>
            </a:p>
          </p:txBody>
        </p:sp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949A8C2B-3FB7-9948-2EFB-39FB783CF6E5}"/>
                </a:ext>
              </a:extLst>
            </p:cNvPr>
            <p:cNvSpPr/>
            <p:nvPr/>
          </p:nvSpPr>
          <p:spPr bwMode="auto">
            <a:xfrm>
              <a:off x="1758175" y="3634870"/>
              <a:ext cx="1089528" cy="729984"/>
            </a:xfrm>
            <a:prstGeom prst="wedgeEllipseCallou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22736C-5291-04EB-2CF6-7BC47C0DA28A}"/>
                </a:ext>
              </a:extLst>
            </p:cNvPr>
            <p:cNvSpPr txBox="1"/>
            <p:nvPr/>
          </p:nvSpPr>
          <p:spPr>
            <a:xfrm>
              <a:off x="1826879" y="3892140"/>
              <a:ext cx="95212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sz="1400" dirty="0">
                  <a:latin typeface="+mn-lt"/>
                </a:rPr>
                <a:t>That’s trivial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752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Existence in infinite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9312374" cy="4839202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</a:rPr>
              <a:t>Theorem (Glicksberg, 1952)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Let Γ = (N, (A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350" baseline="-25000" dirty="0">
                <a:solidFill>
                  <a:schemeClr val="tx1"/>
                </a:solidFill>
              </a:rPr>
              <a:t>∈N</a:t>
            </a:r>
            <a:r>
              <a:rPr lang="en-US" sz="1900" dirty="0">
                <a:solidFill>
                  <a:schemeClr val="tx1"/>
                </a:solidFill>
              </a:rPr>
              <a:t>, (c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350" baseline="-25000" dirty="0">
                <a:solidFill>
                  <a:schemeClr val="tx1"/>
                </a:solidFill>
              </a:rPr>
              <a:t>∈N</a:t>
            </a:r>
            <a:r>
              <a:rPr lang="en-US" sz="1900" dirty="0">
                <a:solidFill>
                  <a:schemeClr val="tx1"/>
                </a:solidFill>
              </a:rPr>
              <a:t>) be a game with N finite, where every A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 is a non-empty </a:t>
            </a:r>
            <a:r>
              <a:rPr lang="en-US" sz="1900" i="1" dirty="0">
                <a:solidFill>
                  <a:schemeClr val="tx1"/>
                </a:solidFill>
              </a:rPr>
              <a:t>compact</a:t>
            </a:r>
            <a:r>
              <a:rPr lang="en-US" sz="1900" dirty="0">
                <a:solidFill>
                  <a:schemeClr val="tx1"/>
                </a:solidFill>
              </a:rPr>
              <a:t> subset of a metric space, and every cost function c</a:t>
            </a:r>
            <a:r>
              <a:rPr lang="en-US" sz="1450" i="1" baseline="-25000" dirty="0">
                <a:solidFill>
                  <a:schemeClr val="tx1"/>
                </a:solidFill>
              </a:rPr>
              <a:t>i</a:t>
            </a:r>
            <a:r>
              <a:rPr lang="en-US" sz="1900" dirty="0">
                <a:solidFill>
                  <a:schemeClr val="tx1"/>
                </a:solidFill>
              </a:rPr>
              <a:t> : A → ℝ is </a:t>
            </a:r>
            <a:r>
              <a:rPr lang="en-US" sz="1900" i="1" dirty="0">
                <a:solidFill>
                  <a:schemeClr val="tx1"/>
                </a:solidFill>
              </a:rPr>
              <a:t>continuous</a:t>
            </a:r>
            <a:r>
              <a:rPr lang="en-US" sz="1900" dirty="0">
                <a:solidFill>
                  <a:schemeClr val="tx1"/>
                </a:solidFill>
              </a:rPr>
              <a:t>. Then Γ has at least one mixed Nash equilibrium.</a:t>
            </a:r>
          </a:p>
          <a:p>
            <a:pPr marL="0" indent="0" algn="ctr"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2200" i="1" dirty="0"/>
              <a:t>∃ σ* = (σ</a:t>
            </a:r>
            <a:r>
              <a:rPr lang="en-US" sz="1700" i="1" baseline="-25000" dirty="0"/>
              <a:t>1</a:t>
            </a:r>
            <a:r>
              <a:rPr lang="en-US" sz="2200" i="1" dirty="0"/>
              <a:t>*, …, σ</a:t>
            </a:r>
            <a:r>
              <a:rPr lang="en-US" sz="1700" i="1" baseline="-25000" dirty="0"/>
              <a:t>n</a:t>
            </a:r>
            <a:r>
              <a:rPr lang="en-US" sz="2200" i="1" dirty="0"/>
              <a:t>*)  ∈  Δ(A</a:t>
            </a:r>
            <a:r>
              <a:rPr lang="en-US" sz="1700" i="1" baseline="-25000" dirty="0"/>
              <a:t>1</a:t>
            </a:r>
            <a:r>
              <a:rPr lang="en-US" sz="2200" i="1" dirty="0"/>
              <a:t>) × ⋯ × Δ(A</a:t>
            </a:r>
            <a:r>
              <a:rPr lang="en-US" sz="1700" i="1" baseline="-25000" dirty="0"/>
              <a:t>n</a:t>
            </a:r>
            <a:r>
              <a:rPr lang="en-US" sz="2200" i="1" dirty="0"/>
              <a:t>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each σ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 is now a probability measure on A</a:t>
            </a:r>
            <a:r>
              <a:rPr lang="en-US" sz="1150" i="1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rather than a finite list of probabilities.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17460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8E4B-BC28-E7ED-A38A-D7209F9E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686" y="260648"/>
            <a:ext cx="9312374" cy="540000"/>
          </a:xfrm>
        </p:spPr>
        <p:txBody>
          <a:bodyPr/>
          <a:lstStyle/>
          <a:p>
            <a:r>
              <a:rPr lang="en-US" dirty="0"/>
              <a:t>Rock, Paper, Scissors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FED68-C1FC-4D21-38E2-CF5A755B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019" y="1124744"/>
            <a:ext cx="4650000" cy="4839202"/>
          </a:xfrm>
        </p:spPr>
        <p:txBody>
          <a:bodyPr anchor="ctr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 can assume every player uses </a:t>
            </a:r>
            <a:r>
              <a:rPr lang="en-US" sz="1500" i="1" dirty="0">
                <a:solidFill>
                  <a:schemeClr val="tx1"/>
                </a:solidFill>
              </a:rPr>
              <a:t>all three actions</a:t>
            </a:r>
            <a:r>
              <a:rPr lang="en-US" sz="1500" i="1" dirty="0"/>
              <a:t>,</a:t>
            </a:r>
            <a:r>
              <a:rPr lang="en-US" sz="1500" dirty="0">
                <a:solidFill>
                  <a:schemeClr val="tx1"/>
                </a:solidFill>
              </a:rPr>
              <a:t> otherwise the opponent could win for certain, by never playing the one action that beats it.</a:t>
            </a:r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action played is then in the support, so by the </a:t>
            </a:r>
            <a:r>
              <a:rPr lang="en-US" sz="1500" i="1" dirty="0">
                <a:solidFill>
                  <a:schemeClr val="tx1"/>
                </a:solidFill>
              </a:rPr>
              <a:t>Proposition</a:t>
            </a:r>
            <a:r>
              <a:rPr lang="en-US" sz="1500" dirty="0">
                <a:solidFill>
                  <a:schemeClr val="tx1"/>
                </a:solidFill>
              </a:rPr>
              <a:t>, R, P and S must all be best responses</a:t>
            </a:r>
            <a:r>
              <a:rPr lang="en-US" sz="1500" dirty="0"/>
              <a:t>. This means </a:t>
            </a:r>
            <a:r>
              <a:rPr lang="en-US" sz="1500" dirty="0">
                <a:solidFill>
                  <a:schemeClr val="tx1"/>
                </a:solidFill>
              </a:rPr>
              <a:t>player 1's expected cost is the same for each:</a:t>
            </a:r>
          </a:p>
          <a:p>
            <a:pPr marL="342900" indent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700" i="1" dirty="0"/>
              <a:t>c</a:t>
            </a:r>
            <a:r>
              <a:rPr lang="en-US" sz="1300" i="1" baseline="-25000" dirty="0"/>
              <a:t>1</a:t>
            </a:r>
            <a:r>
              <a:rPr lang="en-US" sz="1700" i="1" dirty="0"/>
              <a:t>(R, σ</a:t>
            </a:r>
            <a:r>
              <a:rPr lang="en-US" sz="1300" i="1" baseline="-25000" dirty="0"/>
              <a:t>2</a:t>
            </a:r>
            <a:r>
              <a:rPr lang="en-US" sz="1700" i="1" dirty="0"/>
              <a:t>)  =  c</a:t>
            </a:r>
            <a:r>
              <a:rPr lang="en-US" sz="1300" i="1" baseline="-25000" dirty="0"/>
              <a:t>1</a:t>
            </a:r>
            <a:r>
              <a:rPr lang="en-US" sz="1700" i="1" dirty="0"/>
              <a:t>(P, σ</a:t>
            </a:r>
            <a:r>
              <a:rPr lang="en-US" sz="1300" i="1" baseline="-25000" dirty="0"/>
              <a:t>2</a:t>
            </a:r>
            <a:r>
              <a:rPr lang="en-US" sz="1700" i="1" dirty="0"/>
              <a:t>)  =  c</a:t>
            </a:r>
            <a:r>
              <a:rPr lang="en-US" sz="1300" i="1" baseline="-25000" dirty="0"/>
              <a:t>1</a:t>
            </a:r>
            <a:r>
              <a:rPr lang="en-US" sz="1700" i="1" dirty="0"/>
              <a:t>(S, σ</a:t>
            </a:r>
            <a:r>
              <a:rPr lang="en-US" sz="1300" i="1" baseline="-25000" dirty="0"/>
              <a:t>2</a:t>
            </a:r>
            <a:r>
              <a:rPr lang="en-US" sz="1700" i="1" dirty="0"/>
              <a:t>)</a:t>
            </a:r>
          </a:p>
          <a:p>
            <a:pPr marL="342900" indent="-342900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Writing σ</a:t>
            </a:r>
            <a:r>
              <a:rPr lang="en-US" sz="1150" i="1" baseline="-25000" dirty="0">
                <a:solidFill>
                  <a:schemeClr val="tx1"/>
                </a:solidFill>
              </a:rPr>
              <a:t>2</a:t>
            </a:r>
            <a:r>
              <a:rPr lang="en-US" sz="1500" dirty="0">
                <a:solidFill>
                  <a:schemeClr val="tx1"/>
                </a:solidFill>
              </a:rPr>
              <a:t> = (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R,2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P,2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S,2</a:t>
            </a:r>
            <a:r>
              <a:rPr lang="en-US" sz="1500" dirty="0">
                <a:solidFill>
                  <a:schemeClr val="tx1"/>
                </a:solidFill>
              </a:rPr>
              <a:t>) for player 2's mixing probabilities, this indifference condition becomes:</a:t>
            </a:r>
          </a:p>
          <a:p>
            <a:pPr marL="342900" indent="0"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700" i="1" dirty="0"/>
              <a:t>−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P,2</a:t>
            </a:r>
            <a:r>
              <a:rPr lang="en-US" sz="1700" i="1" dirty="0"/>
              <a:t>  +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S,2</a:t>
            </a:r>
            <a:r>
              <a:rPr lang="en-US" sz="1700" i="1" dirty="0"/>
              <a:t>   = 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R,2</a:t>
            </a:r>
            <a:r>
              <a:rPr lang="en-US" sz="1700" i="1" dirty="0"/>
              <a:t>  −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S,2</a:t>
            </a:r>
          </a:p>
          <a:p>
            <a:pPr marL="342900" indent="0"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R,2</a:t>
            </a:r>
            <a:r>
              <a:rPr lang="en-US" sz="1700" i="1" dirty="0"/>
              <a:t>  −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S,2</a:t>
            </a:r>
            <a:r>
              <a:rPr lang="en-US" sz="1700" i="1" dirty="0"/>
              <a:t>   =   −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R,2</a:t>
            </a:r>
            <a:r>
              <a:rPr lang="en-US" sz="1700" i="1" dirty="0"/>
              <a:t>  +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P,2</a:t>
            </a:r>
          </a:p>
          <a:p>
            <a:pPr marL="342900" indent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R,2</a:t>
            </a:r>
            <a:r>
              <a:rPr lang="en-US" sz="1700" i="1" dirty="0"/>
              <a:t>  +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P,2</a:t>
            </a:r>
            <a:r>
              <a:rPr lang="en-US" sz="1700" i="1" dirty="0"/>
              <a:t>  +  </a:t>
            </a:r>
            <a:r>
              <a:rPr lang="en-US" sz="1700" i="1" dirty="0">
                <a:solidFill>
                  <a:schemeClr val="tx1"/>
                </a:solidFill>
              </a:rPr>
              <a:t>q</a:t>
            </a:r>
            <a:r>
              <a:rPr lang="en-US" sz="1275" i="1" baseline="-25000" dirty="0">
                <a:solidFill>
                  <a:schemeClr val="tx1"/>
                </a:solidFill>
              </a:rPr>
              <a:t>S,2</a:t>
            </a:r>
            <a:r>
              <a:rPr lang="en-US" sz="1700" i="1" dirty="0"/>
              <a:t>   =   1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Solving this system gives 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R,2</a:t>
            </a:r>
            <a:r>
              <a:rPr lang="en-US" sz="1500" dirty="0">
                <a:solidFill>
                  <a:schemeClr val="tx1"/>
                </a:solidFill>
              </a:rPr>
              <a:t> = 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P,2</a:t>
            </a:r>
            <a:r>
              <a:rPr lang="en-US" sz="1500" dirty="0">
                <a:solidFill>
                  <a:schemeClr val="tx1"/>
                </a:solidFill>
              </a:rPr>
              <a:t> = </a:t>
            </a:r>
            <a:r>
              <a:rPr lang="en-US" sz="1500" i="1" dirty="0">
                <a:solidFill>
                  <a:schemeClr val="tx1"/>
                </a:solidFill>
              </a:rPr>
              <a:t>q</a:t>
            </a:r>
            <a:r>
              <a:rPr lang="en-US" sz="1125" i="1" baseline="-25000" dirty="0">
                <a:solidFill>
                  <a:schemeClr val="tx1"/>
                </a:solidFill>
              </a:rPr>
              <a:t>S,2</a:t>
            </a:r>
            <a:r>
              <a:rPr lang="en-US" sz="1500" dirty="0">
                <a:solidFill>
                  <a:schemeClr val="tx1"/>
                </a:solidFill>
              </a:rPr>
              <a:t> = 1/3. The same argument for player 1 shows the unique mixed Nash equilibrium has both players randomizing uniformly over Rock, Paper and Scissors.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2652-C195-10BA-1A3E-34B8A6AD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3CE51-A02A-4B42-82E5-738C7DCDE458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23D93-73CA-5FD8-5D16-67B4FBC6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90B5-9616-8524-EAB4-112793A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25</a:t>
            </a:fld>
            <a:endParaRPr lang="da-DK" dirty="0"/>
          </a:p>
        </p:txBody>
      </p:sp>
      <p:graphicFrame>
        <p:nvGraphicFramePr>
          <p:cNvPr id="80" name="Prisoners Dilemma Table"/>
          <p:cNvGraphicFramePr>
            <a:graphicFrameLocks noGrp="1"/>
          </p:cNvGraphicFramePr>
          <p:nvPr/>
        </p:nvGraphicFramePr>
        <p:xfrm>
          <a:off x="6361393" y="1124744"/>
          <a:ext cx="4390000" cy="18700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-1, 1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1,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0, 0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85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CE48-F1C3-AE15-3C6E-A297DA40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Nash equilibrium, fact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E20DF-9520-87D4-BD54-EE115921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game fulfills the condition of either one of the theorems, it has at least one mixed Nash equilibrium</a:t>
            </a:r>
          </a:p>
          <a:p>
            <a:r>
              <a:rPr lang="en-US" dirty="0"/>
              <a:t>To find it is PPAD hard (not in polynomial time)</a:t>
            </a:r>
          </a:p>
          <a:p>
            <a:r>
              <a:rPr lang="en-US" dirty="0"/>
              <a:t>To check if there are two is NP-complete</a:t>
            </a:r>
          </a:p>
          <a:p>
            <a:r>
              <a:rPr lang="en-US" dirty="0"/>
              <a:t>The set of mixed Nash equilibria is not arbitrary, but ugly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5513-D61C-38DE-2178-18442791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800B-FB61-4825-A914-A6516E1E9B64}" type="datetime1">
              <a:rPr lang="da-DK" smtClean="0"/>
              <a:t>11-09-2026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9D409-D576-C23F-4E9F-E65403EF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Game Theory in Electricity Markets - Week 2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D9CE-89C4-DC73-FB6F-C23AE1C2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26</a:t>
            </a:fld>
            <a:endParaRPr lang="da-DK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310E34-D3F0-AE62-7C7D-F7A39D5C352F}"/>
              </a:ext>
            </a:extLst>
          </p:cNvPr>
          <p:cNvGrpSpPr/>
          <p:nvPr/>
        </p:nvGrpSpPr>
        <p:grpSpPr>
          <a:xfrm>
            <a:off x="7751390" y="2444347"/>
            <a:ext cx="4026373" cy="3790791"/>
            <a:chOff x="5699623" y="1865624"/>
            <a:chExt cx="4769110" cy="449007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4F0515-35BF-76EE-C24B-B8E1E5AA4C9F}"/>
                </a:ext>
              </a:extLst>
            </p:cNvPr>
            <p:cNvSpPr/>
            <p:nvPr/>
          </p:nvSpPr>
          <p:spPr bwMode="auto">
            <a:xfrm>
              <a:off x="5699623" y="1865624"/>
              <a:ext cx="4769110" cy="449007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72D2D07-378E-6657-AF93-5F1FE353B91A}"/>
                </a:ext>
              </a:extLst>
            </p:cNvPr>
            <p:cNvSpPr/>
            <p:nvPr/>
          </p:nvSpPr>
          <p:spPr bwMode="auto">
            <a:xfrm>
              <a:off x="6527914" y="2809198"/>
              <a:ext cx="3569045" cy="317128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C5AE22-D635-2090-AE6D-9217A6854572}"/>
                </a:ext>
              </a:extLst>
            </p:cNvPr>
            <p:cNvSpPr/>
            <p:nvPr/>
          </p:nvSpPr>
          <p:spPr bwMode="auto">
            <a:xfrm>
              <a:off x="7845129" y="3699288"/>
              <a:ext cx="1975733" cy="183631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ea typeface="ＭＳ Ｐゴシック" pitchFamily="-80" charset="-128"/>
                </a:rPr>
                <a:t>dominant-strategy equilibrium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89FF76-7A66-94B5-3449-28667193CF87}"/>
                </a:ext>
              </a:extLst>
            </p:cNvPr>
            <p:cNvSpPr txBox="1"/>
            <p:nvPr/>
          </p:nvSpPr>
          <p:spPr>
            <a:xfrm>
              <a:off x="7081763" y="3064902"/>
              <a:ext cx="1884156" cy="660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dirty="0"/>
                <a:t>Nash </a:t>
              </a:r>
            </a:p>
            <a:p>
              <a:pPr algn="ctr">
                <a:spcBef>
                  <a:spcPts val="432"/>
                </a:spcBef>
              </a:pPr>
              <a:r>
                <a:rPr lang="en-US" dirty="0"/>
                <a:t>Equilibria</a:t>
              </a: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637D9D-669A-F47D-8E98-7CB3C20A5B20}"/>
                </a:ext>
              </a:extLst>
            </p:cNvPr>
            <p:cNvSpPr txBox="1"/>
            <p:nvPr/>
          </p:nvSpPr>
          <p:spPr>
            <a:xfrm>
              <a:off x="6861023" y="2079034"/>
              <a:ext cx="2238162" cy="351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solidFill>
                    <a:schemeClr val="tx1"/>
                  </a:solidFill>
                  <a:ea typeface="ＭＳ Ｐゴシック" pitchFamily="-80" charset="-128"/>
                </a:rPr>
                <a:t>Mixed NE</a:t>
              </a:r>
              <a:endParaRPr kumimoji="0" lang="en-US" sz="1600" b="0" i="0" u="none" strike="noStrike" cap="none" normalizeH="0" baseline="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292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D78B-30E8-BE48-D8DF-E2EC76D6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9C857-684A-B0FC-943B-370AF8C7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4BE6F-A03A-4BAD-B3B7-D83A0905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33757-CFF8-4B87-96D0-670CCF06BE4E}" type="datetime1">
              <a:rPr lang="da-DK" smtClean="0"/>
              <a:t>11-09-2026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C161D-4D93-5CD9-7ECD-8946D6DC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Game Theory in Electricity Markets - Week 1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10806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0393236694","enableDocumentContentUpdater":true,"version":"1.2"}]]></TemplafySlideTemplate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9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12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13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F6007D7CF16C40B69BF019D03F7C28" ma:contentTypeVersion="3" ma:contentTypeDescription="Create a new document." ma:contentTypeScope="" ma:versionID="34f4c2f49eb3d6d60a86785797f3a7f6">
  <xsd:schema xmlns:xsd="http://www.w3.org/2001/XMLSchema" xmlns:xs="http://www.w3.org/2001/XMLSchema" xmlns:p="http://schemas.microsoft.com/office/2006/metadata/properties" xmlns:ns2="45ca789d-f10b-42cb-a0c4-5a5c9c074fd5" targetNamespace="http://schemas.microsoft.com/office/2006/metadata/properties" ma:root="true" ma:fieldsID="8a4b7de105e7e203facdcbd34edff5c6" ns2:_="">
    <xsd:import namespace="45ca789d-f10b-42cb-a0c4-5a5c9c074f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ca789d-f10b-42cb-a0c4-5a5c9c074f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7A73E0-5E80-4908-B0DB-9E20244FD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D505698-4786-CC44-9094-099CC766D7F6}">
  <ds:schemaRefs/>
</ds:datastoreItem>
</file>

<file path=customXml/itemProps4.xml><?xml version="1.0" encoding="utf-8"?>
<ds:datastoreItem xmlns:ds="http://schemas.openxmlformats.org/officeDocument/2006/customXml" ds:itemID="{5AED4258-7E08-455D-92DC-21F168D05159}">
  <ds:schemaRefs/>
</ds:datastoreItem>
</file>

<file path=customXml/itemProps5.xml><?xml version="1.0" encoding="utf-8"?>
<ds:datastoreItem xmlns:ds="http://schemas.openxmlformats.org/officeDocument/2006/customXml" ds:itemID="{4635EB71-8743-4654-B77B-3BBE0CD14AF2}">
  <ds:schemaRefs/>
</ds:datastoreItem>
</file>

<file path=customXml/itemProps6.xml><?xml version="1.0" encoding="utf-8"?>
<ds:datastoreItem xmlns:ds="http://schemas.openxmlformats.org/officeDocument/2006/customXml" ds:itemID="{8B2ED4B4-BD9A-489A-9D9F-A2BA81FDD4DB}">
  <ds:schemaRefs/>
</ds:datastoreItem>
</file>

<file path=customXml/itemProps7.xml><?xml version="1.0" encoding="utf-8"?>
<ds:datastoreItem xmlns:ds="http://schemas.openxmlformats.org/officeDocument/2006/customXml" ds:itemID="{A25A155D-B383-6A4F-B91D-EEBF1BDDEEDC}">
  <ds:schemaRefs/>
</ds:datastoreItem>
</file>

<file path=customXml/itemProps8.xml><?xml version="1.0" encoding="utf-8"?>
<ds:datastoreItem xmlns:ds="http://schemas.openxmlformats.org/officeDocument/2006/customXml" ds:itemID="{E6D0D7FB-4171-401B-9F0C-6B8465CA0AFA}">
  <ds:schemaRefs/>
</ds:datastoreItem>
</file>

<file path=customXml/itemProps9.xml><?xml version="1.0" encoding="utf-8"?>
<ds:datastoreItem xmlns:ds="http://schemas.openxmlformats.org/officeDocument/2006/customXml" ds:itemID="{1334258C-C3E7-4029-A615-C886A240FB15}">
  <ds:schemaRefs/>
</ds:datastoreItem>
</file>

<file path=customXml/itemProps10.xml><?xml version="1.0" encoding="utf-8"?>
<ds:datastoreItem xmlns:ds="http://schemas.openxmlformats.org/officeDocument/2006/customXml" ds:itemID="{F9B98FFF-CBAF-4B76-A5BD-2CDF8E12ADBF}">
  <ds:schemaRefs/>
</ds:datastoreItem>
</file>

<file path=customXml/itemProps11.xml><?xml version="1.0" encoding="utf-8"?>
<ds:datastoreItem xmlns:ds="http://schemas.openxmlformats.org/officeDocument/2006/customXml" ds:itemID="{74386201-5381-46F5-848B-204F3DA42F1B}">
  <ds:schemaRefs/>
</ds:datastoreItem>
</file>

<file path=customXml/itemProps12.xml><?xml version="1.0" encoding="utf-8"?>
<ds:datastoreItem xmlns:ds="http://schemas.openxmlformats.org/officeDocument/2006/customXml" ds:itemID="{399CDB69-9F8D-4AA4-8524-07264714A2F4}">
  <ds:schemaRefs/>
</ds:datastoreItem>
</file>

<file path=customXml/itemProps13.xml><?xml version="1.0" encoding="utf-8"?>
<ds:datastoreItem xmlns:ds="http://schemas.openxmlformats.org/officeDocument/2006/customXml" ds:itemID="{43763224-B85A-4B53-A86A-261D26A71C30}">
  <ds:schemaRefs/>
</ds:datastoreItem>
</file>

<file path=customXml/itemProps14.xml><?xml version="1.0" encoding="utf-8"?>
<ds:datastoreItem xmlns:ds="http://schemas.openxmlformats.org/officeDocument/2006/customXml" ds:itemID="{0A89B24B-2E18-4A53-A25B-B93B3DB91DAD}">
  <ds:schemaRefs/>
</ds:datastoreItem>
</file>

<file path=customXml/itemProps15.xml><?xml version="1.0" encoding="utf-8"?>
<ds:datastoreItem xmlns:ds="http://schemas.openxmlformats.org/officeDocument/2006/customXml" ds:itemID="{74BE3747-0051-4B17-996F-604424CE95E3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20711</TotalTime>
  <Words>3206</Words>
  <Application>Microsoft Office PowerPoint</Application>
  <PresentationFormat>Custom</PresentationFormat>
  <Paragraphs>407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ＭＳ Ｐゴシック</vt:lpstr>
      <vt:lpstr>Arial</vt:lpstr>
      <vt:lpstr>Courier New</vt:lpstr>
      <vt:lpstr>Verdana</vt:lpstr>
      <vt:lpstr>Blank</vt:lpstr>
      <vt:lpstr>Game Theory in Electricity Markets</vt:lpstr>
      <vt:lpstr>Thank you, Marcel!</vt:lpstr>
      <vt:lpstr>Strategic games in normal form</vt:lpstr>
      <vt:lpstr>The market clearing game</vt:lpstr>
      <vt:lpstr>Dominant and dominated strategies</vt:lpstr>
      <vt:lpstr>Checking for dominated actions</vt:lpstr>
      <vt:lpstr>Dominant strategy equilibrium</vt:lpstr>
      <vt:lpstr>Elimination of strictly dominated actions</vt:lpstr>
      <vt:lpstr>Hawk and Dove</vt:lpstr>
      <vt:lpstr>Imagine a drumroll and Gregorian chants.</vt:lpstr>
      <vt:lpstr>(pure) Nash equilibrium</vt:lpstr>
      <vt:lpstr>Nash equilibrium in action</vt:lpstr>
      <vt:lpstr>Nash equilibrium in action</vt:lpstr>
      <vt:lpstr>Best response</vt:lpstr>
      <vt:lpstr>Best response algorithm</vt:lpstr>
      <vt:lpstr>Best response algorithm</vt:lpstr>
      <vt:lpstr>PowerPoint Presentation</vt:lpstr>
      <vt:lpstr>ε-Nash equilibrium</vt:lpstr>
      <vt:lpstr>This helps finding a Nash equilibrium. It does not help if there is none.</vt:lpstr>
      <vt:lpstr>Mixed strategies</vt:lpstr>
      <vt:lpstr>Mixed Nash equilibrium</vt:lpstr>
      <vt:lpstr>Support and best responses</vt:lpstr>
      <vt:lpstr>More drumroll, more Gregorian chants!</vt:lpstr>
      <vt:lpstr>Existence of Nash equilibrium</vt:lpstr>
      <vt:lpstr>Existence in infinite games</vt:lpstr>
      <vt:lpstr>Rock, Paper, Scissors</vt:lpstr>
      <vt:lpstr>Mixed Nash equilibrium, fact 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Linus Strauch</dc:creator>
  <cp:lastModifiedBy>Linus Strauch</cp:lastModifiedBy>
  <cp:revision>188</cp:revision>
  <dcterms:created xsi:type="dcterms:W3CDTF">2025-01-10T13:07:19Z</dcterms:created>
  <dcterms:modified xsi:type="dcterms:W3CDTF">2026-09-11T11:04:45Z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0x010100F8F6007D7CF16C40B69BF019D03F7C28</vt:lpwstr>
  </property>
</Properties>
</file>