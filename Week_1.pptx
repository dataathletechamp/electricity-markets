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p:sldMasterIdLst>
    <p:sldMasterId id="2147483662" r:id="rId18"/>
  </p:sldMasterIdLst>
  <p:notesMasterIdLst>
    <p:notesMasterId r:id="rId49"/>
  </p:notesMasterIdLst>
  <p:handoutMasterIdLst>
    <p:handoutMasterId r:id="rId50"/>
  </p:handoutMasterIdLst>
  <p:sldIdLst>
    <p:sldId id="260" r:id="rId19"/>
    <p:sldId id="299" r:id="rId20"/>
    <p:sldId id="301" r:id="rId21"/>
    <p:sldId id="261" r:id="rId22"/>
    <p:sldId id="300" r:id="rId23"/>
    <p:sldId id="292" r:id="rId24"/>
    <p:sldId id="277" r:id="rId25"/>
    <p:sldId id="279" r:id="rId26"/>
    <p:sldId id="280" r:id="rId27"/>
    <p:sldId id="302" r:id="rId28"/>
    <p:sldId id="305" r:id="rId29"/>
    <p:sldId id="304" r:id="rId30"/>
    <p:sldId id="276" r:id="rId31"/>
    <p:sldId id="281" r:id="rId32"/>
    <p:sldId id="306" r:id="rId33"/>
    <p:sldId id="297" r:id="rId34"/>
    <p:sldId id="307" r:id="rId35"/>
    <p:sldId id="309" r:id="rId36"/>
    <p:sldId id="308" r:id="rId37"/>
    <p:sldId id="312" r:id="rId38"/>
    <p:sldId id="321" r:id="rId39"/>
    <p:sldId id="310" r:id="rId40"/>
    <p:sldId id="314" r:id="rId41"/>
    <p:sldId id="315" r:id="rId42"/>
    <p:sldId id="316" r:id="rId43"/>
    <p:sldId id="317" r:id="rId44"/>
    <p:sldId id="318" r:id="rId45"/>
    <p:sldId id="319" r:id="rId46"/>
    <p:sldId id="320" r:id="rId47"/>
    <p:sldId id="272" r:id="rId48"/>
  </p:sldIdLst>
  <p:sldSz cx="12190413" cy="6858000"/>
  <p:notesSz cx="6858000" cy="9144000"/>
  <p:custDataLst>
    <p:tags r:id="rId51"/>
  </p:custDataLst>
  <p:defaultTextStyle>
    <a:defPPr>
      <a:defRPr lang="da-DK"/>
    </a:defPPr>
    <a:lvl1pPr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1pPr>
    <a:lvl2pPr marL="4572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2pPr>
    <a:lvl3pPr marL="9144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3pPr>
    <a:lvl4pPr marL="13716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4pPr>
    <a:lvl5pPr marL="18288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5pPr>
    <a:lvl6pPr marL="2286000" algn="l" defTabSz="914400" rtl="0" eaLnBrk="1" latinLnBrk="0" hangingPunct="1">
      <a:defRPr sz="1600" kern="1200">
        <a:solidFill>
          <a:schemeClr val="tx1"/>
        </a:solidFill>
        <a:latin typeface="Verdana" pitchFamily="34" charset="0"/>
        <a:ea typeface="ＭＳ Ｐゴシック" pitchFamily="-80" charset="-128"/>
        <a:cs typeface="+mn-cs"/>
      </a:defRPr>
    </a:lvl6pPr>
    <a:lvl7pPr marL="2743200" algn="l" defTabSz="914400" rtl="0" eaLnBrk="1" latinLnBrk="0" hangingPunct="1">
      <a:defRPr sz="1600" kern="1200">
        <a:solidFill>
          <a:schemeClr val="tx1"/>
        </a:solidFill>
        <a:latin typeface="Verdana" pitchFamily="34" charset="0"/>
        <a:ea typeface="ＭＳ Ｐゴシック" pitchFamily="-80" charset="-128"/>
        <a:cs typeface="+mn-cs"/>
      </a:defRPr>
    </a:lvl7pPr>
    <a:lvl8pPr marL="3200400" algn="l" defTabSz="914400" rtl="0" eaLnBrk="1" latinLnBrk="0" hangingPunct="1">
      <a:defRPr sz="1600" kern="1200">
        <a:solidFill>
          <a:schemeClr val="tx1"/>
        </a:solidFill>
        <a:latin typeface="Verdana" pitchFamily="34" charset="0"/>
        <a:ea typeface="ＭＳ Ｐゴシック" pitchFamily="-80" charset="-128"/>
        <a:cs typeface="+mn-cs"/>
      </a:defRPr>
    </a:lvl8pPr>
    <a:lvl9pPr marL="3657600" algn="l" defTabSz="914400" rtl="0" eaLnBrk="1" latinLnBrk="0" hangingPunct="1">
      <a:defRPr sz="1600" kern="1200">
        <a:solidFill>
          <a:schemeClr val="tx1"/>
        </a:solidFill>
        <a:latin typeface="Verdana" pitchFamily="34" charset="0"/>
        <a:ea typeface="ＭＳ Ｐゴシック" pitchFamily="-80"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7634"/>
    <a:srgbClr val="990000"/>
    <a:srgbClr val="171748"/>
    <a:srgbClr val="FFFFFF"/>
    <a:srgbClr val="FFCC00"/>
    <a:srgbClr val="FCBEC5"/>
    <a:srgbClr val="B2D5FF"/>
    <a:srgbClr val="21D063"/>
    <a:srgbClr val="82D096"/>
    <a:srgbClr val="FDD8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55" autoAdjust="0"/>
    <p:restoredTop sz="96102" autoAdjust="0"/>
  </p:normalViewPr>
  <p:slideViewPr>
    <p:cSldViewPr showGuides="1">
      <p:cViewPr varScale="1">
        <p:scale>
          <a:sx n="153" d="100"/>
          <a:sy n="153" d="100"/>
        </p:scale>
        <p:origin x="774" y="138"/>
      </p:cViewPr>
      <p:guideLst/>
    </p:cSldViewPr>
  </p:slideViewPr>
  <p:notesTextViewPr>
    <p:cViewPr>
      <p:scale>
        <a:sx n="100" d="100"/>
        <a:sy n="100" d="100"/>
      </p:scale>
      <p:origin x="0" y="0"/>
    </p:cViewPr>
  </p:notesTextViewPr>
  <p:notesViewPr>
    <p:cSldViewPr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slideMaster" Target="slideMasters/slideMaster1.xml"/><Relationship Id="rId26" Type="http://schemas.openxmlformats.org/officeDocument/2006/relationships/slide" Target="slides/slide8.xml"/><Relationship Id="rId39" Type="http://schemas.openxmlformats.org/officeDocument/2006/relationships/slide" Target="slides/slide21.xml"/><Relationship Id="rId21" Type="http://schemas.openxmlformats.org/officeDocument/2006/relationships/slide" Target="slides/slide3.xml"/><Relationship Id="rId34" Type="http://schemas.openxmlformats.org/officeDocument/2006/relationships/slide" Target="slides/slide16.xml"/><Relationship Id="rId42" Type="http://schemas.openxmlformats.org/officeDocument/2006/relationships/slide" Target="slides/slide24.xml"/><Relationship Id="rId47" Type="http://schemas.openxmlformats.org/officeDocument/2006/relationships/slide" Target="slides/slide29.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 Target="slides/slide11.xml"/><Relationship Id="rId11" Type="http://schemas.openxmlformats.org/officeDocument/2006/relationships/customXml" Target="../customXml/item11.xml"/><Relationship Id="rId24" Type="http://schemas.openxmlformats.org/officeDocument/2006/relationships/slide" Target="slides/slide6.xml"/><Relationship Id="rId32" Type="http://schemas.openxmlformats.org/officeDocument/2006/relationships/slide" Target="slides/slide14.xml"/><Relationship Id="rId37" Type="http://schemas.openxmlformats.org/officeDocument/2006/relationships/slide" Target="slides/slide19.xml"/><Relationship Id="rId40" Type="http://schemas.openxmlformats.org/officeDocument/2006/relationships/slide" Target="slides/slide22.xml"/><Relationship Id="rId45" Type="http://schemas.openxmlformats.org/officeDocument/2006/relationships/slide" Target="slides/slide27.xml"/><Relationship Id="rId53" Type="http://schemas.openxmlformats.org/officeDocument/2006/relationships/viewProps" Target="viewProps.xml"/><Relationship Id="rId5" Type="http://schemas.openxmlformats.org/officeDocument/2006/relationships/customXml" Target="../customXml/item5.xml"/><Relationship Id="rId10" Type="http://schemas.openxmlformats.org/officeDocument/2006/relationships/customXml" Target="../customXml/item10.xml"/><Relationship Id="rId19" Type="http://schemas.openxmlformats.org/officeDocument/2006/relationships/slide" Target="slides/slide1.xml"/><Relationship Id="rId31" Type="http://schemas.openxmlformats.org/officeDocument/2006/relationships/slide" Target="slides/slide13.xml"/><Relationship Id="rId44" Type="http://schemas.openxmlformats.org/officeDocument/2006/relationships/slide" Target="slides/slide26.xml"/><Relationship Id="rId52"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slide" Target="slides/slide17.xml"/><Relationship Id="rId43" Type="http://schemas.openxmlformats.org/officeDocument/2006/relationships/slide" Target="slides/slide25.xml"/><Relationship Id="rId48" Type="http://schemas.openxmlformats.org/officeDocument/2006/relationships/slide" Target="slides/slide30.xml"/><Relationship Id="rId8" Type="http://schemas.openxmlformats.org/officeDocument/2006/relationships/customXml" Target="../customXml/item8.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 Target="slides/slide7.xml"/><Relationship Id="rId33" Type="http://schemas.openxmlformats.org/officeDocument/2006/relationships/slide" Target="slides/slide15.xml"/><Relationship Id="rId38" Type="http://schemas.openxmlformats.org/officeDocument/2006/relationships/slide" Target="slides/slide20.xml"/><Relationship Id="rId46" Type="http://schemas.openxmlformats.org/officeDocument/2006/relationships/slide" Target="slides/slide28.xml"/><Relationship Id="rId20" Type="http://schemas.openxmlformats.org/officeDocument/2006/relationships/slide" Target="slides/slide2.xml"/><Relationship Id="rId41" Type="http://schemas.openxmlformats.org/officeDocument/2006/relationships/slide" Target="slides/slide23.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slide" Target="slides/slide18.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spcBef>
                <a:spcPct val="0"/>
              </a:spcBef>
              <a:defRPr sz="1200"/>
            </a:lvl1pPr>
          </a:lstStyle>
          <a:p>
            <a:endParaRPr lang="da-DK" dirty="0">
              <a:latin typeface="Arial" panose="020B0604020202020204" pitchFamily="34" charset="0"/>
            </a:endParaRPr>
          </a:p>
        </p:txBody>
      </p:sp>
      <p:sp>
        <p:nvSpPr>
          <p:cNvPr id="6349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lvl1pPr>
          </a:lstStyle>
          <a:p>
            <a:endParaRPr lang="da-DK" dirty="0">
              <a:latin typeface="Arial" panose="020B0604020202020204" pitchFamily="34" charset="0"/>
            </a:endParaRPr>
          </a:p>
        </p:txBody>
      </p:sp>
      <p:sp>
        <p:nvSpPr>
          <p:cNvPr id="6349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spcBef>
                <a:spcPct val="0"/>
              </a:spcBef>
              <a:defRPr sz="1200"/>
            </a:lvl1pPr>
          </a:lstStyle>
          <a:p>
            <a:endParaRPr lang="da-DK" dirty="0">
              <a:latin typeface="Arial" panose="020B0604020202020204" pitchFamily="34" charset="0"/>
            </a:endParaRPr>
          </a:p>
        </p:txBody>
      </p:sp>
      <p:sp>
        <p:nvSpPr>
          <p:cNvPr id="6349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spcBef>
                <a:spcPct val="0"/>
              </a:spcBef>
              <a:defRPr sz="1200"/>
            </a:lvl1pPr>
          </a:lstStyle>
          <a:p>
            <a:fld id="{491ECFBD-4A0D-4BCF-98A8-E205F44719BF}" type="slidenum">
              <a:rPr lang="da-DK" smtClean="0">
                <a:latin typeface="Arial" panose="020B0604020202020204" pitchFamily="34" charset="0"/>
              </a:rPr>
              <a:pPr/>
              <a:t>‹#›</a:t>
            </a:fld>
            <a:endParaRPr lang="da-DK" dirty="0">
              <a:latin typeface="Arial" panose="020B0604020202020204" pitchFamily="34" charset="0"/>
            </a:endParaRPr>
          </a:p>
        </p:txBody>
      </p:sp>
    </p:spTree>
    <p:extLst>
      <p:ext uri="{BB962C8B-B14F-4D97-AF65-F5344CB8AC3E}">
        <p14:creationId xmlns:p14="http://schemas.microsoft.com/office/powerpoint/2010/main" val="13728099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spcBef>
                <a:spcPct val="0"/>
              </a:spcBef>
              <a:defRPr sz="1200">
                <a:latin typeface="Arial" panose="020B0604020202020204" pitchFamily="34" charset="0"/>
              </a:defRPr>
            </a:lvl1pPr>
          </a:lstStyle>
          <a:p>
            <a:endParaRPr lang="da-DK" dirty="0"/>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latin typeface="Arial" panose="020B0604020202020204" pitchFamily="34" charset="0"/>
              </a:defRPr>
            </a:lvl1pPr>
          </a:lstStyle>
          <a:p>
            <a:endParaRPr lang="da-DK" dirty="0"/>
          </a:p>
        </p:txBody>
      </p:sp>
      <p:sp>
        <p:nvSpPr>
          <p:cNvPr id="3076"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a-DK" dirty="0" err="1"/>
              <a:t>Click</a:t>
            </a:r>
            <a:r>
              <a:rPr lang="da-DK" dirty="0"/>
              <a:t> to </a:t>
            </a:r>
            <a:r>
              <a:rPr lang="da-DK" dirty="0" err="1"/>
              <a:t>edit</a:t>
            </a:r>
            <a:r>
              <a:rPr lang="da-DK" dirty="0"/>
              <a:t> Master </a:t>
            </a:r>
            <a:r>
              <a:rPr lang="da-DK" dirty="0" err="1"/>
              <a:t>text</a:t>
            </a:r>
            <a:r>
              <a:rPr lang="da-DK" dirty="0"/>
              <a:t> </a:t>
            </a:r>
            <a:r>
              <a:rPr lang="da-DK" dirty="0" err="1"/>
              <a:t>styles</a:t>
            </a:r>
            <a:endParaRPr lang="da-DK" dirty="0"/>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0" hangingPunct="0">
              <a:spcBef>
                <a:spcPct val="0"/>
              </a:spcBef>
              <a:defRPr sz="1200">
                <a:latin typeface="Arial" panose="020B0604020202020204" pitchFamily="34" charset="0"/>
              </a:defRPr>
            </a:lvl1pPr>
          </a:lstStyle>
          <a:p>
            <a:endParaRPr lang="da-DK" dirty="0"/>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0" hangingPunct="0">
              <a:spcBef>
                <a:spcPct val="0"/>
              </a:spcBef>
              <a:defRPr sz="1200">
                <a:latin typeface="Arial" panose="020B0604020202020204" pitchFamily="34" charset="0"/>
              </a:defRPr>
            </a:lvl1pPr>
          </a:lstStyle>
          <a:p>
            <a:fld id="{C734BB09-483B-4C4B-A5A4-C02A22055B01}" type="slidenum">
              <a:rPr lang="da-DK" smtClean="0"/>
              <a:pPr/>
              <a:t>‹#›</a:t>
            </a:fld>
            <a:endParaRPr lang="da-DK" dirty="0"/>
          </a:p>
        </p:txBody>
      </p:sp>
    </p:spTree>
    <p:extLst>
      <p:ext uri="{BB962C8B-B14F-4D97-AF65-F5344CB8AC3E}">
        <p14:creationId xmlns:p14="http://schemas.microsoft.com/office/powerpoint/2010/main" val="127783607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that today is warm up</a:t>
            </a:r>
          </a:p>
          <a:p>
            <a:endParaRPr lang="en-US" dirty="0"/>
          </a:p>
          <a:p>
            <a:r>
              <a:rPr lang="en-US" dirty="0"/>
              <a:t>They can always ask questions</a:t>
            </a:r>
          </a:p>
          <a:p>
            <a:endParaRPr lang="en-US" dirty="0"/>
          </a:p>
          <a:p>
            <a:r>
              <a:rPr lang="en-US" dirty="0"/>
              <a:t>My first lecture, therefore always feedback please</a:t>
            </a:r>
          </a:p>
        </p:txBody>
      </p:sp>
      <p:sp>
        <p:nvSpPr>
          <p:cNvPr id="4" name="Slide Number Placeholder 3"/>
          <p:cNvSpPr>
            <a:spLocks noGrp="1"/>
          </p:cNvSpPr>
          <p:nvPr>
            <p:ph type="sldNum" sz="quarter" idx="5"/>
          </p:nvPr>
        </p:nvSpPr>
        <p:spPr/>
        <p:txBody>
          <a:bodyPr/>
          <a:lstStyle/>
          <a:p>
            <a:fld id="{C734BB09-483B-4C4B-A5A4-C02A22055B01}" type="slidenum">
              <a:rPr lang="da-DK" smtClean="0"/>
              <a:pPr/>
              <a:t>0</a:t>
            </a:fld>
            <a:endParaRPr lang="da-DK" dirty="0"/>
          </a:p>
        </p:txBody>
      </p:sp>
    </p:spTree>
    <p:extLst>
      <p:ext uri="{BB962C8B-B14F-4D97-AF65-F5344CB8AC3E}">
        <p14:creationId xmlns:p14="http://schemas.microsoft.com/office/powerpoint/2010/main" val="526531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with: have talked about electricity markets, now lets see how they really work</a:t>
            </a:r>
          </a:p>
        </p:txBody>
      </p:sp>
      <p:sp>
        <p:nvSpPr>
          <p:cNvPr id="4" name="Slide Number Placeholder 3"/>
          <p:cNvSpPr>
            <a:spLocks noGrp="1"/>
          </p:cNvSpPr>
          <p:nvPr>
            <p:ph type="sldNum" sz="quarter" idx="5"/>
          </p:nvPr>
        </p:nvSpPr>
        <p:spPr/>
        <p:txBody>
          <a:bodyPr/>
          <a:lstStyle/>
          <a:p>
            <a:fld id="{C734BB09-483B-4C4B-A5A4-C02A22055B01}" type="slidenum">
              <a:rPr lang="da-DK" smtClean="0"/>
              <a:pPr/>
              <a:t>1</a:t>
            </a:fld>
            <a:endParaRPr lang="da-DK" dirty="0"/>
          </a:p>
        </p:txBody>
      </p:sp>
    </p:spTree>
    <p:extLst>
      <p:ext uri="{BB962C8B-B14F-4D97-AF65-F5344CB8AC3E}">
        <p14:creationId xmlns:p14="http://schemas.microsoft.com/office/powerpoint/2010/main" val="4171326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051F7-1472-316E-8446-20E812BAF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52C1D-4BC0-39FE-7E06-ECE9F61F1C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9C83B5-04E5-D9FD-E3FE-B9CE06AC1DE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ADCEFE6-AA96-2349-9DAB-9F82EBF5237C}"/>
              </a:ext>
            </a:extLst>
          </p:cNvPr>
          <p:cNvSpPr>
            <a:spLocks noGrp="1"/>
          </p:cNvSpPr>
          <p:nvPr>
            <p:ph type="sldNum" sz="quarter" idx="10"/>
          </p:nvPr>
        </p:nvSpPr>
        <p:spPr/>
        <p:txBody>
          <a:bodyPr/>
          <a:lstStyle/>
          <a:p>
            <a:fld id="{C734BB09-483B-4C4B-A5A4-C02A22055B01}" type="slidenum">
              <a:rPr lang="da-DK" smtClean="0"/>
              <a:pPr/>
              <a:t>29</a:t>
            </a:fld>
            <a:endParaRPr lang="da-DK" dirty="0"/>
          </a:p>
        </p:txBody>
      </p:sp>
    </p:spTree>
    <p:extLst>
      <p:ext uri="{BB962C8B-B14F-4D97-AF65-F5344CB8AC3E}">
        <p14:creationId xmlns:p14="http://schemas.microsoft.com/office/powerpoint/2010/main" val="9980905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A">
    <p:bg>
      <p:bgPr>
        <a:solidFill>
          <a:schemeClr val="accent1"/>
        </a:solidFill>
        <a:effectLst/>
      </p:bgPr>
    </p:bg>
    <p:spTree>
      <p:nvGrpSpPr>
        <p:cNvPr id="1" name=""/>
        <p:cNvGrpSpPr/>
        <p:nvPr/>
      </p:nvGrpSpPr>
      <p:grpSpPr>
        <a:xfrm>
          <a:off x="0" y="0"/>
          <a:ext cx="0" cy="0"/>
          <a:chOff x="0" y="0"/>
          <a:chExt cx="0" cy="0"/>
        </a:xfrm>
      </p:grpSpPr>
      <p:sp>
        <p:nvSpPr>
          <p:cNvPr id="2" name="Background"/>
          <p:cNvSpPr/>
          <p:nvPr userDrawn="1"/>
        </p:nvSpPr>
        <p:spPr bwMode="auto">
          <a:xfrm>
            <a:off x="0" y="0"/>
            <a:ext cx="0" cy="0"/>
          </a:xfrm>
          <a:prstGeom prst="rect">
            <a:avLst/>
          </a:prstGeom>
          <a:solidFill>
            <a:srgbClr val="990000"/>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11" name="Logo white">
            <a:extLst>
              <a:ext uri="{FF2B5EF4-FFF2-40B4-BE49-F238E27FC236}">
                <a16:creationId xmlns:a16="http://schemas.microsoft.com/office/drawing/2014/main" id="{275A6477-FE3A-4D40-B1FE-E46C11E344A5}"/>
              </a:ext>
            </a:extLst>
          </p:cNvPr>
          <p:cNvSpPr>
            <a:spLocks noChangeAspect="1"/>
          </p:cNvSpPr>
          <p:nvPr userDrawn="1">
            <p:custDataLst>
              <p:tags r:id="rId1"/>
            </p:custDataLst>
          </p:nvPr>
        </p:nvSpPr>
        <p:spPr bwMode="auto">
          <a:xfrm>
            <a:off x="252000" y="252000"/>
            <a:ext cx="419611"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114690" name="Rectangle 2"/>
          <p:cNvSpPr>
            <a:spLocks noGrp="1" noChangeArrowheads="1"/>
          </p:cNvSpPr>
          <p:nvPr>
            <p:ph type="ctrTitle"/>
          </p:nvPr>
        </p:nvSpPr>
        <p:spPr>
          <a:xfrm>
            <a:off x="249859" y="3545117"/>
            <a:ext cx="10840028" cy="2706458"/>
          </a:xfrm>
        </p:spPr>
        <p:txBody>
          <a:bodyPr anchor="t" anchorCtr="0"/>
          <a:lstStyle>
            <a:lvl1pPr>
              <a:lnSpc>
                <a:spcPct val="93000"/>
              </a:lnSpc>
              <a:defRPr sz="8000">
                <a:solidFill>
                  <a:schemeClr val="bg1"/>
                </a:solidFill>
              </a:defRPr>
            </a:lvl1pPr>
          </a:lstStyle>
          <a:p>
            <a:pPr lvl="0"/>
            <a:r>
              <a:rPr lang="en-GB" noProof="0"/>
              <a:t>Click to edit Master title style</a:t>
            </a:r>
            <a:endParaRPr lang="en-GB" noProof="0" dirty="0"/>
          </a:p>
        </p:txBody>
      </p:sp>
      <p:sp>
        <p:nvSpPr>
          <p:cNvPr id="114691" name="Rectangle 3"/>
          <p:cNvSpPr>
            <a:spLocks noGrp="1" noChangeArrowheads="1"/>
          </p:cNvSpPr>
          <p:nvPr>
            <p:ph type="subTitle" idx="1"/>
          </p:nvPr>
        </p:nvSpPr>
        <p:spPr>
          <a:xfrm>
            <a:off x="247072" y="1704975"/>
            <a:ext cx="10840028" cy="1660654"/>
          </a:xfrm>
        </p:spPr>
        <p:txBody>
          <a:bodyPr anchor="b" anchorCtr="0"/>
          <a:lstStyle>
            <a:lvl1pPr marL="0" indent="0">
              <a:lnSpc>
                <a:spcPct val="110000"/>
              </a:lnSpc>
              <a:spcBef>
                <a:spcPts val="0"/>
              </a:spcBef>
              <a:buFontTx/>
              <a:buNone/>
              <a:defRPr sz="3000">
                <a:solidFill>
                  <a:schemeClr val="bg1"/>
                </a:solidFill>
              </a:defRPr>
            </a:lvl1pPr>
          </a:lstStyle>
          <a:p>
            <a:pPr lvl="0"/>
            <a:r>
              <a:rPr lang="en-GB" noProof="0"/>
              <a:t>Click to edit Master subtitle style</a:t>
            </a:r>
            <a:endParaRPr lang="en-GB" noProof="0" dirty="0"/>
          </a:p>
        </p:txBody>
      </p:sp>
      <p:sp>
        <p:nvSpPr>
          <p:cNvPr id="6" name="Date Placeholder 5">
            <a:extLst>
              <a:ext uri="{FF2B5EF4-FFF2-40B4-BE49-F238E27FC236}">
                <a16:creationId xmlns:a16="http://schemas.microsoft.com/office/drawing/2014/main" id="{E58E75EC-EF76-589D-0066-5EFD32568BC1}"/>
              </a:ext>
            </a:extLst>
          </p:cNvPr>
          <p:cNvSpPr>
            <a:spLocks noGrp="1"/>
          </p:cNvSpPr>
          <p:nvPr>
            <p:ph type="dt" sz="half" idx="10"/>
          </p:nvPr>
        </p:nvSpPr>
        <p:spPr/>
        <p:txBody>
          <a:bodyPr/>
          <a:lstStyle/>
          <a:p>
            <a:fld id="{7AD7D5B0-12D3-46CB-B5AD-74A578F638EE}" type="datetime1">
              <a:rPr lang="da-DK" smtClean="0"/>
              <a:t>03-09-2026</a:t>
            </a:fld>
            <a:endParaRPr lang="en-GB"/>
          </a:p>
        </p:txBody>
      </p:sp>
      <p:sp>
        <p:nvSpPr>
          <p:cNvPr id="7" name="Footer Placeholder 6">
            <a:extLst>
              <a:ext uri="{FF2B5EF4-FFF2-40B4-BE49-F238E27FC236}">
                <a16:creationId xmlns:a16="http://schemas.microsoft.com/office/drawing/2014/main" id="{6763D84D-6ED3-F4CB-D6ED-4CFB218D023A}"/>
              </a:ext>
            </a:extLst>
          </p:cNvPr>
          <p:cNvSpPr>
            <a:spLocks noGrp="1"/>
          </p:cNvSpPr>
          <p:nvPr>
            <p:ph type="ftr" sz="quarter" idx="11"/>
          </p:nvPr>
        </p:nvSpPr>
        <p:spPr/>
        <p:txBody>
          <a:bodyPr/>
          <a:lstStyle/>
          <a:p>
            <a:r>
              <a:rPr lang="en-US"/>
              <a:t>Game Theory in Electricity Markets - Week 1</a:t>
            </a:r>
            <a:endParaRPr lang="da-DK" dirty="0"/>
          </a:p>
        </p:txBody>
      </p:sp>
      <p:sp>
        <p:nvSpPr>
          <p:cNvPr id="8" name="Slide Number Placeholder 7">
            <a:extLst>
              <a:ext uri="{FF2B5EF4-FFF2-40B4-BE49-F238E27FC236}">
                <a16:creationId xmlns:a16="http://schemas.microsoft.com/office/drawing/2014/main" id="{4CB2228E-DECD-A1FF-31EB-394A357969E2}"/>
              </a:ext>
            </a:extLst>
          </p:cNvPr>
          <p:cNvSpPr>
            <a:spLocks noGrp="1"/>
          </p:cNvSpPr>
          <p:nvPr>
            <p:ph type="sldNum" sz="quarter" idx="12"/>
          </p:nvPr>
        </p:nvSpPr>
        <p:spPr/>
        <p:txBody>
          <a:bodyPr/>
          <a:lstStyle/>
          <a:p>
            <a:fld id="{103EA872-A674-449B-A120-B97244F8E91D}" type="slidenum">
              <a:rPr lang="da-DK" smtClean="0"/>
              <a:pPr/>
              <a:t>‹#›</a:t>
            </a:fld>
            <a:endParaRPr lang="da-DK" dirty="0"/>
          </a:p>
        </p:txBody>
      </p:sp>
    </p:spTree>
    <p:extLst>
      <p:ext uri="{BB962C8B-B14F-4D97-AF65-F5344CB8AC3E}">
        <p14:creationId xmlns:p14="http://schemas.microsoft.com/office/powerpoint/2010/main" val="32272145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userDrawn="1">
          <p15:clr>
            <a:srgbClr val="F26B43"/>
          </p15:clr>
        </p15:guide>
        <p15:guide id="2" pos="6984" userDrawn="1">
          <p15:clr>
            <a:srgbClr val="F26B43"/>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B">
    <p:bg>
      <p:bgRef idx="1001">
        <a:schemeClr val="bg1"/>
      </p:bgRef>
    </p:bg>
    <p:spTree>
      <p:nvGrpSpPr>
        <p:cNvPr id="1" name=""/>
        <p:cNvGrpSpPr/>
        <p:nvPr/>
      </p:nvGrpSpPr>
      <p:grpSpPr>
        <a:xfrm>
          <a:off x="0" y="0"/>
          <a:ext cx="0" cy="0"/>
          <a:chOff x="0" y="0"/>
          <a:chExt cx="0" cy="0"/>
        </a:xfrm>
      </p:grpSpPr>
      <p:sp>
        <p:nvSpPr>
          <p:cNvPr id="114690" name="Rectangle 2"/>
          <p:cNvSpPr>
            <a:spLocks noGrp="1" noChangeArrowheads="1"/>
          </p:cNvSpPr>
          <p:nvPr>
            <p:ph type="ctrTitle"/>
          </p:nvPr>
        </p:nvSpPr>
        <p:spPr>
          <a:xfrm>
            <a:off x="249859" y="3545117"/>
            <a:ext cx="10840028" cy="2706458"/>
          </a:xfrm>
        </p:spPr>
        <p:txBody>
          <a:bodyPr anchor="t" anchorCtr="0"/>
          <a:lstStyle>
            <a:lvl1pPr>
              <a:lnSpc>
                <a:spcPct val="93000"/>
              </a:lnSpc>
              <a:defRPr sz="8000">
                <a:solidFill>
                  <a:schemeClr val="tx1"/>
                </a:solidFill>
              </a:defRPr>
            </a:lvl1pPr>
          </a:lstStyle>
          <a:p>
            <a:pPr lvl="0"/>
            <a:r>
              <a:rPr lang="en-GB" noProof="0"/>
              <a:t>Click to edit Master title style</a:t>
            </a:r>
            <a:endParaRPr lang="en-GB" noProof="0" dirty="0"/>
          </a:p>
        </p:txBody>
      </p:sp>
      <p:sp>
        <p:nvSpPr>
          <p:cNvPr id="114691" name="Rectangle 3"/>
          <p:cNvSpPr>
            <a:spLocks noGrp="1" noChangeArrowheads="1"/>
          </p:cNvSpPr>
          <p:nvPr>
            <p:ph type="subTitle" idx="1"/>
          </p:nvPr>
        </p:nvSpPr>
        <p:spPr>
          <a:xfrm>
            <a:off x="247072" y="1704975"/>
            <a:ext cx="10840028" cy="1660654"/>
          </a:xfrm>
        </p:spPr>
        <p:txBody>
          <a:bodyPr anchor="b" anchorCtr="0"/>
          <a:lstStyle>
            <a:lvl1pPr marL="0" indent="0">
              <a:lnSpc>
                <a:spcPct val="110000"/>
              </a:lnSpc>
              <a:spcBef>
                <a:spcPts val="0"/>
              </a:spcBef>
              <a:buFontTx/>
              <a:buNone/>
              <a:defRPr sz="3000">
                <a:solidFill>
                  <a:schemeClr val="tx1"/>
                </a:solidFill>
              </a:defRPr>
            </a:lvl1pPr>
          </a:lstStyle>
          <a:p>
            <a:pPr lvl="0"/>
            <a:r>
              <a:rPr lang="en-GB" noProof="0"/>
              <a:t>Click to edit Master subtitle style</a:t>
            </a:r>
            <a:endParaRPr lang="en-GB" noProof="0" dirty="0"/>
          </a:p>
        </p:txBody>
      </p:sp>
      <p:sp>
        <p:nvSpPr>
          <p:cNvPr id="5" name="Date Placeholder 4">
            <a:extLst>
              <a:ext uri="{FF2B5EF4-FFF2-40B4-BE49-F238E27FC236}">
                <a16:creationId xmlns:a16="http://schemas.microsoft.com/office/drawing/2014/main" id="{9C26E83F-35F3-7C0A-C83E-AFDCA346710E}"/>
              </a:ext>
            </a:extLst>
          </p:cNvPr>
          <p:cNvSpPr>
            <a:spLocks noGrp="1"/>
          </p:cNvSpPr>
          <p:nvPr>
            <p:ph type="dt" sz="half" idx="10"/>
          </p:nvPr>
        </p:nvSpPr>
        <p:spPr/>
        <p:txBody>
          <a:bodyPr/>
          <a:lstStyle/>
          <a:p>
            <a:fld id="{945E16EF-7DEF-410E-9DA4-B89576A89077}" type="datetime1">
              <a:rPr lang="da-DK" smtClean="0"/>
              <a:t>03-09-2026</a:t>
            </a:fld>
            <a:endParaRPr lang="en-GB"/>
          </a:p>
        </p:txBody>
      </p:sp>
      <p:sp>
        <p:nvSpPr>
          <p:cNvPr id="6" name="Footer Placeholder 5">
            <a:extLst>
              <a:ext uri="{FF2B5EF4-FFF2-40B4-BE49-F238E27FC236}">
                <a16:creationId xmlns:a16="http://schemas.microsoft.com/office/drawing/2014/main" id="{3099C46A-00A5-B620-01F4-AB9FA3E67776}"/>
              </a:ext>
            </a:extLst>
          </p:cNvPr>
          <p:cNvSpPr>
            <a:spLocks noGrp="1"/>
          </p:cNvSpPr>
          <p:nvPr>
            <p:ph type="ftr" sz="quarter" idx="11"/>
          </p:nvPr>
        </p:nvSpPr>
        <p:spPr/>
        <p:txBody>
          <a:bodyPr/>
          <a:lstStyle/>
          <a:p>
            <a:r>
              <a:rPr lang="en-US"/>
              <a:t>Game Theory in Electricity Markets - Week 1</a:t>
            </a:r>
            <a:endParaRPr lang="da-DK" dirty="0"/>
          </a:p>
        </p:txBody>
      </p:sp>
      <p:sp>
        <p:nvSpPr>
          <p:cNvPr id="7" name="Slide Number Placeholder 6">
            <a:extLst>
              <a:ext uri="{FF2B5EF4-FFF2-40B4-BE49-F238E27FC236}">
                <a16:creationId xmlns:a16="http://schemas.microsoft.com/office/drawing/2014/main" id="{C812648B-3179-ABFE-F3AA-427613837574}"/>
              </a:ext>
            </a:extLst>
          </p:cNvPr>
          <p:cNvSpPr>
            <a:spLocks noGrp="1"/>
          </p:cNvSpPr>
          <p:nvPr>
            <p:ph type="sldNum" sz="quarter" idx="12"/>
          </p:nvPr>
        </p:nvSpPr>
        <p:spPr/>
        <p:txBody>
          <a:bodyPr/>
          <a:lstStyle/>
          <a:p>
            <a:fld id="{103EA872-A674-449B-A120-B97244F8E91D}" type="slidenum">
              <a:rPr lang="da-DK" smtClean="0"/>
              <a:pPr/>
              <a:t>‹#›</a:t>
            </a:fld>
            <a:endParaRPr lang="da-DK" dirty="0"/>
          </a:p>
        </p:txBody>
      </p:sp>
    </p:spTree>
    <p:extLst>
      <p:ext uri="{BB962C8B-B14F-4D97-AF65-F5344CB8AC3E}">
        <p14:creationId xmlns:p14="http://schemas.microsoft.com/office/powerpoint/2010/main" val="122591931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userDrawn="1">
          <p15:clr>
            <a:srgbClr val="F26B43"/>
          </p15:clr>
        </p15:guide>
        <p15:guide id="2" pos="6984" userDrawn="1">
          <p15:clr>
            <a:srgbClr val="F26B43"/>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8A0E3C-0CE1-4BBF-A912-5A81BF3B7BCA}"/>
              </a:ext>
            </a:extLst>
          </p:cNvPr>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a:xfrm>
            <a:off x="1774800" y="1706400"/>
            <a:ext cx="9312374" cy="454557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0" name="Date Placeholder 9">
            <a:extLst>
              <a:ext uri="{FF2B5EF4-FFF2-40B4-BE49-F238E27FC236}">
                <a16:creationId xmlns:a16="http://schemas.microsoft.com/office/drawing/2014/main" id="{209954EC-B8D9-8075-FC9F-D3764E46CED4}"/>
              </a:ext>
            </a:extLst>
          </p:cNvPr>
          <p:cNvSpPr>
            <a:spLocks noGrp="1"/>
          </p:cNvSpPr>
          <p:nvPr>
            <p:ph type="dt" sz="half" idx="10"/>
          </p:nvPr>
        </p:nvSpPr>
        <p:spPr/>
        <p:txBody>
          <a:bodyPr/>
          <a:lstStyle/>
          <a:p>
            <a:fld id="{E03C800B-FB61-4825-A914-A6516E1E9B64}" type="datetime1">
              <a:rPr lang="da-DK" smtClean="0"/>
              <a:t>03-09-2026</a:t>
            </a:fld>
            <a:endParaRPr lang="en-GB"/>
          </a:p>
        </p:txBody>
      </p:sp>
      <p:sp>
        <p:nvSpPr>
          <p:cNvPr id="11" name="Footer Placeholder 10">
            <a:extLst>
              <a:ext uri="{FF2B5EF4-FFF2-40B4-BE49-F238E27FC236}">
                <a16:creationId xmlns:a16="http://schemas.microsoft.com/office/drawing/2014/main" id="{CCFBBF02-CCAC-D246-2188-663E067FE9ED}"/>
              </a:ext>
            </a:extLst>
          </p:cNvPr>
          <p:cNvSpPr>
            <a:spLocks noGrp="1"/>
          </p:cNvSpPr>
          <p:nvPr>
            <p:ph type="ftr" sz="quarter" idx="11"/>
          </p:nvPr>
        </p:nvSpPr>
        <p:spPr/>
        <p:txBody>
          <a:bodyPr/>
          <a:lstStyle/>
          <a:p>
            <a:r>
              <a:rPr lang="en-US"/>
              <a:t>Game Theory in Electricity Markets - Week 1</a:t>
            </a:r>
            <a:endParaRPr lang="da-DK" dirty="0"/>
          </a:p>
        </p:txBody>
      </p:sp>
      <p:sp>
        <p:nvSpPr>
          <p:cNvPr id="12" name="Slide Number Placeholder 11">
            <a:extLst>
              <a:ext uri="{FF2B5EF4-FFF2-40B4-BE49-F238E27FC236}">
                <a16:creationId xmlns:a16="http://schemas.microsoft.com/office/drawing/2014/main" id="{48AD440C-0797-9C1A-F3D9-3529DA26E350}"/>
              </a:ext>
            </a:extLst>
          </p:cNvPr>
          <p:cNvSpPr>
            <a:spLocks noGrp="1"/>
          </p:cNvSpPr>
          <p:nvPr>
            <p:ph type="sldNum" sz="quarter" idx="12"/>
          </p:nvPr>
        </p:nvSpPr>
        <p:spPr/>
        <p:txBody>
          <a:bodyPr/>
          <a:lstStyle/>
          <a:p>
            <a:fld id="{103EA872-A674-449B-A120-B97244F8E91D}" type="slidenum">
              <a:rPr lang="da-DK" smtClean="0"/>
              <a:pPr/>
              <a:t>‹#›</a:t>
            </a:fld>
            <a:endParaRPr lang="da-DK" dirty="0"/>
          </a:p>
        </p:txBody>
      </p:sp>
    </p:spTree>
    <p:extLst>
      <p:ext uri="{BB962C8B-B14F-4D97-AF65-F5344CB8AC3E}">
        <p14:creationId xmlns:p14="http://schemas.microsoft.com/office/powerpoint/2010/main" val="1187774059"/>
      </p:ext>
    </p:extLst>
  </p:cSld>
  <p:clrMapOvr>
    <a:masterClrMapping/>
  </p:clrMapOvr>
  <p:extLst>
    <p:ext uri="{DCECCB84-F9BA-43D5-87BE-67443E8EF086}">
      <p15:sldGuideLst xmlns:p15="http://schemas.microsoft.com/office/powerpoint/2012/main">
        <p15:guide id="1" pos="6984" userDrawn="1">
          <p15:clr>
            <a:srgbClr val="F26B43"/>
          </p15:clr>
        </p15:guide>
        <p15:guide id="2" pos="1117" userDrawn="1">
          <p15:clr>
            <a:srgbClr val="F26B43"/>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EB1D5E1-0C4E-4A74-BE37-26307F7E2821}"/>
              </a:ext>
            </a:extLst>
          </p:cNvPr>
          <p:cNvSpPr>
            <a:spLocks noGrp="1"/>
          </p:cNvSpPr>
          <p:nvPr>
            <p:ph type="title"/>
          </p:nvPr>
        </p:nvSpPr>
        <p:spPr>
          <a:xfrm>
            <a:off x="1774726" y="426127"/>
            <a:ext cx="9312374" cy="972716"/>
          </a:xfrm>
        </p:spPr>
        <p:txBody>
          <a:bodyPr/>
          <a:lstStyle/>
          <a:p>
            <a:r>
              <a:rPr lang="en-GB"/>
              <a:t>Click to edit Master title style</a:t>
            </a:r>
            <a:endParaRPr lang="en-GB" dirty="0"/>
          </a:p>
        </p:txBody>
      </p:sp>
      <p:sp>
        <p:nvSpPr>
          <p:cNvPr id="3" name="Content Placeholder 2"/>
          <p:cNvSpPr>
            <a:spLocks noGrp="1"/>
          </p:cNvSpPr>
          <p:nvPr>
            <p:ph sz="half" idx="1"/>
          </p:nvPr>
        </p:nvSpPr>
        <p:spPr>
          <a:xfrm>
            <a:off x="1774800" y="1706399"/>
            <a:ext cx="4410177" cy="45468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678001" y="1706399"/>
            <a:ext cx="4409100" cy="45468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Footer Placeholder 6">
            <a:extLst>
              <a:ext uri="{FF2B5EF4-FFF2-40B4-BE49-F238E27FC236}">
                <a16:creationId xmlns:a16="http://schemas.microsoft.com/office/drawing/2014/main" id="{02499420-B0E8-4C8A-8C00-E21262271ADD}"/>
              </a:ext>
            </a:extLst>
          </p:cNvPr>
          <p:cNvSpPr>
            <a:spLocks noGrp="1"/>
          </p:cNvSpPr>
          <p:nvPr>
            <p:ph type="ftr" sz="quarter" idx="10"/>
          </p:nvPr>
        </p:nvSpPr>
        <p:spPr/>
        <p:txBody>
          <a:bodyPr/>
          <a:lstStyle/>
          <a:p>
            <a:r>
              <a:rPr lang="en-US"/>
              <a:t>Game Theory in Electricity Markets - Week 1</a:t>
            </a:r>
            <a:endParaRPr lang="en-GB" dirty="0"/>
          </a:p>
        </p:txBody>
      </p:sp>
      <p:sp>
        <p:nvSpPr>
          <p:cNvPr id="8" name="Slide Number Placeholder 7">
            <a:extLst>
              <a:ext uri="{FF2B5EF4-FFF2-40B4-BE49-F238E27FC236}">
                <a16:creationId xmlns:a16="http://schemas.microsoft.com/office/drawing/2014/main" id="{E3EE7F0E-E606-41AC-BBBF-B5AECB1112EB}"/>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2" name="Date Placeholder 1">
            <a:extLst>
              <a:ext uri="{FF2B5EF4-FFF2-40B4-BE49-F238E27FC236}">
                <a16:creationId xmlns:a16="http://schemas.microsoft.com/office/drawing/2014/main" id="{13775E03-BE23-9277-8686-60549E4E73BE}"/>
              </a:ext>
            </a:extLst>
          </p:cNvPr>
          <p:cNvSpPr>
            <a:spLocks noGrp="1"/>
          </p:cNvSpPr>
          <p:nvPr>
            <p:ph type="dt" sz="half" idx="12"/>
          </p:nvPr>
        </p:nvSpPr>
        <p:spPr/>
        <p:txBody>
          <a:bodyPr/>
          <a:lstStyle/>
          <a:p>
            <a:fld id="{9C715493-C4FB-4F30-8E14-EBC89873AF9F}" type="datetime1">
              <a:rPr lang="da-DK" smtClean="0"/>
              <a:t>03-09-2026</a:t>
            </a:fld>
            <a:endParaRPr lang="en-GB"/>
          </a:p>
        </p:txBody>
      </p:sp>
    </p:spTree>
    <p:extLst>
      <p:ext uri="{BB962C8B-B14F-4D97-AF65-F5344CB8AC3E}">
        <p14:creationId xmlns:p14="http://schemas.microsoft.com/office/powerpoint/2010/main" val="2945711255"/>
      </p:ext>
    </p:extLst>
  </p:cSld>
  <p:clrMapOvr>
    <a:masterClrMapping/>
  </p:clrMapOvr>
  <p:extLst>
    <p:ext uri="{DCECCB84-F9BA-43D5-87BE-67443E8EF086}">
      <p15:sldGuideLst xmlns:p15="http://schemas.microsoft.com/office/powerpoint/2012/main">
        <p15:guide id="1" pos="1118" userDrawn="1">
          <p15:clr>
            <a:srgbClr val="F26B43"/>
          </p15:clr>
        </p15:guide>
        <p15:guide id="2" pos="3896" userDrawn="1">
          <p15:clr>
            <a:srgbClr val="F26B43"/>
          </p15:clr>
        </p15:guide>
        <p15:guide id="3" pos="4205" userDrawn="1">
          <p15:clr>
            <a:srgbClr val="F26B43"/>
          </p15:clr>
        </p15:guide>
        <p15:guide id="4" pos="6984" userDrawn="1">
          <p15:clr>
            <a:srgbClr val="F26B43"/>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and two pictures">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0A2595F-A737-4D92-946C-EC0BBF885334}"/>
              </a:ext>
            </a:extLst>
          </p:cNvPr>
          <p:cNvSpPr>
            <a:spLocks noGrp="1"/>
          </p:cNvSpPr>
          <p:nvPr>
            <p:ph type="title"/>
          </p:nvPr>
        </p:nvSpPr>
        <p:spPr>
          <a:xfrm>
            <a:off x="1774726" y="426127"/>
            <a:ext cx="6048672" cy="972716"/>
          </a:xfrm>
        </p:spPr>
        <p:txBody>
          <a:bodyPr/>
          <a:lstStyle/>
          <a:p>
            <a:r>
              <a:rPr lang="en-GB"/>
              <a:t>Click to edit Master title style</a:t>
            </a:r>
            <a:endParaRPr lang="en-GB" dirty="0"/>
          </a:p>
        </p:txBody>
      </p:sp>
      <p:sp>
        <p:nvSpPr>
          <p:cNvPr id="3" name="Content Placeholder 2"/>
          <p:cNvSpPr>
            <a:spLocks noGrp="1"/>
          </p:cNvSpPr>
          <p:nvPr>
            <p:ph idx="1"/>
          </p:nvPr>
        </p:nvSpPr>
        <p:spPr>
          <a:xfrm>
            <a:off x="1774726" y="1706328"/>
            <a:ext cx="6048672" cy="454557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0" name="Picture Placeholder 9">
            <a:extLst>
              <a:ext uri="{FF2B5EF4-FFF2-40B4-BE49-F238E27FC236}">
                <a16:creationId xmlns:a16="http://schemas.microsoft.com/office/drawing/2014/main" id="{565D29D0-EA4F-4318-8A82-6C2B200A712B}"/>
              </a:ext>
            </a:extLst>
          </p:cNvPr>
          <p:cNvSpPr>
            <a:spLocks noGrp="1"/>
          </p:cNvSpPr>
          <p:nvPr>
            <p:ph type="pic" sz="quarter" idx="13" hasCustomPrompt="1"/>
          </p:nvPr>
        </p:nvSpPr>
        <p:spPr>
          <a:xfrm>
            <a:off x="8331213" y="849734"/>
            <a:ext cx="3859200" cy="2505600"/>
          </a:xfrm>
        </p:spPr>
        <p:txBody>
          <a:bodyPr/>
          <a:lstStyle>
            <a:lvl1pPr marL="0" indent="0" algn="ctr">
              <a:buNone/>
              <a:defRPr sz="1200"/>
            </a:lvl1pPr>
          </a:lstStyle>
          <a:p>
            <a:r>
              <a:rPr lang="en-GB" dirty="0"/>
              <a:t>Click the placeholder and paste image via Skyfish icon</a:t>
            </a:r>
          </a:p>
        </p:txBody>
      </p:sp>
      <p:sp>
        <p:nvSpPr>
          <p:cNvPr id="12" name="Picture Placeholder 11">
            <a:extLst>
              <a:ext uri="{FF2B5EF4-FFF2-40B4-BE49-F238E27FC236}">
                <a16:creationId xmlns:a16="http://schemas.microsoft.com/office/drawing/2014/main" id="{25B8511D-E10E-40C3-82A6-3DCDC97CF6C2}"/>
              </a:ext>
            </a:extLst>
          </p:cNvPr>
          <p:cNvSpPr>
            <a:spLocks noGrp="1"/>
          </p:cNvSpPr>
          <p:nvPr>
            <p:ph type="pic" sz="quarter" idx="14" hasCustomPrompt="1"/>
          </p:nvPr>
        </p:nvSpPr>
        <p:spPr>
          <a:xfrm>
            <a:off x="8331213" y="3563718"/>
            <a:ext cx="3859200" cy="2505600"/>
          </a:xfrm>
        </p:spPr>
        <p:txBody>
          <a:bodyPr/>
          <a:lstStyle>
            <a:lvl1pPr marL="0" indent="0" algn="ctr">
              <a:buNone/>
              <a:defRPr sz="1200"/>
            </a:lvl1pPr>
          </a:lstStyle>
          <a:p>
            <a:r>
              <a:rPr lang="en-GB" dirty="0"/>
              <a:t>Click the placeholder and paste image via Skyfish icon</a:t>
            </a:r>
          </a:p>
          <a:p>
            <a:endParaRPr lang="en-GB" dirty="0"/>
          </a:p>
        </p:txBody>
      </p:sp>
      <p:sp>
        <p:nvSpPr>
          <p:cNvPr id="2" name="Footer Placeholder 1">
            <a:extLst>
              <a:ext uri="{FF2B5EF4-FFF2-40B4-BE49-F238E27FC236}">
                <a16:creationId xmlns:a16="http://schemas.microsoft.com/office/drawing/2014/main" id="{D2986237-C7E2-4498-82A4-361A340A6504}"/>
              </a:ext>
            </a:extLst>
          </p:cNvPr>
          <p:cNvSpPr>
            <a:spLocks noGrp="1"/>
          </p:cNvSpPr>
          <p:nvPr>
            <p:ph type="ftr" sz="quarter" idx="15"/>
          </p:nvPr>
        </p:nvSpPr>
        <p:spPr/>
        <p:txBody>
          <a:bodyPr/>
          <a:lstStyle/>
          <a:p>
            <a:r>
              <a:rPr lang="en-US"/>
              <a:t>Game Theory in Electricity Markets - Week 1</a:t>
            </a:r>
            <a:endParaRPr lang="en-GB" dirty="0"/>
          </a:p>
        </p:txBody>
      </p:sp>
      <p:sp>
        <p:nvSpPr>
          <p:cNvPr id="6" name="Slide Number Placeholder 5">
            <a:extLst>
              <a:ext uri="{FF2B5EF4-FFF2-40B4-BE49-F238E27FC236}">
                <a16:creationId xmlns:a16="http://schemas.microsoft.com/office/drawing/2014/main" id="{21664EEF-2B63-484E-803A-4FCD66F243A5}"/>
              </a:ext>
            </a:extLst>
          </p:cNvPr>
          <p:cNvSpPr>
            <a:spLocks noGrp="1"/>
          </p:cNvSpPr>
          <p:nvPr>
            <p:ph type="sldNum" sz="quarter" idx="16"/>
          </p:nvPr>
        </p:nvSpPr>
        <p:spPr/>
        <p:txBody>
          <a:bodyPr/>
          <a:lstStyle/>
          <a:p>
            <a:fld id="{103EA872-A674-449B-A120-B97244F8E91D}" type="slidenum">
              <a:rPr lang="en-GB" smtClean="0"/>
              <a:pPr/>
              <a:t>‹#›</a:t>
            </a:fld>
            <a:endParaRPr lang="en-GB" dirty="0"/>
          </a:p>
        </p:txBody>
      </p:sp>
      <p:sp>
        <p:nvSpPr>
          <p:cNvPr id="4" name="Date Placeholder 3">
            <a:extLst>
              <a:ext uri="{FF2B5EF4-FFF2-40B4-BE49-F238E27FC236}">
                <a16:creationId xmlns:a16="http://schemas.microsoft.com/office/drawing/2014/main" id="{8906AB93-5959-29D5-C0C8-6B37FCF5F141}"/>
              </a:ext>
            </a:extLst>
          </p:cNvPr>
          <p:cNvSpPr>
            <a:spLocks noGrp="1"/>
          </p:cNvSpPr>
          <p:nvPr>
            <p:ph type="dt" sz="half" idx="17"/>
          </p:nvPr>
        </p:nvSpPr>
        <p:spPr/>
        <p:txBody>
          <a:bodyPr/>
          <a:lstStyle/>
          <a:p>
            <a:fld id="{BF5BB3F0-8875-4175-806B-DD53DCCF103A}" type="datetime1">
              <a:rPr lang="da-DK" smtClean="0"/>
              <a:t>03-09-2026</a:t>
            </a:fld>
            <a:endParaRPr lang="en-GB"/>
          </a:p>
        </p:txBody>
      </p:sp>
    </p:spTree>
    <p:extLst>
      <p:ext uri="{BB962C8B-B14F-4D97-AF65-F5344CB8AC3E}">
        <p14:creationId xmlns:p14="http://schemas.microsoft.com/office/powerpoint/2010/main" val="3922670733"/>
      </p:ext>
    </p:extLst>
  </p:cSld>
  <p:clrMapOvr>
    <a:masterClrMapping/>
  </p:clrMapOvr>
  <p:extLst>
    <p:ext uri="{DCECCB84-F9BA-43D5-87BE-67443E8EF086}">
      <p15:sldGuideLst xmlns:p15="http://schemas.microsoft.com/office/powerpoint/2012/main">
        <p15:guide id="1" pos="4927" userDrawn="1">
          <p15:clr>
            <a:srgbClr val="F26B43"/>
          </p15:clr>
        </p15:guide>
        <p15:guide id="2" pos="5247" userDrawn="1">
          <p15:clr>
            <a:srgbClr val="F26B43"/>
          </p15:clr>
        </p15:guide>
        <p15:guide id="3" pos="1117" userDrawn="1">
          <p15:clr>
            <a:srgbClr val="F26B43"/>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pictures and tex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92213382-11A1-48CE-B0A0-D8A7D26861FB}"/>
              </a:ext>
            </a:extLst>
          </p:cNvPr>
          <p:cNvSpPr>
            <a:spLocks noGrp="1"/>
          </p:cNvSpPr>
          <p:nvPr>
            <p:ph type="title"/>
          </p:nvPr>
        </p:nvSpPr>
        <p:spPr>
          <a:xfrm>
            <a:off x="4221360" y="426127"/>
            <a:ext cx="6865740" cy="972716"/>
          </a:xfrm>
        </p:spPr>
        <p:txBody>
          <a:bodyPr/>
          <a:lstStyle/>
          <a:p>
            <a:r>
              <a:rPr lang="en-GB"/>
              <a:t>Click to edit Master title style</a:t>
            </a:r>
            <a:endParaRPr lang="en-GB" dirty="0"/>
          </a:p>
        </p:txBody>
      </p:sp>
      <p:sp>
        <p:nvSpPr>
          <p:cNvPr id="3" name="Content Placeholder 2"/>
          <p:cNvSpPr>
            <a:spLocks noGrp="1"/>
          </p:cNvSpPr>
          <p:nvPr>
            <p:ph idx="1"/>
          </p:nvPr>
        </p:nvSpPr>
        <p:spPr>
          <a:xfrm>
            <a:off x="4221360" y="1706328"/>
            <a:ext cx="6865740" cy="454557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0" name="Picture Placeholder 9">
            <a:extLst>
              <a:ext uri="{FF2B5EF4-FFF2-40B4-BE49-F238E27FC236}">
                <a16:creationId xmlns:a16="http://schemas.microsoft.com/office/drawing/2014/main" id="{565D29D0-EA4F-4318-8A82-6C2B200A712B}"/>
              </a:ext>
            </a:extLst>
          </p:cNvPr>
          <p:cNvSpPr>
            <a:spLocks noGrp="1"/>
          </p:cNvSpPr>
          <p:nvPr>
            <p:ph type="pic" sz="quarter" idx="13" hasCustomPrompt="1"/>
          </p:nvPr>
        </p:nvSpPr>
        <p:spPr>
          <a:xfrm>
            <a:off x="-1" y="1314523"/>
            <a:ext cx="3708000" cy="2455200"/>
          </a:xfrm>
        </p:spPr>
        <p:txBody>
          <a:bodyPr/>
          <a:lstStyle>
            <a:lvl1pPr marL="0" indent="0" algn="ctr">
              <a:buNone/>
              <a:defRPr sz="1200"/>
            </a:lvl1pPr>
          </a:lstStyle>
          <a:p>
            <a:r>
              <a:rPr lang="en-GB" dirty="0"/>
              <a:t>Click the placeholder and paste image via Skyfish icon</a:t>
            </a:r>
          </a:p>
        </p:txBody>
      </p:sp>
      <p:sp>
        <p:nvSpPr>
          <p:cNvPr id="12" name="Picture Placeholder 11">
            <a:extLst>
              <a:ext uri="{FF2B5EF4-FFF2-40B4-BE49-F238E27FC236}">
                <a16:creationId xmlns:a16="http://schemas.microsoft.com/office/drawing/2014/main" id="{25B8511D-E10E-40C3-82A6-3DCDC97CF6C2}"/>
              </a:ext>
            </a:extLst>
          </p:cNvPr>
          <p:cNvSpPr>
            <a:spLocks noGrp="1"/>
          </p:cNvSpPr>
          <p:nvPr>
            <p:ph type="pic" sz="quarter" idx="14" hasCustomPrompt="1"/>
          </p:nvPr>
        </p:nvSpPr>
        <p:spPr>
          <a:xfrm>
            <a:off x="-1" y="3968153"/>
            <a:ext cx="3708000" cy="2455200"/>
          </a:xfrm>
        </p:spPr>
        <p:txBody>
          <a:bodyPr/>
          <a:lstStyle>
            <a:lvl1pPr marL="0" indent="0" algn="ctr">
              <a:buNone/>
              <a:defRPr sz="1200"/>
            </a:lvl1pPr>
          </a:lstStyle>
          <a:p>
            <a:r>
              <a:rPr lang="en-GB" dirty="0"/>
              <a:t>Click the placeholder and paste image via Skyfish icon</a:t>
            </a:r>
          </a:p>
          <a:p>
            <a:endParaRPr lang="en-GB" dirty="0"/>
          </a:p>
        </p:txBody>
      </p:sp>
      <p:sp>
        <p:nvSpPr>
          <p:cNvPr id="2" name="Footer Placeholder 1">
            <a:extLst>
              <a:ext uri="{FF2B5EF4-FFF2-40B4-BE49-F238E27FC236}">
                <a16:creationId xmlns:a16="http://schemas.microsoft.com/office/drawing/2014/main" id="{AE26B732-1A52-4AA9-89FC-8FC5439E40DC}"/>
              </a:ext>
            </a:extLst>
          </p:cNvPr>
          <p:cNvSpPr>
            <a:spLocks noGrp="1"/>
          </p:cNvSpPr>
          <p:nvPr>
            <p:ph type="ftr" sz="quarter" idx="15"/>
          </p:nvPr>
        </p:nvSpPr>
        <p:spPr/>
        <p:txBody>
          <a:bodyPr/>
          <a:lstStyle/>
          <a:p>
            <a:r>
              <a:rPr lang="en-US"/>
              <a:t>Game Theory in Electricity Markets - Week 1</a:t>
            </a:r>
            <a:endParaRPr lang="en-GB" dirty="0"/>
          </a:p>
        </p:txBody>
      </p:sp>
      <p:sp>
        <p:nvSpPr>
          <p:cNvPr id="6" name="Slide Number Placeholder 5">
            <a:extLst>
              <a:ext uri="{FF2B5EF4-FFF2-40B4-BE49-F238E27FC236}">
                <a16:creationId xmlns:a16="http://schemas.microsoft.com/office/drawing/2014/main" id="{3B25D0DC-E43F-43DA-AA0F-C0C54C8939F7}"/>
              </a:ext>
            </a:extLst>
          </p:cNvPr>
          <p:cNvSpPr>
            <a:spLocks noGrp="1"/>
          </p:cNvSpPr>
          <p:nvPr>
            <p:ph type="sldNum" sz="quarter" idx="16"/>
          </p:nvPr>
        </p:nvSpPr>
        <p:spPr/>
        <p:txBody>
          <a:bodyPr/>
          <a:lstStyle/>
          <a:p>
            <a:fld id="{103EA872-A674-449B-A120-B97244F8E91D}" type="slidenum">
              <a:rPr lang="en-GB" smtClean="0"/>
              <a:pPr/>
              <a:t>‹#›</a:t>
            </a:fld>
            <a:endParaRPr lang="en-GB" dirty="0"/>
          </a:p>
        </p:txBody>
      </p:sp>
      <p:sp>
        <p:nvSpPr>
          <p:cNvPr id="4" name="Date Placeholder 3">
            <a:extLst>
              <a:ext uri="{FF2B5EF4-FFF2-40B4-BE49-F238E27FC236}">
                <a16:creationId xmlns:a16="http://schemas.microsoft.com/office/drawing/2014/main" id="{77445D79-EFF9-98D6-B066-40CEED6C2E2A}"/>
              </a:ext>
            </a:extLst>
          </p:cNvPr>
          <p:cNvSpPr>
            <a:spLocks noGrp="1"/>
          </p:cNvSpPr>
          <p:nvPr>
            <p:ph type="dt" sz="half" idx="17"/>
          </p:nvPr>
        </p:nvSpPr>
        <p:spPr/>
        <p:txBody>
          <a:bodyPr/>
          <a:lstStyle/>
          <a:p>
            <a:fld id="{0CD448D4-F0E9-4920-918B-EDE1918D79E0}" type="datetime1">
              <a:rPr lang="da-DK" smtClean="0"/>
              <a:t>03-09-2026</a:t>
            </a:fld>
            <a:endParaRPr lang="en-GB"/>
          </a:p>
        </p:txBody>
      </p:sp>
    </p:spTree>
    <p:extLst>
      <p:ext uri="{BB962C8B-B14F-4D97-AF65-F5344CB8AC3E}">
        <p14:creationId xmlns:p14="http://schemas.microsoft.com/office/powerpoint/2010/main" val="1283562364"/>
      </p:ext>
    </p:extLst>
  </p:cSld>
  <p:clrMapOvr>
    <a:masterClrMapping/>
  </p:clrMapOvr>
  <p:extLst>
    <p:ext uri="{DCECCB84-F9BA-43D5-87BE-67443E8EF086}">
      <p15:sldGuideLst xmlns:p15="http://schemas.microsoft.com/office/powerpoint/2012/main">
        <p15:guide id="1" pos="6984" userDrawn="1">
          <p15:clr>
            <a:srgbClr val="F26B43"/>
          </p15:clr>
        </p15:guide>
        <p15:guide id="2" pos="2660" userDrawn="1">
          <p15:clr>
            <a:srgbClr val="F26B43"/>
          </p15:clr>
        </p15:guide>
        <p15:guide id="3" pos="2335" userDrawn="1">
          <p15:clr>
            <a:srgbClr val="F26B43"/>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53C3-F3F7-4638-96F8-7CF20CB55E0C}"/>
              </a:ext>
            </a:extLst>
          </p:cNvPr>
          <p:cNvSpPr>
            <a:spLocks noGrp="1"/>
          </p:cNvSpPr>
          <p:nvPr>
            <p:ph type="title" hasCustomPrompt="1"/>
          </p:nvPr>
        </p:nvSpPr>
        <p:spPr>
          <a:xfrm>
            <a:off x="247650" y="980727"/>
            <a:ext cx="3740400" cy="418115"/>
          </a:xfrm>
        </p:spPr>
        <p:txBody>
          <a:bodyPr/>
          <a:lstStyle>
            <a:lvl1pPr>
              <a:defRPr sz="2400"/>
            </a:lvl1pPr>
          </a:lstStyle>
          <a:p>
            <a:r>
              <a:rPr lang="en-GB"/>
              <a:t>Click to add title one line</a:t>
            </a:r>
            <a:endParaRPr lang="en-GB" dirty="0"/>
          </a:p>
        </p:txBody>
      </p:sp>
      <p:sp>
        <p:nvSpPr>
          <p:cNvPr id="15" name="Content Placeholder 2">
            <a:extLst>
              <a:ext uri="{FF2B5EF4-FFF2-40B4-BE49-F238E27FC236}">
                <a16:creationId xmlns:a16="http://schemas.microsoft.com/office/drawing/2014/main" id="{CC0DB591-4602-46B3-B1C3-1E64148AB9B7}"/>
              </a:ext>
            </a:extLst>
          </p:cNvPr>
          <p:cNvSpPr>
            <a:spLocks noGrp="1"/>
          </p:cNvSpPr>
          <p:nvPr>
            <p:ph idx="1"/>
          </p:nvPr>
        </p:nvSpPr>
        <p:spPr>
          <a:xfrm>
            <a:off x="247650" y="4407150"/>
            <a:ext cx="3740400" cy="184442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9" name="Text Placeholder 18">
            <a:extLst>
              <a:ext uri="{FF2B5EF4-FFF2-40B4-BE49-F238E27FC236}">
                <a16:creationId xmlns:a16="http://schemas.microsoft.com/office/drawing/2014/main" id="{68416079-1CFC-426F-A6ED-5AB355FC545F}"/>
              </a:ext>
            </a:extLst>
          </p:cNvPr>
          <p:cNvSpPr>
            <a:spLocks noGrp="1"/>
          </p:cNvSpPr>
          <p:nvPr>
            <p:ph type="body" sz="quarter" idx="21" hasCustomPrompt="1"/>
          </p:nvPr>
        </p:nvSpPr>
        <p:spPr>
          <a:xfrm>
            <a:off x="4222750" y="979200"/>
            <a:ext cx="3740400" cy="417767"/>
          </a:xfrm>
        </p:spPr>
        <p:txBody>
          <a:bodyPr anchor="b" anchorCtr="0"/>
          <a:lstStyle>
            <a:lvl1pPr marL="0" indent="0">
              <a:buNone/>
              <a:defRPr sz="2400" b="1"/>
            </a:lvl1pPr>
            <a:lvl2pPr marL="0" indent="0">
              <a:buNone/>
              <a:defRPr sz="2400" b="1"/>
            </a:lvl2pPr>
            <a:lvl3pPr marL="0" indent="0">
              <a:buNone/>
              <a:defRPr sz="2400" b="1"/>
            </a:lvl3pPr>
            <a:lvl4pPr marL="0" indent="0">
              <a:buNone/>
              <a:defRPr sz="2400" b="1"/>
            </a:lvl4pPr>
            <a:lvl5pPr marL="0" indent="0">
              <a:buNone/>
              <a:defRPr sz="2400" b="1"/>
            </a:lvl5pPr>
          </a:lstStyle>
          <a:p>
            <a:pPr lvl="0"/>
            <a:r>
              <a:rPr lang="en-GB"/>
              <a:t>Click to add title one line</a:t>
            </a:r>
            <a:endParaRPr lang="en-GB" dirty="0"/>
          </a:p>
        </p:txBody>
      </p:sp>
      <p:sp>
        <p:nvSpPr>
          <p:cNvPr id="21" name="Content Placeholder 20">
            <a:extLst>
              <a:ext uri="{FF2B5EF4-FFF2-40B4-BE49-F238E27FC236}">
                <a16:creationId xmlns:a16="http://schemas.microsoft.com/office/drawing/2014/main" id="{D358873C-68BF-4E89-B536-B3248F2B25FE}"/>
              </a:ext>
            </a:extLst>
          </p:cNvPr>
          <p:cNvSpPr>
            <a:spLocks noGrp="1"/>
          </p:cNvSpPr>
          <p:nvPr>
            <p:ph sz="quarter" idx="22"/>
          </p:nvPr>
        </p:nvSpPr>
        <p:spPr>
          <a:xfrm>
            <a:off x="4222750" y="4406899"/>
            <a:ext cx="3740401" cy="184467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3" name="Text Placeholder 22">
            <a:extLst>
              <a:ext uri="{FF2B5EF4-FFF2-40B4-BE49-F238E27FC236}">
                <a16:creationId xmlns:a16="http://schemas.microsoft.com/office/drawing/2014/main" id="{69A0E900-1FE2-4CC1-B435-93F3A1189356}"/>
              </a:ext>
            </a:extLst>
          </p:cNvPr>
          <p:cNvSpPr>
            <a:spLocks noGrp="1"/>
          </p:cNvSpPr>
          <p:nvPr>
            <p:ph type="body" sz="quarter" idx="23" hasCustomPrompt="1"/>
          </p:nvPr>
        </p:nvSpPr>
        <p:spPr>
          <a:xfrm>
            <a:off x="8197850" y="979200"/>
            <a:ext cx="3740400" cy="417767"/>
          </a:xfrm>
        </p:spPr>
        <p:txBody>
          <a:bodyPr anchor="b" anchorCtr="0"/>
          <a:lstStyle>
            <a:lvl1pPr marL="0" indent="0">
              <a:buNone/>
              <a:defRPr sz="2400" b="1"/>
            </a:lvl1pPr>
            <a:lvl2pPr marL="0" indent="0">
              <a:buNone/>
              <a:defRPr sz="2400" b="1"/>
            </a:lvl2pPr>
            <a:lvl3pPr marL="0" indent="0">
              <a:buNone/>
              <a:defRPr sz="2400" b="1"/>
            </a:lvl3pPr>
            <a:lvl4pPr marL="0" indent="0">
              <a:buNone/>
              <a:defRPr sz="2400" b="1"/>
            </a:lvl4pPr>
            <a:lvl5pPr marL="0" indent="0">
              <a:buNone/>
              <a:defRPr sz="2400" b="1"/>
            </a:lvl5pPr>
          </a:lstStyle>
          <a:p>
            <a:pPr lvl="0"/>
            <a:r>
              <a:rPr lang="en-GB"/>
              <a:t>Click to add title one line</a:t>
            </a:r>
            <a:endParaRPr lang="en-GB" dirty="0"/>
          </a:p>
        </p:txBody>
      </p:sp>
      <p:sp>
        <p:nvSpPr>
          <p:cNvPr id="25" name="Content Placeholder 24">
            <a:extLst>
              <a:ext uri="{FF2B5EF4-FFF2-40B4-BE49-F238E27FC236}">
                <a16:creationId xmlns:a16="http://schemas.microsoft.com/office/drawing/2014/main" id="{E094886A-F110-4851-B1DA-8DFC40D509F8}"/>
              </a:ext>
            </a:extLst>
          </p:cNvPr>
          <p:cNvSpPr>
            <a:spLocks noGrp="1"/>
          </p:cNvSpPr>
          <p:nvPr>
            <p:ph sz="quarter" idx="24"/>
          </p:nvPr>
        </p:nvSpPr>
        <p:spPr>
          <a:xfrm>
            <a:off x="8197850" y="4406899"/>
            <a:ext cx="3740400" cy="184467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Picture Placeholder 8">
            <a:extLst>
              <a:ext uri="{FF2B5EF4-FFF2-40B4-BE49-F238E27FC236}">
                <a16:creationId xmlns:a16="http://schemas.microsoft.com/office/drawing/2014/main" id="{91B02311-54A6-4455-B615-BBCA0DA742E4}"/>
              </a:ext>
            </a:extLst>
          </p:cNvPr>
          <p:cNvSpPr>
            <a:spLocks noGrp="1"/>
          </p:cNvSpPr>
          <p:nvPr>
            <p:ph type="pic" sz="quarter" idx="18" hasCustomPrompt="1"/>
          </p:nvPr>
        </p:nvSpPr>
        <p:spPr>
          <a:xfrm>
            <a:off x="247650" y="1546282"/>
            <a:ext cx="3740400" cy="2664000"/>
          </a:xfrm>
        </p:spPr>
        <p:txBody>
          <a:bodyPr/>
          <a:lstStyle>
            <a:lvl1pPr marL="0" indent="0" algn="ctr">
              <a:buNone/>
              <a:defRPr sz="1200"/>
            </a:lvl1pPr>
          </a:lstStyle>
          <a:p>
            <a:r>
              <a:rPr lang="en-GB" dirty="0"/>
              <a:t>Click the placeholder and paste image via Skyfish icon</a:t>
            </a:r>
          </a:p>
        </p:txBody>
      </p:sp>
      <p:sp>
        <p:nvSpPr>
          <p:cNvPr id="13" name="Picture Placeholder 8">
            <a:extLst>
              <a:ext uri="{FF2B5EF4-FFF2-40B4-BE49-F238E27FC236}">
                <a16:creationId xmlns:a16="http://schemas.microsoft.com/office/drawing/2014/main" id="{710A5827-3485-49A0-81F0-FF89EE34B804}"/>
              </a:ext>
            </a:extLst>
          </p:cNvPr>
          <p:cNvSpPr>
            <a:spLocks noGrp="1"/>
          </p:cNvSpPr>
          <p:nvPr>
            <p:ph type="pic" sz="quarter" idx="19" hasCustomPrompt="1"/>
          </p:nvPr>
        </p:nvSpPr>
        <p:spPr>
          <a:xfrm>
            <a:off x="4223149" y="1548581"/>
            <a:ext cx="3740400" cy="2664000"/>
          </a:xfrm>
        </p:spPr>
        <p:txBody>
          <a:bodyPr/>
          <a:lstStyle>
            <a:lvl1pPr marL="0" indent="0" algn="ctr">
              <a:buNone/>
              <a:defRPr sz="1200"/>
            </a:lvl1pPr>
          </a:lstStyle>
          <a:p>
            <a:r>
              <a:rPr lang="en-GB" dirty="0"/>
              <a:t>Click the placeholder and paste image via Skyfish icon</a:t>
            </a:r>
          </a:p>
        </p:txBody>
      </p:sp>
      <p:sp>
        <p:nvSpPr>
          <p:cNvPr id="14" name="Picture Placeholder 8">
            <a:extLst>
              <a:ext uri="{FF2B5EF4-FFF2-40B4-BE49-F238E27FC236}">
                <a16:creationId xmlns:a16="http://schemas.microsoft.com/office/drawing/2014/main" id="{E27B0558-FCB8-4A55-9BA9-182DFF0387F4}"/>
              </a:ext>
            </a:extLst>
          </p:cNvPr>
          <p:cNvSpPr>
            <a:spLocks noGrp="1"/>
          </p:cNvSpPr>
          <p:nvPr>
            <p:ph type="pic" sz="quarter" idx="20" hasCustomPrompt="1"/>
          </p:nvPr>
        </p:nvSpPr>
        <p:spPr>
          <a:xfrm>
            <a:off x="8198648" y="1546282"/>
            <a:ext cx="3740400" cy="2664000"/>
          </a:xfrm>
        </p:spPr>
        <p:txBody>
          <a:bodyPr/>
          <a:lstStyle>
            <a:lvl1pPr marL="0" indent="0" algn="ctr">
              <a:buNone/>
              <a:defRPr sz="1200"/>
            </a:lvl1pPr>
          </a:lstStyle>
          <a:p>
            <a:r>
              <a:rPr lang="en-GB" dirty="0"/>
              <a:t>Click the placeholder and paste image via Skyfish icon</a:t>
            </a:r>
          </a:p>
        </p:txBody>
      </p:sp>
      <p:sp>
        <p:nvSpPr>
          <p:cNvPr id="3" name="Footer Placeholder 2">
            <a:extLst>
              <a:ext uri="{FF2B5EF4-FFF2-40B4-BE49-F238E27FC236}">
                <a16:creationId xmlns:a16="http://schemas.microsoft.com/office/drawing/2014/main" id="{71346B4F-F02C-40EC-9B70-932B18214C6A}"/>
              </a:ext>
            </a:extLst>
          </p:cNvPr>
          <p:cNvSpPr>
            <a:spLocks noGrp="1"/>
          </p:cNvSpPr>
          <p:nvPr>
            <p:ph type="ftr" sz="quarter" idx="16"/>
          </p:nvPr>
        </p:nvSpPr>
        <p:spPr/>
        <p:txBody>
          <a:bodyPr/>
          <a:lstStyle/>
          <a:p>
            <a:r>
              <a:rPr lang="en-US"/>
              <a:t>Game Theory in Electricity Markets - Week 1</a:t>
            </a:r>
            <a:endParaRPr lang="en-GB" dirty="0"/>
          </a:p>
        </p:txBody>
      </p:sp>
      <p:sp>
        <p:nvSpPr>
          <p:cNvPr id="4" name="Slide Number Placeholder 3">
            <a:extLst>
              <a:ext uri="{FF2B5EF4-FFF2-40B4-BE49-F238E27FC236}">
                <a16:creationId xmlns:a16="http://schemas.microsoft.com/office/drawing/2014/main" id="{FE67EB69-BB5A-407E-BF0A-1CB9B24506D8}"/>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
        <p:nvSpPr>
          <p:cNvPr id="5" name="Date Placeholder 4">
            <a:extLst>
              <a:ext uri="{FF2B5EF4-FFF2-40B4-BE49-F238E27FC236}">
                <a16:creationId xmlns:a16="http://schemas.microsoft.com/office/drawing/2014/main" id="{68CDBA22-AE55-C68A-132F-A826D0B0C740}"/>
              </a:ext>
            </a:extLst>
          </p:cNvPr>
          <p:cNvSpPr>
            <a:spLocks noGrp="1"/>
          </p:cNvSpPr>
          <p:nvPr>
            <p:ph type="dt" sz="half" idx="25"/>
          </p:nvPr>
        </p:nvSpPr>
        <p:spPr/>
        <p:txBody>
          <a:bodyPr/>
          <a:lstStyle/>
          <a:p>
            <a:fld id="{B1FCBD6E-7247-42A5-98FC-F30500AC62CE}" type="datetime1">
              <a:rPr lang="da-DK" smtClean="0"/>
              <a:t>03-09-2026</a:t>
            </a:fld>
            <a:endParaRPr lang="en-GB"/>
          </a:p>
        </p:txBody>
      </p:sp>
    </p:spTree>
    <p:extLst>
      <p:ext uri="{BB962C8B-B14F-4D97-AF65-F5344CB8AC3E}">
        <p14:creationId xmlns:p14="http://schemas.microsoft.com/office/powerpoint/2010/main" val="18863740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p15:clr>
            <a:srgbClr val="F26B43"/>
          </p15:clr>
        </p15:guide>
        <p15:guide id="2" pos="7522" userDrawn="1">
          <p15:clr>
            <a:srgbClr val="F26B43"/>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un titel">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297DEAA-3B7B-49C7-8C28-3F21F36A93D7}"/>
              </a:ext>
            </a:extLst>
          </p:cNvPr>
          <p:cNvSpPr>
            <a:spLocks noGrp="1"/>
          </p:cNvSpPr>
          <p:nvPr>
            <p:ph type="title"/>
          </p:nvPr>
        </p:nvSpPr>
        <p:spPr/>
        <p:txBody>
          <a:bodyPr/>
          <a:lstStyle/>
          <a:p>
            <a:r>
              <a:rPr lang="en-GB"/>
              <a:t>Click to edit Master title style</a:t>
            </a:r>
            <a:endParaRPr lang="en-GB" dirty="0"/>
          </a:p>
        </p:txBody>
      </p:sp>
      <p:sp>
        <p:nvSpPr>
          <p:cNvPr id="2" name="Footer Placeholder 1">
            <a:extLst>
              <a:ext uri="{FF2B5EF4-FFF2-40B4-BE49-F238E27FC236}">
                <a16:creationId xmlns:a16="http://schemas.microsoft.com/office/drawing/2014/main" id="{51F74546-9D06-4CF7-806D-E04B043BF5A5}"/>
              </a:ext>
            </a:extLst>
          </p:cNvPr>
          <p:cNvSpPr>
            <a:spLocks noGrp="1"/>
          </p:cNvSpPr>
          <p:nvPr>
            <p:ph type="ftr" sz="quarter" idx="10"/>
          </p:nvPr>
        </p:nvSpPr>
        <p:spPr/>
        <p:txBody>
          <a:bodyPr/>
          <a:lstStyle/>
          <a:p>
            <a:r>
              <a:rPr lang="en-US"/>
              <a:t>Game Theory in Electricity Markets - Week 1</a:t>
            </a:r>
            <a:endParaRPr lang="en-GB" dirty="0"/>
          </a:p>
        </p:txBody>
      </p:sp>
      <p:sp>
        <p:nvSpPr>
          <p:cNvPr id="6" name="Slide Number Placeholder 5">
            <a:extLst>
              <a:ext uri="{FF2B5EF4-FFF2-40B4-BE49-F238E27FC236}">
                <a16:creationId xmlns:a16="http://schemas.microsoft.com/office/drawing/2014/main" id="{42F53AB3-8AAF-469F-AD3F-AE5E1A39D7C8}"/>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3" name="Date Placeholder 2">
            <a:extLst>
              <a:ext uri="{FF2B5EF4-FFF2-40B4-BE49-F238E27FC236}">
                <a16:creationId xmlns:a16="http://schemas.microsoft.com/office/drawing/2014/main" id="{A2A33A1D-DD6A-46E6-9477-D1471332CB16}"/>
              </a:ext>
            </a:extLst>
          </p:cNvPr>
          <p:cNvSpPr>
            <a:spLocks noGrp="1"/>
          </p:cNvSpPr>
          <p:nvPr>
            <p:ph type="dt" sz="half" idx="12"/>
          </p:nvPr>
        </p:nvSpPr>
        <p:spPr/>
        <p:txBody>
          <a:bodyPr/>
          <a:lstStyle/>
          <a:p>
            <a:fld id="{769EF73A-9E5D-4805-BEF4-D62B7DE67521}" type="datetime1">
              <a:rPr lang="da-DK" smtClean="0"/>
              <a:t>03-09-2026</a:t>
            </a:fld>
            <a:endParaRPr lang="en-GB"/>
          </a:p>
        </p:txBody>
      </p:sp>
    </p:spTree>
    <p:extLst>
      <p:ext uri="{BB962C8B-B14F-4D97-AF65-F5344CB8AC3E}">
        <p14:creationId xmlns:p14="http://schemas.microsoft.com/office/powerpoint/2010/main" val="120845512"/>
      </p:ext>
    </p:extLst>
  </p:cSld>
  <p:clrMapOvr>
    <a:masterClrMapping/>
  </p:clrMapOvr>
  <p:extLst>
    <p:ext uri="{DCECCB84-F9BA-43D5-87BE-67443E8EF086}">
      <p15:sldGuideLst xmlns:p15="http://schemas.microsoft.com/office/powerpoint/2012/main">
        <p15:guide id="1" pos="1117" userDrawn="1">
          <p15:clr>
            <a:srgbClr val="F26B43"/>
          </p15:clr>
        </p15:guide>
        <p15:guide id="2" pos="6984" userDrawn="1">
          <p15:clr>
            <a:srgbClr val="F26B43"/>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ogo og footers">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AE75ABF-082F-4A38-B952-09157E37A81A}"/>
              </a:ext>
            </a:extLst>
          </p:cNvPr>
          <p:cNvSpPr>
            <a:spLocks noGrp="1"/>
          </p:cNvSpPr>
          <p:nvPr>
            <p:ph type="ftr" sz="quarter" idx="10"/>
          </p:nvPr>
        </p:nvSpPr>
        <p:spPr/>
        <p:txBody>
          <a:bodyPr/>
          <a:lstStyle/>
          <a:p>
            <a:r>
              <a:rPr lang="en-US"/>
              <a:t>Game Theory in Electricity Markets - Week 1</a:t>
            </a:r>
            <a:endParaRPr lang="en-GB" dirty="0"/>
          </a:p>
        </p:txBody>
      </p:sp>
      <p:sp>
        <p:nvSpPr>
          <p:cNvPr id="5" name="Slide Number Placeholder 4">
            <a:extLst>
              <a:ext uri="{FF2B5EF4-FFF2-40B4-BE49-F238E27FC236}">
                <a16:creationId xmlns:a16="http://schemas.microsoft.com/office/drawing/2014/main" id="{D0A39F3A-7714-4FD6-9132-D60FFA220D98}"/>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2" name="Date Placeholder 1">
            <a:extLst>
              <a:ext uri="{FF2B5EF4-FFF2-40B4-BE49-F238E27FC236}">
                <a16:creationId xmlns:a16="http://schemas.microsoft.com/office/drawing/2014/main" id="{46E183DE-20D3-DB32-ED9D-43A02E676CAC}"/>
              </a:ext>
            </a:extLst>
          </p:cNvPr>
          <p:cNvSpPr>
            <a:spLocks noGrp="1"/>
          </p:cNvSpPr>
          <p:nvPr>
            <p:ph type="dt" sz="half" idx="12"/>
          </p:nvPr>
        </p:nvSpPr>
        <p:spPr/>
        <p:txBody>
          <a:bodyPr/>
          <a:lstStyle/>
          <a:p>
            <a:fld id="{1E3CA2B6-9335-422D-A8BC-289E0F2E394B}" type="datetime1">
              <a:rPr lang="da-DK" smtClean="0"/>
              <a:t>03-09-2026</a:t>
            </a:fld>
            <a:endParaRPr lang="en-GB"/>
          </a:p>
        </p:txBody>
      </p:sp>
    </p:spTree>
    <p:extLst>
      <p:ext uri="{BB962C8B-B14F-4D97-AF65-F5344CB8AC3E}">
        <p14:creationId xmlns:p14="http://schemas.microsoft.com/office/powerpoint/2010/main" val="266926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ront/Pause A ">
    <p:spTree>
      <p:nvGrpSpPr>
        <p:cNvPr id="1" name=""/>
        <p:cNvGrpSpPr/>
        <p:nvPr/>
      </p:nvGrpSpPr>
      <p:grpSpPr>
        <a:xfrm>
          <a:off x="0" y="0"/>
          <a:ext cx="0" cy="0"/>
          <a:chOff x="0" y="0"/>
          <a:chExt cx="0" cy="0"/>
        </a:xfrm>
      </p:grpSpPr>
      <p:sp>
        <p:nvSpPr>
          <p:cNvPr id="9" name="Background">
            <a:extLst>
              <a:ext uri="{FF2B5EF4-FFF2-40B4-BE49-F238E27FC236}">
                <a16:creationId xmlns:a16="http://schemas.microsoft.com/office/drawing/2014/main" id="{AF9D3C51-A276-4E1F-B6B6-FD6A4E17EE28}"/>
              </a:ext>
            </a:extLst>
          </p:cNvPr>
          <p:cNvSpPr/>
          <p:nvPr userDrawn="1"/>
        </p:nvSpPr>
        <p:spPr bwMode="auto">
          <a:xfrm>
            <a:off x="0" y="0"/>
            <a:ext cx="12193200" cy="6861600"/>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4" name="Date Placeholder 2">
            <a:extLst>
              <a:ext uri="{FF2B5EF4-FFF2-40B4-BE49-F238E27FC236}">
                <a16:creationId xmlns:a16="http://schemas.microsoft.com/office/drawing/2014/main" id="{C9776080-6230-4AB8-AB28-4D6744DD01F9}"/>
              </a:ext>
            </a:extLst>
          </p:cNvPr>
          <p:cNvSpPr>
            <a:spLocks noGrp="1"/>
          </p:cNvSpPr>
          <p:nvPr>
            <p:ph type="dt" sz="half" idx="10"/>
          </p:nvPr>
        </p:nvSpPr>
        <p:spPr>
          <a:xfrm>
            <a:off x="0" y="6912000"/>
            <a:ext cx="0" cy="0"/>
          </a:xfrm>
          <a:prstGeom prst="rect">
            <a:avLst/>
          </a:prstGeom>
        </p:spPr>
        <p:txBody>
          <a:bodyPr/>
          <a:lstStyle>
            <a:lvl1pPr>
              <a:defRPr>
                <a:noFill/>
              </a:defRPr>
            </a:lvl1pPr>
          </a:lstStyle>
          <a:p>
            <a:fld id="{6A717C8A-1C4A-4080-851A-3770C4DFDEA4}" type="datetime1">
              <a:rPr lang="da-DK" smtClean="0"/>
              <a:t>03-09-2026</a:t>
            </a:fld>
            <a:endParaRPr lang="en-GB" dirty="0"/>
          </a:p>
        </p:txBody>
      </p:sp>
      <p:sp>
        <p:nvSpPr>
          <p:cNvPr id="5" name="Footer Placeholder 3">
            <a:extLst>
              <a:ext uri="{FF2B5EF4-FFF2-40B4-BE49-F238E27FC236}">
                <a16:creationId xmlns:a16="http://schemas.microsoft.com/office/drawing/2014/main" id="{2B7FFAE6-D148-4A15-9DFC-7D71B82020C9}"/>
              </a:ext>
            </a:extLst>
          </p:cNvPr>
          <p:cNvSpPr>
            <a:spLocks noGrp="1"/>
          </p:cNvSpPr>
          <p:nvPr>
            <p:ph type="ftr" sz="quarter" idx="11"/>
          </p:nvPr>
        </p:nvSpPr>
        <p:spPr>
          <a:xfrm>
            <a:off x="0" y="6912000"/>
            <a:ext cx="0" cy="0"/>
          </a:xfrm>
        </p:spPr>
        <p:txBody>
          <a:bodyPr/>
          <a:lstStyle>
            <a:lvl1pPr>
              <a:defRPr>
                <a:noFill/>
              </a:defRPr>
            </a:lvl1pPr>
          </a:lstStyle>
          <a:p>
            <a:r>
              <a:rPr lang="en-US"/>
              <a:t>Game Theory in Electricity Markets - Week 1</a:t>
            </a:r>
            <a:endParaRPr lang="en-GB" dirty="0"/>
          </a:p>
        </p:txBody>
      </p:sp>
      <p:sp>
        <p:nvSpPr>
          <p:cNvPr id="6" name="Slide Number Placeholder 4">
            <a:extLst>
              <a:ext uri="{FF2B5EF4-FFF2-40B4-BE49-F238E27FC236}">
                <a16:creationId xmlns:a16="http://schemas.microsoft.com/office/drawing/2014/main" id="{3125B57E-AFC7-4517-B327-461DB01D2867}"/>
              </a:ext>
            </a:extLst>
          </p:cNvPr>
          <p:cNvSpPr>
            <a:spLocks noGrp="1"/>
          </p:cNvSpPr>
          <p:nvPr>
            <p:ph type="sldNum" sz="quarter" idx="12"/>
          </p:nvPr>
        </p:nvSpPr>
        <p:spPr>
          <a:xfrm flipV="1">
            <a:off x="0" y="6912000"/>
            <a:ext cx="0" cy="0"/>
          </a:xfrm>
        </p:spPr>
        <p:txBody>
          <a:bodyPr/>
          <a:lstStyle>
            <a:lvl1pPr>
              <a:defRPr>
                <a:noFill/>
              </a:defRPr>
            </a:lvl1pPr>
          </a:lstStyle>
          <a:p>
            <a:fld id="{24C8C45C-947F-4981-8B3F-4F32E973C901}" type="slidenum">
              <a:rPr lang="en-GB" smtClean="0"/>
              <a:pPr/>
              <a:t>‹#›</a:t>
            </a:fld>
            <a:endParaRPr lang="en-GB" dirty="0"/>
          </a:p>
        </p:txBody>
      </p:sp>
      <p:sp>
        <p:nvSpPr>
          <p:cNvPr id="10" name="Logo color">
            <a:extLst>
              <a:ext uri="{FF2B5EF4-FFF2-40B4-BE49-F238E27FC236}">
                <a16:creationId xmlns:a16="http://schemas.microsoft.com/office/drawing/2014/main" id="{B0EE486B-843B-49D6-90AE-5093AB56E30F}"/>
              </a:ext>
            </a:extLst>
          </p:cNvPr>
          <p:cNvSpPr>
            <a:spLocks noChangeAspect="1"/>
          </p:cNvSpPr>
          <p:nvPr userDrawn="1">
            <p:custDataLst>
              <p:tags r:id="rId1"/>
            </p:custDataLst>
          </p:nvPr>
        </p:nvSpPr>
        <p:spPr bwMode="auto">
          <a:xfrm>
            <a:off x="4870539" y="1651373"/>
            <a:ext cx="2388323" cy="3483354"/>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dirty="0"/>
          </a:p>
        </p:txBody>
      </p:sp>
    </p:spTree>
    <p:extLst>
      <p:ext uri="{BB962C8B-B14F-4D97-AF65-F5344CB8AC3E}">
        <p14:creationId xmlns:p14="http://schemas.microsoft.com/office/powerpoint/2010/main" val="2321786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ront/Pause B">
    <p:bg>
      <p:bgRef idx="1001">
        <a:schemeClr val="bg1"/>
      </p:bgRef>
    </p:bg>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A3420087-96DF-432F-B192-585D42BF6A4E}"/>
              </a:ext>
            </a:extLst>
          </p:cNvPr>
          <p:cNvSpPr/>
          <p:nvPr userDrawn="1"/>
        </p:nvSpPr>
        <p:spPr bwMode="auto">
          <a:xfrm>
            <a:off x="0" y="0"/>
            <a:ext cx="12193200" cy="6861600"/>
          </a:xfrm>
          <a:prstGeom prst="rect">
            <a:avLst/>
          </a:prstGeom>
          <a:solidFill>
            <a:schemeClr val="bg1"/>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13" name="Logo color">
            <a:extLst>
              <a:ext uri="{FF2B5EF4-FFF2-40B4-BE49-F238E27FC236}">
                <a16:creationId xmlns:a16="http://schemas.microsoft.com/office/drawing/2014/main" id="{09BBEE10-6A59-474F-B766-7643F97F869F}"/>
              </a:ext>
            </a:extLst>
          </p:cNvPr>
          <p:cNvSpPr>
            <a:spLocks noChangeAspect="1"/>
          </p:cNvSpPr>
          <p:nvPr userDrawn="1">
            <p:custDataLst>
              <p:tags r:id="rId1"/>
            </p:custDataLst>
          </p:nvPr>
        </p:nvSpPr>
        <p:spPr bwMode="auto">
          <a:xfrm>
            <a:off x="4870539" y="1651373"/>
            <a:ext cx="2388323" cy="3483354"/>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990000"/>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6" name="Date Placeholder 2">
            <a:extLst>
              <a:ext uri="{FF2B5EF4-FFF2-40B4-BE49-F238E27FC236}">
                <a16:creationId xmlns:a16="http://schemas.microsoft.com/office/drawing/2014/main" id="{AF062B26-8169-4B93-8FD8-CFDB0855A961}"/>
              </a:ext>
            </a:extLst>
          </p:cNvPr>
          <p:cNvSpPr>
            <a:spLocks noGrp="1"/>
          </p:cNvSpPr>
          <p:nvPr>
            <p:ph type="dt" sz="half" idx="10"/>
          </p:nvPr>
        </p:nvSpPr>
        <p:spPr>
          <a:xfrm>
            <a:off x="0" y="6912000"/>
            <a:ext cx="0" cy="0"/>
          </a:xfrm>
          <a:prstGeom prst="rect">
            <a:avLst/>
          </a:prstGeom>
        </p:spPr>
        <p:txBody>
          <a:bodyPr/>
          <a:lstStyle>
            <a:lvl1pPr>
              <a:defRPr>
                <a:noFill/>
              </a:defRPr>
            </a:lvl1pPr>
          </a:lstStyle>
          <a:p>
            <a:fld id="{F2086FEF-CFE7-44C2-B7ED-627081236CC6}" type="datetime1">
              <a:rPr lang="da-DK" smtClean="0"/>
              <a:t>03-09-2026</a:t>
            </a:fld>
            <a:endParaRPr lang="en-GB" dirty="0"/>
          </a:p>
        </p:txBody>
      </p:sp>
      <p:sp>
        <p:nvSpPr>
          <p:cNvPr id="7" name="Footer Placeholder 3">
            <a:extLst>
              <a:ext uri="{FF2B5EF4-FFF2-40B4-BE49-F238E27FC236}">
                <a16:creationId xmlns:a16="http://schemas.microsoft.com/office/drawing/2014/main" id="{CA59923C-6F09-424E-AF1E-AC62326A9B2B}"/>
              </a:ext>
            </a:extLst>
          </p:cNvPr>
          <p:cNvSpPr>
            <a:spLocks noGrp="1"/>
          </p:cNvSpPr>
          <p:nvPr>
            <p:ph type="ftr" sz="quarter" idx="11"/>
          </p:nvPr>
        </p:nvSpPr>
        <p:spPr>
          <a:xfrm>
            <a:off x="0" y="6912000"/>
            <a:ext cx="0" cy="0"/>
          </a:xfrm>
        </p:spPr>
        <p:txBody>
          <a:bodyPr/>
          <a:lstStyle>
            <a:lvl1pPr>
              <a:defRPr>
                <a:noFill/>
              </a:defRPr>
            </a:lvl1pPr>
          </a:lstStyle>
          <a:p>
            <a:r>
              <a:rPr lang="en-US"/>
              <a:t>Game Theory in Electricity Markets - Week 1</a:t>
            </a:r>
            <a:endParaRPr lang="en-GB" dirty="0"/>
          </a:p>
        </p:txBody>
      </p:sp>
      <p:sp>
        <p:nvSpPr>
          <p:cNvPr id="9" name="Slide Number Placeholder 4">
            <a:extLst>
              <a:ext uri="{FF2B5EF4-FFF2-40B4-BE49-F238E27FC236}">
                <a16:creationId xmlns:a16="http://schemas.microsoft.com/office/drawing/2014/main" id="{4C299FA2-BF46-4410-B2CD-E3C80B7A9893}"/>
              </a:ext>
            </a:extLst>
          </p:cNvPr>
          <p:cNvSpPr>
            <a:spLocks noGrp="1"/>
          </p:cNvSpPr>
          <p:nvPr>
            <p:ph type="sldNum" sz="quarter" idx="12"/>
          </p:nvPr>
        </p:nvSpPr>
        <p:spPr>
          <a:xfrm flipV="1">
            <a:off x="0" y="6912000"/>
            <a:ext cx="0" cy="0"/>
          </a:xfrm>
        </p:spPr>
        <p:txBody>
          <a:bodyPr/>
          <a:lstStyle>
            <a:lvl1pPr>
              <a:defRPr>
                <a:noFill/>
              </a:defRPr>
            </a:lvl1pPr>
          </a:lstStyle>
          <a:p>
            <a:fld id="{24C8C45C-947F-4981-8B3F-4F32E973C901}" type="slidenum">
              <a:rPr lang="en-GB" smtClean="0"/>
              <a:pPr/>
              <a:t>‹#›</a:t>
            </a:fld>
            <a:endParaRPr lang="en-GB" dirty="0"/>
          </a:p>
        </p:txBody>
      </p:sp>
      <p:sp>
        <p:nvSpPr>
          <p:cNvPr id="11" name="Bottom bar">
            <a:extLst>
              <a:ext uri="{FF2B5EF4-FFF2-40B4-BE49-F238E27FC236}">
                <a16:creationId xmlns:a16="http://schemas.microsoft.com/office/drawing/2014/main" id="{495865CE-5BE9-4122-8AB8-48E534DD88F7}"/>
              </a:ext>
            </a:extLst>
          </p:cNvPr>
          <p:cNvSpPr/>
          <p:nvPr userDrawn="1"/>
        </p:nvSpPr>
        <p:spPr bwMode="auto">
          <a:xfrm>
            <a:off x="0" y="6541200"/>
            <a:ext cx="12193200" cy="316800"/>
          </a:xfrm>
          <a:prstGeom prst="rect">
            <a:avLst/>
          </a:prstGeom>
          <a:solidFill>
            <a:srgbClr val="990000"/>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err="1">
              <a:ln>
                <a:noFill/>
              </a:ln>
              <a:solidFill>
                <a:srgbClr val="FFFFFF"/>
              </a:solidFill>
              <a:effectLst/>
              <a:latin typeface="+mn-lt"/>
              <a:ea typeface="ＭＳ Ｐゴシック" pitchFamily="-80" charset="-128"/>
            </a:endParaRPr>
          </a:p>
        </p:txBody>
      </p:sp>
      <p:sp>
        <p:nvSpPr>
          <p:cNvPr id="12" name="Top bar">
            <a:extLst>
              <a:ext uri="{FF2B5EF4-FFF2-40B4-BE49-F238E27FC236}">
                <a16:creationId xmlns:a16="http://schemas.microsoft.com/office/drawing/2014/main" id="{0D436479-94F3-475C-8F8D-D3CDC81793FD}"/>
              </a:ext>
            </a:extLst>
          </p:cNvPr>
          <p:cNvSpPr/>
          <p:nvPr userDrawn="1"/>
        </p:nvSpPr>
        <p:spPr bwMode="auto">
          <a:xfrm>
            <a:off x="0" y="0"/>
            <a:ext cx="12193200" cy="50400"/>
          </a:xfrm>
          <a:prstGeom prst="rect">
            <a:avLst/>
          </a:prstGeom>
          <a:solidFill>
            <a:srgbClr val="990000"/>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err="1">
              <a:ln>
                <a:noFill/>
              </a:ln>
              <a:solidFill>
                <a:srgbClr val="FFFFFF"/>
              </a:solidFill>
              <a:effectLst/>
              <a:latin typeface="+mn-lt"/>
              <a:ea typeface="ＭＳ Ｐゴシック" pitchFamily="-80" charset="-128"/>
            </a:endParaRPr>
          </a:p>
        </p:txBody>
      </p:sp>
    </p:spTree>
    <p:extLst>
      <p:ext uri="{BB962C8B-B14F-4D97-AF65-F5344CB8AC3E}">
        <p14:creationId xmlns:p14="http://schemas.microsoft.com/office/powerpoint/2010/main" val="349637618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Bottom bar">
            <a:extLst>
              <a:ext uri="{FF2B5EF4-FFF2-40B4-BE49-F238E27FC236}">
                <a16:creationId xmlns:a16="http://schemas.microsoft.com/office/drawing/2014/main" id="{FFFFD011-0D94-46EE-B45C-787FE82C3B5E}"/>
              </a:ext>
            </a:extLst>
          </p:cNvPr>
          <p:cNvSpPr/>
          <p:nvPr userDrawn="1"/>
        </p:nvSpPr>
        <p:spPr bwMode="auto">
          <a:xfrm>
            <a:off x="0" y="6541200"/>
            <a:ext cx="12193200" cy="316800"/>
          </a:xfrm>
          <a:prstGeom prst="rect">
            <a:avLst/>
          </a:prstGeom>
          <a:solidFill>
            <a:srgbClr val="990000"/>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a:ln>
                <a:noFill/>
              </a:ln>
              <a:solidFill>
                <a:schemeClr val="bg1"/>
              </a:solidFill>
              <a:effectLst/>
              <a:latin typeface="+mn-lt"/>
              <a:ea typeface="ＭＳ Ｐゴシック" pitchFamily="-80" charset="-128"/>
            </a:endParaRPr>
          </a:p>
        </p:txBody>
      </p:sp>
      <p:sp>
        <p:nvSpPr>
          <p:cNvPr id="19" name="Logo color">
            <a:extLst>
              <a:ext uri="{FF2B5EF4-FFF2-40B4-BE49-F238E27FC236}">
                <a16:creationId xmlns:a16="http://schemas.microsoft.com/office/drawing/2014/main" id="{ADC92552-7939-46C1-AAFE-B97F51EBFFE9}"/>
              </a:ext>
            </a:extLst>
          </p:cNvPr>
          <p:cNvSpPr>
            <a:spLocks noChangeAspect="1"/>
          </p:cNvSpPr>
          <p:nvPr userDrawn="1">
            <p:custDataLst>
              <p:tags r:id="rId13"/>
            </p:custDataLst>
          </p:nvPr>
        </p:nvSpPr>
        <p:spPr bwMode="auto">
          <a:xfrm>
            <a:off x="252000" y="252000"/>
            <a:ext cx="419611"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99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GB"/>
          </a:p>
        </p:txBody>
      </p:sp>
      <p:sp>
        <p:nvSpPr>
          <p:cNvPr id="3" name="FLD_Presentation Title"/>
          <p:cNvSpPr>
            <a:spLocks noGrp="1"/>
          </p:cNvSpPr>
          <p:nvPr>
            <p:ph type="ftr" sz="quarter" idx="3"/>
          </p:nvPr>
        </p:nvSpPr>
        <p:spPr>
          <a:xfrm>
            <a:off x="5590800" y="6541200"/>
            <a:ext cx="5497200" cy="316800"/>
          </a:xfrm>
          <a:prstGeom prst="rect">
            <a:avLst/>
          </a:prstGeom>
        </p:spPr>
        <p:txBody>
          <a:bodyPr vert="horz" lIns="0" tIns="0" rIns="0" bIns="0" rtlCol="0" anchor="ctr" anchorCtr="0"/>
          <a:lstStyle>
            <a:lvl1pPr algn="r">
              <a:spcBef>
                <a:spcPts val="0"/>
              </a:spcBef>
              <a:defRPr sz="700" b="0">
                <a:solidFill>
                  <a:schemeClr val="bg1"/>
                </a:solidFill>
                <a:latin typeface="+mn-lt"/>
              </a:defRPr>
            </a:lvl1pPr>
          </a:lstStyle>
          <a:p>
            <a:r>
              <a:rPr lang="en-US"/>
              <a:t>Game Theory in Electricity Markets - Week 1</a:t>
            </a:r>
            <a:endParaRPr lang="da-DK" dirty="0"/>
          </a:p>
        </p:txBody>
      </p:sp>
      <p:sp>
        <p:nvSpPr>
          <p:cNvPr id="4" name="Slide Number Placeholder 3"/>
          <p:cNvSpPr>
            <a:spLocks noGrp="1"/>
          </p:cNvSpPr>
          <p:nvPr>
            <p:ph type="sldNum" sz="quarter" idx="4"/>
          </p:nvPr>
        </p:nvSpPr>
        <p:spPr>
          <a:xfrm>
            <a:off x="11506450" y="6541200"/>
            <a:ext cx="432600" cy="316800"/>
          </a:xfrm>
          <a:prstGeom prst="rect">
            <a:avLst/>
          </a:prstGeom>
        </p:spPr>
        <p:txBody>
          <a:bodyPr vert="horz" lIns="0" tIns="0" rIns="0" bIns="0" rtlCol="0" anchor="ctr" anchorCtr="0"/>
          <a:lstStyle>
            <a:lvl1pPr algn="l">
              <a:defRPr sz="700" b="1">
                <a:solidFill>
                  <a:schemeClr val="bg1"/>
                </a:solidFill>
                <a:latin typeface="+mn-lt"/>
              </a:defRPr>
            </a:lvl1pPr>
          </a:lstStyle>
          <a:p>
            <a:fld id="{103EA872-A674-449B-A120-B97244F8E91D}" type="slidenum">
              <a:rPr lang="da-DK" smtClean="0"/>
              <a:pPr/>
              <a:t>‹#›</a:t>
            </a:fld>
            <a:endParaRPr lang="da-DK" dirty="0"/>
          </a:p>
        </p:txBody>
      </p:sp>
      <p:sp>
        <p:nvSpPr>
          <p:cNvPr id="113666" name="Rectangle 2"/>
          <p:cNvSpPr>
            <a:spLocks noGrp="1" noChangeArrowheads="1"/>
          </p:cNvSpPr>
          <p:nvPr>
            <p:ph type="title"/>
          </p:nvPr>
        </p:nvSpPr>
        <p:spPr bwMode="auto">
          <a:xfrm>
            <a:off x="1774726" y="426127"/>
            <a:ext cx="9312374" cy="9727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p>
            <a:pPr lvl="0"/>
            <a:r>
              <a:rPr lang="en-GB"/>
              <a:t>Click to edit Master title style</a:t>
            </a:r>
            <a:endParaRPr lang="da-DK" dirty="0"/>
          </a:p>
        </p:txBody>
      </p:sp>
      <p:sp>
        <p:nvSpPr>
          <p:cNvPr id="113667" name="Rectangle 3"/>
          <p:cNvSpPr>
            <a:spLocks noGrp="1" noChangeArrowheads="1"/>
          </p:cNvSpPr>
          <p:nvPr>
            <p:ph type="body" idx="1"/>
          </p:nvPr>
        </p:nvSpPr>
        <p:spPr bwMode="auto">
          <a:xfrm>
            <a:off x="1774726" y="1706328"/>
            <a:ext cx="9312374" cy="4545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3676" name="text" descr="{&quot;templafy&quot;:{&quot;type&quot;:&quot;text&quot;,&quot;binding&quot;:&quot;UserProfile.Offices.Workarea_{{DocumentLanguage}}&quot;}}" title="UserProfile.Offices.Workarea_{{DocumentLanguage}}"/>
          <p:cNvSpPr>
            <a:spLocks noChangeArrowheads="1"/>
          </p:cNvSpPr>
          <p:nvPr/>
        </p:nvSpPr>
        <p:spPr bwMode="auto">
          <a:xfrm>
            <a:off x="1774726" y="6541200"/>
            <a:ext cx="3397071" cy="31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nchorCtr="0"/>
          <a:lstStyle/>
          <a:p>
            <a:pPr marL="0" marR="0" lvl="0" indent="0" algn="l" defTabSz="914400" rtl="0" eaLnBrk="0" fontAlgn="base" latinLnBrk="0" hangingPunct="0">
              <a:lnSpc>
                <a:spcPct val="100000"/>
              </a:lnSpc>
              <a:spcBef>
                <a:spcPct val="0"/>
              </a:spcBef>
              <a:spcAft>
                <a:spcPct val="0"/>
              </a:spcAft>
              <a:buClrTx/>
              <a:buSzTx/>
              <a:buFontTx/>
              <a:buNone/>
              <a:tabLst/>
              <a:defRPr/>
            </a:pPr>
            <a:r>
              <a:rPr lang="da-DK" sz="700" b="1" dirty="0">
                <a:solidFill>
                  <a:schemeClr val="bg1"/>
                </a:solidFill>
                <a:latin typeface="+mn-lt"/>
              </a:rPr>
              <a:t>Technical University of Denmark</a:t>
            </a:r>
          </a:p>
        </p:txBody>
      </p:sp>
      <p:sp>
        <p:nvSpPr>
          <p:cNvPr id="5" name="date" descr="{&quot;templafy&quot;:{&quot;type&quot;:&quot;date&quot;,&quot;binding&quot;:&quot;Form.Date&quot;,&quot;format&quot;:&quot;{{DateFormats.GeneralDate}}&quot;}}" title="Form.Date">
            <a:extLst>
              <a:ext uri="{FF2B5EF4-FFF2-40B4-BE49-F238E27FC236}">
                <a16:creationId xmlns:a16="http://schemas.microsoft.com/office/drawing/2014/main" id="{792B975C-625D-4095-8E1D-63F20A11B57C}"/>
              </a:ext>
            </a:extLst>
          </p:cNvPr>
          <p:cNvSpPr/>
          <p:nvPr userDrawn="1"/>
        </p:nvSpPr>
        <p:spPr bwMode="auto">
          <a:xfrm>
            <a:off x="251363" y="6541200"/>
            <a:ext cx="1104013" cy="316800"/>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r" defTabSz="914400" rtl="0" eaLnBrk="1" fontAlgn="base" latinLnBrk="0" hangingPunct="1">
              <a:lnSpc>
                <a:spcPct val="100000"/>
              </a:lnSpc>
              <a:spcBef>
                <a:spcPct val="50000"/>
              </a:spcBef>
              <a:spcAft>
                <a:spcPct val="0"/>
              </a:spcAft>
              <a:buClrTx/>
              <a:buSzTx/>
              <a:buFontTx/>
              <a:buNone/>
              <a:tabLst/>
            </a:pPr>
            <a:endParaRPr kumimoji="0" lang="da-DK" sz="700" b="1" i="0" u="none" strike="noStrike" cap="none" normalizeH="0" baseline="0" dirty="0">
              <a:ln>
                <a:noFill/>
              </a:ln>
              <a:solidFill>
                <a:schemeClr val="bg1"/>
              </a:solidFill>
              <a:effectLst/>
              <a:latin typeface="+mj-lt"/>
              <a:ea typeface="ＭＳ Ｐゴシック" pitchFamily="-80" charset="-128"/>
            </a:endParaRPr>
          </a:p>
        </p:txBody>
      </p:sp>
      <p:sp>
        <p:nvSpPr>
          <p:cNvPr id="7" name="text" descr="{&quot;templafy&quot;:{&quot;binding&quot;:&quot;Form.PresentationTitle&quot;,&quot;type&quot;:&quot;text&quot;}}" title="Form.PresentationTitle">
            <a:extLst>
              <a:ext uri="{FF2B5EF4-FFF2-40B4-BE49-F238E27FC236}">
                <a16:creationId xmlns:a16="http://schemas.microsoft.com/office/drawing/2014/main" id="{06B09BDB-1C7D-4F8A-8F1B-82D88054A428}"/>
              </a:ext>
            </a:extLst>
          </p:cNvPr>
          <p:cNvSpPr txBox="1"/>
          <p:nvPr userDrawn="1"/>
        </p:nvSpPr>
        <p:spPr>
          <a:xfrm>
            <a:off x="5591149" y="6541200"/>
            <a:ext cx="5495949" cy="316800"/>
          </a:xfrm>
          <a:prstGeom prst="rect">
            <a:avLst/>
          </a:prstGeom>
          <a:noFill/>
        </p:spPr>
        <p:txBody>
          <a:bodyPr wrap="square" lIns="0" tIns="0" rIns="0" bIns="0" rtlCol="0" anchor="ctr" anchorCtr="0">
            <a:noAutofit/>
          </a:bodyPr>
          <a:lstStyle/>
          <a:p>
            <a:pPr algn="r"/>
            <a:endParaRPr lang="da-DK" sz="700" dirty="0">
              <a:solidFill>
                <a:schemeClr val="bg1"/>
              </a:solidFill>
              <a:latin typeface="+mn-lt"/>
            </a:endParaRPr>
          </a:p>
        </p:txBody>
      </p:sp>
      <p:sp>
        <p:nvSpPr>
          <p:cNvPr id="2" name="Top bar">
            <a:extLst>
              <a:ext uri="{FF2B5EF4-FFF2-40B4-BE49-F238E27FC236}">
                <a16:creationId xmlns:a16="http://schemas.microsoft.com/office/drawing/2014/main" id="{35912424-89BF-4A93-9096-3282916C71FE}"/>
              </a:ext>
            </a:extLst>
          </p:cNvPr>
          <p:cNvSpPr/>
          <p:nvPr userDrawn="1"/>
        </p:nvSpPr>
        <p:spPr bwMode="auto">
          <a:xfrm>
            <a:off x="0" y="0"/>
            <a:ext cx="12193200" cy="50400"/>
          </a:xfrm>
          <a:prstGeom prst="rect">
            <a:avLst/>
          </a:prstGeom>
          <a:solidFill>
            <a:srgbClr val="990000"/>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err="1">
              <a:ln>
                <a:noFill/>
              </a:ln>
              <a:solidFill>
                <a:srgbClr val="FFFFFF"/>
              </a:solidFill>
              <a:effectLst/>
              <a:latin typeface="+mn-lt"/>
              <a:ea typeface="ＭＳ Ｐゴシック" pitchFamily="-80" charset="-128"/>
            </a:endParaRPr>
          </a:p>
        </p:txBody>
      </p:sp>
      <p:sp>
        <p:nvSpPr>
          <p:cNvPr id="6" name="Date Placeholder 5">
            <a:extLst>
              <a:ext uri="{FF2B5EF4-FFF2-40B4-BE49-F238E27FC236}">
                <a16:creationId xmlns:a16="http://schemas.microsoft.com/office/drawing/2014/main" id="{514E9AE0-170F-0C2B-DFF5-DC7F65F4B1FF}"/>
              </a:ext>
            </a:extLst>
          </p:cNvPr>
          <p:cNvSpPr>
            <a:spLocks noGrp="1"/>
          </p:cNvSpPr>
          <p:nvPr>
            <p:ph type="dt" sz="half" idx="2"/>
          </p:nvPr>
        </p:nvSpPr>
        <p:spPr>
          <a:xfrm>
            <a:off x="252000" y="6541200"/>
            <a:ext cx="1105200" cy="316800"/>
          </a:xfrm>
          <a:prstGeom prst="rect">
            <a:avLst/>
          </a:prstGeom>
        </p:spPr>
        <p:txBody>
          <a:bodyPr vert="horz" lIns="0" tIns="0" rIns="0" bIns="0" rtlCol="0" anchor="ctr"/>
          <a:lstStyle>
            <a:lvl1pPr algn="r">
              <a:defRPr sz="700" b="1">
                <a:solidFill>
                  <a:schemeClr val="bg1"/>
                </a:solidFill>
                <a:latin typeface="+mj-lt"/>
              </a:defRPr>
            </a:lvl1pPr>
          </a:lstStyle>
          <a:p>
            <a:fld id="{10632028-DBB3-4F6E-A766-16920CC97322}" type="datetime1">
              <a:rPr lang="da-DK" smtClean="0"/>
              <a:t>03-09-2026</a:t>
            </a:fld>
            <a:endParaRPr lang="en-GB"/>
          </a:p>
        </p:txBody>
      </p:sp>
    </p:spTree>
    <p:extLst>
      <p:ext uri="{BB962C8B-B14F-4D97-AF65-F5344CB8AC3E}">
        <p14:creationId xmlns:p14="http://schemas.microsoft.com/office/powerpoint/2010/main" val="2454702602"/>
      </p:ext>
    </p:extLst>
  </p:cSld>
  <p:clrMap bg1="lt1" tx1="dk1" bg2="lt2" tx2="dk2" accent1="accent1" accent2="accent2" accent3="accent3" accent4="accent4" accent5="accent5" accent6="accent6" hlink="hlink" folHlink="folHlink"/>
  <p:sldLayoutIdLst>
    <p:sldLayoutId id="2147483663" r:id="rId1"/>
    <p:sldLayoutId id="2147483671" r:id="rId2"/>
    <p:sldLayoutId id="2147483664" r:id="rId3"/>
    <p:sldLayoutId id="2147483677" r:id="rId4"/>
    <p:sldLayoutId id="2147483672" r:id="rId5"/>
    <p:sldLayoutId id="2147483673" r:id="rId6"/>
    <p:sldLayoutId id="2147483676" r:id="rId7"/>
    <p:sldLayoutId id="2147483666" r:id="rId8"/>
    <p:sldLayoutId id="2147483667" r:id="rId9"/>
    <p:sldLayoutId id="2147483668" r:id="rId10"/>
    <p:sldLayoutId id="2147483669" r:id="rId11"/>
  </p:sldLayoutIdLst>
  <p:hf hdr="0"/>
  <p:txStyles>
    <p:titleStyle>
      <a:lvl1pPr algn="l" rtl="0" eaLnBrk="1" fontAlgn="base" hangingPunct="1">
        <a:spcBef>
          <a:spcPct val="0"/>
        </a:spcBef>
        <a:spcAft>
          <a:spcPct val="0"/>
        </a:spcAft>
        <a:defRPr sz="3000" b="1">
          <a:solidFill>
            <a:srgbClr val="000000"/>
          </a:solidFill>
          <a:latin typeface="+mj-lt"/>
          <a:ea typeface="+mj-ea"/>
          <a:cs typeface="+mj-cs"/>
        </a:defRPr>
      </a:lvl1pPr>
      <a:lvl2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2pPr>
      <a:lvl3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3pPr>
      <a:lvl4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4pPr>
      <a:lvl5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5pPr>
      <a:lvl6pPr marL="4572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6pPr>
      <a:lvl7pPr marL="9144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7pPr>
      <a:lvl8pPr marL="13716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8pPr>
      <a:lvl9pPr marL="18288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9pPr>
    </p:titleStyle>
    <p:bodyStyle>
      <a:lvl1pPr marL="198000" indent="-198000" algn="l" rtl="0" eaLnBrk="1" fontAlgn="base" hangingPunct="1">
        <a:spcBef>
          <a:spcPct val="20000"/>
        </a:spcBef>
        <a:spcAft>
          <a:spcPct val="0"/>
        </a:spcAft>
        <a:buChar char="•"/>
        <a:defRPr sz="1800">
          <a:solidFill>
            <a:schemeClr val="tx1"/>
          </a:solidFill>
          <a:latin typeface="+mn-lt"/>
          <a:ea typeface="+mn-ea"/>
          <a:cs typeface="+mn-cs"/>
        </a:defRPr>
      </a:lvl1pPr>
      <a:lvl2pPr marL="414000" indent="-198000" algn="l" rtl="0" eaLnBrk="1" fontAlgn="base" hangingPunct="1">
        <a:spcBef>
          <a:spcPct val="20000"/>
        </a:spcBef>
        <a:spcAft>
          <a:spcPct val="0"/>
        </a:spcAft>
        <a:buChar char="–"/>
        <a:defRPr sz="1800">
          <a:solidFill>
            <a:schemeClr val="tx1"/>
          </a:solidFill>
          <a:latin typeface="+mn-lt"/>
          <a:ea typeface="+mn-ea"/>
        </a:defRPr>
      </a:lvl2pPr>
      <a:lvl3pPr marL="615600" indent="-198000" algn="l" rtl="0" eaLnBrk="1" fontAlgn="base" hangingPunct="1">
        <a:spcBef>
          <a:spcPct val="20000"/>
        </a:spcBef>
        <a:spcAft>
          <a:spcPct val="0"/>
        </a:spcAft>
        <a:buChar char="•"/>
        <a:defRPr sz="1800">
          <a:solidFill>
            <a:schemeClr val="tx1"/>
          </a:solidFill>
          <a:latin typeface="+mn-lt"/>
          <a:ea typeface="+mn-ea"/>
        </a:defRPr>
      </a:lvl3pPr>
      <a:lvl4pPr marL="828000" indent="-198000" algn="l" rtl="0" eaLnBrk="1" fontAlgn="base" hangingPunct="1">
        <a:spcBef>
          <a:spcPct val="20000"/>
        </a:spcBef>
        <a:spcAft>
          <a:spcPct val="0"/>
        </a:spcAft>
        <a:buChar char="–"/>
        <a:defRPr sz="1800">
          <a:solidFill>
            <a:schemeClr val="tx1"/>
          </a:solidFill>
          <a:latin typeface="+mn-lt"/>
          <a:ea typeface="+mn-ea"/>
        </a:defRPr>
      </a:lvl4pPr>
      <a:lvl5pPr marL="1026000" indent="-198000" algn="l" rtl="0" eaLnBrk="1" fontAlgn="base" hangingPunct="1">
        <a:spcBef>
          <a:spcPct val="20000"/>
        </a:spcBef>
        <a:spcAft>
          <a:spcPct val="0"/>
        </a:spcAft>
        <a:buChar char="»"/>
        <a:defRPr sz="1800">
          <a:solidFill>
            <a:schemeClr val="tx1"/>
          </a:solidFill>
          <a:latin typeface="+mn-lt"/>
          <a:ea typeface="+mn-ea"/>
        </a:defRPr>
      </a:lvl5pPr>
      <a:lvl6pPr marL="1026000" indent="-198000" algn="l" rtl="0" eaLnBrk="1" fontAlgn="base" hangingPunct="1">
        <a:spcBef>
          <a:spcPct val="20000"/>
        </a:spcBef>
        <a:spcAft>
          <a:spcPct val="0"/>
        </a:spcAft>
        <a:buChar char="»"/>
        <a:defRPr sz="1800">
          <a:solidFill>
            <a:schemeClr val="tx1"/>
          </a:solidFill>
          <a:latin typeface="+mn-lt"/>
          <a:ea typeface="+mn-ea"/>
        </a:defRPr>
      </a:lvl6pPr>
      <a:lvl7pPr marL="1026000" indent="-198000" algn="l" rtl="0" eaLnBrk="1" fontAlgn="base" hangingPunct="1">
        <a:spcBef>
          <a:spcPct val="20000"/>
        </a:spcBef>
        <a:spcAft>
          <a:spcPct val="0"/>
        </a:spcAft>
        <a:buChar char="»"/>
        <a:defRPr sz="1800">
          <a:solidFill>
            <a:schemeClr val="tx1"/>
          </a:solidFill>
          <a:latin typeface="+mn-lt"/>
          <a:ea typeface="+mn-ea"/>
        </a:defRPr>
      </a:lvl7pPr>
      <a:lvl8pPr marL="1026000" indent="-198000" algn="l" rtl="0" eaLnBrk="1" fontAlgn="base" hangingPunct="1">
        <a:spcBef>
          <a:spcPct val="20000"/>
        </a:spcBef>
        <a:spcAft>
          <a:spcPct val="0"/>
        </a:spcAft>
        <a:buChar char="»"/>
        <a:defRPr sz="1800">
          <a:solidFill>
            <a:schemeClr val="tx1"/>
          </a:solidFill>
          <a:latin typeface="+mn-lt"/>
          <a:ea typeface="+mn-ea"/>
        </a:defRPr>
      </a:lvl8pPr>
      <a:lvl9pPr marL="1026000" indent="-198000" algn="l" rtl="0" eaLnBrk="1" fontAlgn="base" hangingPunct="1">
        <a:spcBef>
          <a:spcPct val="20000"/>
        </a:spcBef>
        <a:spcAft>
          <a:spcPct val="0"/>
        </a:spcAft>
        <a:buChar char="»"/>
        <a:defRPr sz="1800">
          <a:solidFill>
            <a:schemeClr val="tx1"/>
          </a:solidFill>
          <a:latin typeface="+mn-lt"/>
          <a:ea typeface="+mn-ea"/>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68" userDrawn="1">
          <p15:clr>
            <a:srgbClr val="F26B43"/>
          </p15:clr>
        </p15:guide>
        <p15:guide id="4" orient="horz" pos="881" userDrawn="1">
          <p15:clr>
            <a:srgbClr val="F26B43"/>
          </p15:clr>
        </p15:guide>
        <p15:guide id="5" orient="horz" pos="1074" userDrawn="1">
          <p15:clr>
            <a:srgbClr val="F26B43"/>
          </p15:clr>
        </p15:guide>
        <p15:guide id="6" orient="horz" pos="393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13.xml"/><Relationship Id="rId1" Type="http://schemas.openxmlformats.org/officeDocument/2006/relationships/customXml" Target="../../customXml/item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hyperlink" Target="https://www.britannica.com/"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17.xml"/><Relationship Id="rId1" Type="http://schemas.openxmlformats.org/officeDocument/2006/relationships/customXml" Target="../../customXml/item14.xm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16.xml"/><Relationship Id="rId1" Type="http://schemas.openxmlformats.org/officeDocument/2006/relationships/customXml" Target="../../customXml/item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3.xml"/><Relationship Id="rId1" Type="http://schemas.openxmlformats.org/officeDocument/2006/relationships/customXml" Target="../../customXml/item5.xml"/></Relationships>
</file>

<file path=ppt/slides/_rels/slide1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12.xml"/><Relationship Id="rId1" Type="http://schemas.openxmlformats.org/officeDocument/2006/relationships/customXml" Target="../../customXml/item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TbuD-6BbnQw&amp;t=184s" TargetMode="External"/><Relationship Id="rId2" Type="http://schemas.openxmlformats.org/officeDocument/2006/relationships/hyperlink" Target="https://www.youtube.com/watch?v=hdK4vPz0qaI&amp;t=10s" TargetMode="External"/><Relationship Id="rId1" Type="http://schemas.openxmlformats.org/officeDocument/2006/relationships/slideLayout" Target="../slideLayouts/slideLayout3.xml"/><Relationship Id="rId4" Type="http://schemas.openxmlformats.org/officeDocument/2006/relationships/hyperlink" Target="https://www.youtube.com/watch?v=M0mHp3iyWGg"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hyperlink" Target="https://theory.stanford.edu/~tim/f13/f13.pdf" TargetMode="Externa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customXml" Target="../../customXml/item1.xml"/><Relationship Id="rId1" Type="http://schemas.openxmlformats.org/officeDocument/2006/relationships/customXml" Target="../../customXml/item9.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C1393C32-4593-A727-A772-60975780A8AB}"/>
              </a:ext>
            </a:extLst>
          </p:cNvPr>
          <p:cNvSpPr>
            <a:spLocks noGrp="1"/>
          </p:cNvSpPr>
          <p:nvPr>
            <p:ph type="ctrTitle"/>
          </p:nvPr>
        </p:nvSpPr>
        <p:spPr>
          <a:xfrm>
            <a:off x="262558" y="1772816"/>
            <a:ext cx="10840028" cy="2822575"/>
          </a:xfrm>
        </p:spPr>
        <p:txBody>
          <a:bodyPr/>
          <a:lstStyle/>
          <a:p>
            <a:r>
              <a:rPr lang="en-GB" sz="5400" dirty="0"/>
              <a:t>Game Theory in Electricity Markets</a:t>
            </a:r>
          </a:p>
        </p:txBody>
      </p:sp>
      <p:sp>
        <p:nvSpPr>
          <p:cNvPr id="23" name="Subtitle 22">
            <a:extLst>
              <a:ext uri="{FF2B5EF4-FFF2-40B4-BE49-F238E27FC236}">
                <a16:creationId xmlns:a16="http://schemas.microsoft.com/office/drawing/2014/main" id="{2A505916-C26B-4D8F-DD23-7BF9A136D3B0}"/>
              </a:ext>
            </a:extLst>
          </p:cNvPr>
          <p:cNvSpPr>
            <a:spLocks noGrp="1"/>
          </p:cNvSpPr>
          <p:nvPr>
            <p:ph type="subTitle" idx="1"/>
          </p:nvPr>
        </p:nvSpPr>
        <p:spPr>
          <a:xfrm>
            <a:off x="292348" y="3061285"/>
            <a:ext cx="10840028" cy="1550517"/>
          </a:xfrm>
        </p:spPr>
        <p:txBody>
          <a:bodyPr/>
          <a:lstStyle/>
          <a:p>
            <a:r>
              <a:rPr lang="en-GB" sz="2000" dirty="0"/>
              <a:t>Week 1 – Warm-up</a:t>
            </a:r>
          </a:p>
        </p:txBody>
      </p:sp>
    </p:spTree>
    <p:custDataLst>
      <p:custData r:id="rId1"/>
      <p:custData r:id="rId2"/>
    </p:custDataLst>
    <p:extLst>
      <p:ext uri="{BB962C8B-B14F-4D97-AF65-F5344CB8AC3E}">
        <p14:creationId xmlns:p14="http://schemas.microsoft.com/office/powerpoint/2010/main" val="2320714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8E4B-BC28-E7ED-A38A-D7209F9E3C14}"/>
              </a:ext>
            </a:extLst>
          </p:cNvPr>
          <p:cNvSpPr>
            <a:spLocks noGrp="1"/>
          </p:cNvSpPr>
          <p:nvPr>
            <p:ph type="title"/>
          </p:nvPr>
        </p:nvSpPr>
        <p:spPr>
          <a:xfrm>
            <a:off x="1414686" y="260648"/>
            <a:ext cx="9312374" cy="540000"/>
          </a:xfrm>
        </p:spPr>
        <p:txBody>
          <a:bodyPr/>
          <a:lstStyle/>
          <a:p>
            <a:r>
              <a:rPr lang="en-DK" dirty="0"/>
              <a:t>Why do we have electricity markets?</a:t>
            </a:r>
          </a:p>
        </p:txBody>
      </p:sp>
      <p:sp>
        <p:nvSpPr>
          <p:cNvPr id="3" name="Content Placeholder 2">
            <a:extLst>
              <a:ext uri="{FF2B5EF4-FFF2-40B4-BE49-F238E27FC236}">
                <a16:creationId xmlns:a16="http://schemas.microsoft.com/office/drawing/2014/main" id="{2E5FED68-C1FC-4D21-38E2-CF5A755BF8FD}"/>
              </a:ext>
            </a:extLst>
          </p:cNvPr>
          <p:cNvSpPr>
            <a:spLocks noGrp="1"/>
          </p:cNvSpPr>
          <p:nvPr>
            <p:ph idx="1"/>
          </p:nvPr>
        </p:nvSpPr>
        <p:spPr>
          <a:xfrm>
            <a:off x="1439019" y="1124744"/>
            <a:ext cx="9312374" cy="4839202"/>
          </a:xfrm>
        </p:spPr>
        <p:txBody>
          <a:bodyPr>
            <a:normAutofit/>
          </a:bodyPr>
          <a:lstStyle/>
          <a:p>
            <a:pPr marL="0" indent="0">
              <a:spcBef>
                <a:spcPts val="0"/>
              </a:spcBef>
              <a:spcAft>
                <a:spcPts val="300"/>
              </a:spcAft>
              <a:buNone/>
            </a:pPr>
            <a:r>
              <a:rPr lang="en-US" sz="1600" b="1" dirty="0">
                <a:solidFill>
                  <a:schemeClr val="accent1"/>
                </a:solidFill>
              </a:rPr>
              <a:t>1880s  </a:t>
            </a:r>
            <a:r>
              <a:rPr lang="en-US" sz="1600" b="1" dirty="0">
                <a:solidFill>
                  <a:schemeClr val="tx1"/>
                </a:solidFill>
              </a:rPr>
              <a:t>Centralizing power supply</a:t>
            </a:r>
          </a:p>
          <a:p>
            <a:pPr marL="0" indent="0">
              <a:spcBef>
                <a:spcPts val="0"/>
              </a:spcBef>
              <a:spcAft>
                <a:spcPts val="1600"/>
              </a:spcAft>
              <a:buNone/>
            </a:pPr>
            <a:r>
              <a:rPr lang="en-US" sz="1300" dirty="0">
                <a:solidFill>
                  <a:schemeClr val="tx1">
                    <a:lumMod val="65000"/>
                    <a:lumOff val="35000"/>
                  </a:schemeClr>
                </a:solidFill>
              </a:rPr>
              <a:t>Edison’s Pearl Street Station (1882) sells electricity as a commodity. That’s cheaper than every building running its own generator and safer than lighting your house with gas.</a:t>
            </a:r>
          </a:p>
          <a:p>
            <a:pPr marL="0" indent="0">
              <a:spcBef>
                <a:spcPts val="0"/>
              </a:spcBef>
              <a:spcAft>
                <a:spcPts val="300"/>
              </a:spcAft>
              <a:buNone/>
            </a:pPr>
            <a:r>
              <a:rPr lang="en-US" sz="1600" b="1" dirty="0">
                <a:solidFill>
                  <a:schemeClr val="accent1"/>
                </a:solidFill>
              </a:rPr>
              <a:t>1880s–1890s  </a:t>
            </a:r>
            <a:r>
              <a:rPr lang="en-US" sz="1600" b="1" dirty="0">
                <a:solidFill>
                  <a:schemeClr val="tx1"/>
                </a:solidFill>
              </a:rPr>
              <a:t>War of the currents</a:t>
            </a:r>
          </a:p>
          <a:p>
            <a:pPr marL="0" indent="0">
              <a:spcBef>
                <a:spcPts val="0"/>
              </a:spcBef>
              <a:spcAft>
                <a:spcPts val="1600"/>
              </a:spcAft>
              <a:buNone/>
            </a:pPr>
            <a:r>
              <a:rPr lang="en-US" sz="1300" dirty="0">
                <a:solidFill>
                  <a:schemeClr val="tx1">
                    <a:lumMod val="65000"/>
                    <a:lumOff val="35000"/>
                  </a:schemeClr>
                </a:solidFill>
              </a:rPr>
              <a:t>AC transmission wins the war of currents against DC, as it was easier to transport. Many DC girds become one AC grid.</a:t>
            </a:r>
          </a:p>
          <a:p>
            <a:pPr marL="0" indent="0">
              <a:spcBef>
                <a:spcPts val="0"/>
              </a:spcBef>
              <a:spcAft>
                <a:spcPts val="300"/>
              </a:spcAft>
              <a:buNone/>
            </a:pPr>
            <a:r>
              <a:rPr lang="en-US" sz="1600" b="1" dirty="0">
                <a:solidFill>
                  <a:schemeClr val="accent1"/>
                </a:solidFill>
              </a:rPr>
              <a:t>1930s–1960s  </a:t>
            </a:r>
            <a:r>
              <a:rPr lang="en-US" sz="1600" b="1" dirty="0">
                <a:solidFill>
                  <a:schemeClr val="tx1"/>
                </a:solidFill>
              </a:rPr>
              <a:t>Utilities interconnect into grids</a:t>
            </a:r>
          </a:p>
          <a:p>
            <a:pPr marL="0" indent="0">
              <a:spcBef>
                <a:spcPts val="0"/>
              </a:spcBef>
              <a:spcAft>
                <a:spcPts val="1600"/>
              </a:spcAft>
              <a:buNone/>
            </a:pPr>
            <a:r>
              <a:rPr lang="en-US" sz="1300" dirty="0">
                <a:solidFill>
                  <a:schemeClr val="tx1">
                    <a:lumMod val="65000"/>
                    <a:lumOff val="35000"/>
                  </a:schemeClr>
                </a:solidFill>
              </a:rPr>
              <a:t>For reliability and scale, it made sense to connect the smaller grids into national-wide grids. Additionally, it became political will to electrify more and more households.</a:t>
            </a:r>
          </a:p>
          <a:p>
            <a:pPr marL="0" indent="0">
              <a:spcBef>
                <a:spcPts val="0"/>
              </a:spcBef>
              <a:spcAft>
                <a:spcPts val="300"/>
              </a:spcAft>
              <a:buNone/>
            </a:pPr>
            <a:r>
              <a:rPr lang="en-US" sz="1600" b="1" dirty="0">
                <a:solidFill>
                  <a:schemeClr val="accent1"/>
                </a:solidFill>
              </a:rPr>
              <a:t>1960s–2000s  </a:t>
            </a:r>
            <a:r>
              <a:rPr lang="en-US" sz="1600" b="1" dirty="0">
                <a:solidFill>
                  <a:schemeClr val="tx1"/>
                </a:solidFill>
              </a:rPr>
              <a:t>Market structure and reliability upgrades</a:t>
            </a:r>
          </a:p>
          <a:p>
            <a:pPr marL="0" indent="0">
              <a:spcBef>
                <a:spcPts val="0"/>
              </a:spcBef>
              <a:spcAft>
                <a:spcPts val="1600"/>
              </a:spcAft>
              <a:buNone/>
            </a:pPr>
            <a:r>
              <a:rPr lang="en-US" sz="1300" dirty="0">
                <a:solidFill>
                  <a:schemeClr val="tx1">
                    <a:lumMod val="65000"/>
                    <a:lumOff val="35000"/>
                  </a:schemeClr>
                </a:solidFill>
              </a:rPr>
              <a:t>Some say oil shocks, cost overruns, and blackouts expose monopoly inefficiency. Other say it was just the sign of the time. Anyways many countries unbundle generation from the wires to break these monopoles.</a:t>
            </a:r>
          </a:p>
          <a:p>
            <a:pPr marL="0" indent="0">
              <a:spcBef>
                <a:spcPts val="0"/>
              </a:spcBef>
              <a:spcAft>
                <a:spcPts val="300"/>
              </a:spcAft>
              <a:buNone/>
            </a:pPr>
            <a:r>
              <a:rPr lang="en-US" sz="1600" b="1" dirty="0">
                <a:solidFill>
                  <a:schemeClr val="accent1"/>
                </a:solidFill>
              </a:rPr>
              <a:t>2000s–today  </a:t>
            </a:r>
            <a:r>
              <a:rPr lang="en-US" sz="1600" b="1" dirty="0">
                <a:solidFill>
                  <a:schemeClr val="tx1"/>
                </a:solidFill>
              </a:rPr>
              <a:t>Using smart technologies and incorporating renewables</a:t>
            </a:r>
          </a:p>
          <a:p>
            <a:pPr marL="0" indent="0">
              <a:spcBef>
                <a:spcPts val="0"/>
              </a:spcBef>
              <a:spcAft>
                <a:spcPts val="0"/>
              </a:spcAft>
              <a:buNone/>
            </a:pPr>
            <a:r>
              <a:rPr lang="en-US" sz="1300" dirty="0">
                <a:solidFill>
                  <a:schemeClr val="tx1">
                    <a:lumMod val="65000"/>
                    <a:lumOff val="35000"/>
                  </a:schemeClr>
                </a:solidFill>
              </a:rPr>
              <a:t>Adjusting the grid to keep it resilient while demand rises. Reacting to the structural changes that come with the incorporation of renewables</a:t>
            </a:r>
          </a:p>
        </p:txBody>
      </p:sp>
      <p:sp>
        <p:nvSpPr>
          <p:cNvPr id="4" name="Date Placeholder 3">
            <a:extLst>
              <a:ext uri="{FF2B5EF4-FFF2-40B4-BE49-F238E27FC236}">
                <a16:creationId xmlns:a16="http://schemas.microsoft.com/office/drawing/2014/main" id="{700D2652-C195-10BA-1A3E-34B8A6AD4E2A}"/>
              </a:ext>
            </a:extLst>
          </p:cNvPr>
          <p:cNvSpPr>
            <a:spLocks noGrp="1"/>
          </p:cNvSpPr>
          <p:nvPr>
            <p:ph type="dt" sz="half" idx="10"/>
          </p:nvPr>
        </p:nvSpPr>
        <p:spPr/>
        <p:txBody>
          <a:bodyPr/>
          <a:lstStyle/>
          <a:p>
            <a:fld id="{C493CE51-A02A-4B42-82E5-738C7DCDE458}" type="datetime1">
              <a:rPr lang="da-DK" smtClean="0"/>
              <a:t>03-09-2026</a:t>
            </a:fld>
            <a:endParaRPr lang="en-GB"/>
          </a:p>
        </p:txBody>
      </p:sp>
      <p:sp>
        <p:nvSpPr>
          <p:cNvPr id="5" name="Footer Placeholder 4">
            <a:extLst>
              <a:ext uri="{FF2B5EF4-FFF2-40B4-BE49-F238E27FC236}">
                <a16:creationId xmlns:a16="http://schemas.microsoft.com/office/drawing/2014/main" id="{4FC23D93-73CA-5FD8-5D16-67B4FBC6311A}"/>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971190B5-9616-8524-EAB4-112793AC1862}"/>
              </a:ext>
            </a:extLst>
          </p:cNvPr>
          <p:cNvSpPr>
            <a:spLocks noGrp="1"/>
          </p:cNvSpPr>
          <p:nvPr>
            <p:ph type="sldNum" sz="quarter" idx="12"/>
          </p:nvPr>
        </p:nvSpPr>
        <p:spPr/>
        <p:txBody>
          <a:bodyPr/>
          <a:lstStyle/>
          <a:p>
            <a:fld id="{103EA872-A674-449B-A120-B97244F8E91D}" type="slidenum">
              <a:rPr lang="da-DK" smtClean="0"/>
              <a:pPr/>
              <a:t>1</a:t>
            </a:fld>
            <a:endParaRPr lang="da-DK" dirty="0"/>
          </a:p>
        </p:txBody>
      </p:sp>
    </p:spTree>
    <p:extLst>
      <p:ext uri="{BB962C8B-B14F-4D97-AF65-F5344CB8AC3E}">
        <p14:creationId xmlns:p14="http://schemas.microsoft.com/office/powerpoint/2010/main" val="3419414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4686" y="260648"/>
            <a:ext cx="9312374" cy="540000"/>
          </a:xfrm>
        </p:spPr>
        <p:txBody>
          <a:bodyPr/>
          <a:lstStyle/>
          <a:p>
            <a:r>
              <a:t>How to fulfill the demand in the best way?</a:t>
            </a:r>
          </a:p>
        </p:txBody>
      </p:sp>
      <p:sp>
        <p:nvSpPr>
          <p:cNvPr id="3" name="Content Placeholder 2"/>
          <p:cNvSpPr>
            <a:spLocks noGrp="1"/>
          </p:cNvSpPr>
          <p:nvPr>
            <p:ph idx="1"/>
          </p:nvPr>
        </p:nvSpPr>
        <p:spPr>
          <a:xfrm>
            <a:off x="1439019" y="1124744"/>
            <a:ext cx="9312374" cy="850000"/>
          </a:xfrm>
        </p:spPr>
        <p:txBody>
          <a:bodyPr wrap="square" anchor="t"/>
          <a:lstStyle/>
          <a:p>
            <a:pPr algn="l">
              <a:buNone/>
            </a:pPr>
            <a:r>
              <a:rPr sz="2000" b="1">
                <a:solidFill>
                  <a:srgbClr val="000000"/>
                </a:solidFill>
              </a:rPr>
              <a:t>We just ask every generator to tell us how much it costed them to produce.</a:t>
            </a:r>
          </a:p>
        </p:txBody>
      </p:sp>
      <p:sp>
        <p:nvSpPr>
          <p:cNvPr id="4" name="TextBox 3"/>
          <p:cNvSpPr txBox="1"/>
          <p:nvPr/>
        </p:nvSpPr>
        <p:spPr>
          <a:xfrm>
            <a:off x="1530459" y="2148840"/>
            <a:ext cx="1679594" cy="274320"/>
          </a:xfrm>
          <a:prstGeom prst="rect">
            <a:avLst/>
          </a:prstGeom>
          <a:noFill/>
        </p:spPr>
        <p:txBody>
          <a:bodyPr wrap="square">
            <a:spAutoFit/>
          </a:bodyPr>
          <a:lstStyle/>
          <a:p>
            <a:pPr algn="ctr"/>
            <a:r>
              <a:rPr sz="1400" b="1" dirty="0">
                <a:solidFill>
                  <a:srgbClr val="000000"/>
                </a:solidFill>
              </a:rPr>
              <a:t>Coal</a:t>
            </a:r>
          </a:p>
        </p:txBody>
      </p:sp>
      <p:sp>
        <p:nvSpPr>
          <p:cNvPr id="5" name="Oval 4"/>
          <p:cNvSpPr/>
          <p:nvPr/>
        </p:nvSpPr>
        <p:spPr>
          <a:xfrm>
            <a:off x="1798756" y="2468880"/>
            <a:ext cx="1143000" cy="1143000"/>
          </a:xfrm>
          <a:prstGeom prst="ellipse">
            <a:avLst/>
          </a:prstGeom>
          <a:solidFill>
            <a:schemeClr val="tx1">
              <a:lumMod val="65000"/>
              <a:lumOff val="35000"/>
            </a:schemeClr>
          </a:solidFill>
          <a:ln>
            <a:solidFill>
              <a:schemeClr val="tx1">
                <a:lumMod val="85000"/>
                <a:lumOff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oal.png"/>
          <p:cNvPicPr>
            <a:picLocks noChangeAspect="1"/>
          </p:cNvPicPr>
          <p:nvPr/>
        </p:nvPicPr>
        <p:blipFill>
          <a:blip r:embed="rId2"/>
          <a:stretch>
            <a:fillRect/>
          </a:stretch>
        </p:blipFill>
        <p:spPr>
          <a:xfrm>
            <a:off x="2059360" y="2729484"/>
            <a:ext cx="621792" cy="621792"/>
          </a:xfrm>
          <a:prstGeom prst="rect">
            <a:avLst/>
          </a:prstGeom>
        </p:spPr>
      </p:pic>
      <p:sp>
        <p:nvSpPr>
          <p:cNvPr id="7" name="Rounded Rectangle 6"/>
          <p:cNvSpPr/>
          <p:nvPr/>
        </p:nvSpPr>
        <p:spPr>
          <a:xfrm>
            <a:off x="1553319" y="3794760"/>
            <a:ext cx="1633874" cy="868680"/>
          </a:xfrm>
          <a:prstGeom prst="roundRect">
            <a:avLst>
              <a:gd name="adj" fmla="val 12000"/>
            </a:avLst>
          </a:prstGeom>
          <a:solidFill>
            <a:srgbClr val="F2F2F2"/>
          </a:solidFill>
          <a:ln w="15875">
            <a:solidFill>
              <a:srgbClr val="171748"/>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lang="en-US" sz="1400" dirty="0">
                <a:solidFill>
                  <a:srgbClr val="1A1A1A"/>
                </a:solidFill>
              </a:rPr>
              <a:t>30</a:t>
            </a:r>
            <a:r>
              <a:rPr sz="1400" b="0" dirty="0">
                <a:solidFill>
                  <a:srgbClr val="1A1A1A"/>
                </a:solidFill>
              </a:rPr>
              <a:t> MWh at </a:t>
            </a:r>
            <a:r>
              <a:rPr lang="en-US" sz="1400" dirty="0">
                <a:solidFill>
                  <a:srgbClr val="1A1A1A"/>
                </a:solidFill>
              </a:rPr>
              <a:t>6</a:t>
            </a:r>
            <a:r>
              <a:rPr lang="en-US" sz="1400" b="0" dirty="0">
                <a:solidFill>
                  <a:srgbClr val="1A1A1A"/>
                </a:solidFill>
              </a:rPr>
              <a:t>5</a:t>
            </a:r>
            <a:r>
              <a:rPr sz="1400" b="0" dirty="0">
                <a:solidFill>
                  <a:srgbClr val="1A1A1A"/>
                </a:solidFill>
              </a:rPr>
              <a:t>$/</a:t>
            </a:r>
            <a:r>
              <a:rPr lang="en-US" sz="1400" b="0" dirty="0">
                <a:solidFill>
                  <a:srgbClr val="1A1A1A"/>
                </a:solidFill>
              </a:rPr>
              <a:t>MWh</a:t>
            </a:r>
            <a:endParaRPr sz="1400" b="0" dirty="0">
              <a:solidFill>
                <a:srgbClr val="1A1A1A"/>
              </a:solidFill>
            </a:endParaRPr>
          </a:p>
        </p:txBody>
      </p:sp>
      <p:sp>
        <p:nvSpPr>
          <p:cNvPr id="8" name="TextBox 7"/>
          <p:cNvSpPr txBox="1"/>
          <p:nvPr/>
        </p:nvSpPr>
        <p:spPr>
          <a:xfrm>
            <a:off x="3392933" y="2148840"/>
            <a:ext cx="1679594" cy="274320"/>
          </a:xfrm>
          <a:prstGeom prst="rect">
            <a:avLst/>
          </a:prstGeom>
          <a:noFill/>
        </p:spPr>
        <p:txBody>
          <a:bodyPr wrap="square">
            <a:spAutoFit/>
          </a:bodyPr>
          <a:lstStyle/>
          <a:p>
            <a:pPr algn="ctr"/>
            <a:r>
              <a:rPr sz="1400" b="1">
                <a:solidFill>
                  <a:srgbClr val="000000"/>
                </a:solidFill>
              </a:rPr>
              <a:t>Gas</a:t>
            </a:r>
          </a:p>
        </p:txBody>
      </p:sp>
      <p:sp>
        <p:nvSpPr>
          <p:cNvPr id="9" name="Oval 8"/>
          <p:cNvSpPr/>
          <p:nvPr/>
        </p:nvSpPr>
        <p:spPr>
          <a:xfrm>
            <a:off x="3661231" y="2468880"/>
            <a:ext cx="1143000" cy="1143000"/>
          </a:xfrm>
          <a:prstGeom prst="ellipse">
            <a:avLst/>
          </a:prstGeom>
          <a:solidFill>
            <a:schemeClr val="accent1">
              <a:lumMod val="40000"/>
              <a:lumOff val="60000"/>
            </a:schemeClr>
          </a:solidFill>
          <a:ln>
            <a:solidFill>
              <a:schemeClr val="accent6">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gas.png"/>
          <p:cNvPicPr>
            <a:picLocks noChangeAspect="1"/>
          </p:cNvPicPr>
          <p:nvPr/>
        </p:nvPicPr>
        <p:blipFill>
          <a:blip r:embed="rId3"/>
          <a:stretch>
            <a:fillRect/>
          </a:stretch>
        </p:blipFill>
        <p:spPr>
          <a:xfrm>
            <a:off x="3921835" y="2729484"/>
            <a:ext cx="621792" cy="621792"/>
          </a:xfrm>
          <a:prstGeom prst="rect">
            <a:avLst/>
          </a:prstGeom>
        </p:spPr>
      </p:pic>
      <p:sp>
        <p:nvSpPr>
          <p:cNvPr id="11" name="Rounded Rectangle 10"/>
          <p:cNvSpPr/>
          <p:nvPr/>
        </p:nvSpPr>
        <p:spPr>
          <a:xfrm>
            <a:off x="3415793" y="3794760"/>
            <a:ext cx="1633874" cy="868680"/>
          </a:xfrm>
          <a:prstGeom prst="roundRect">
            <a:avLst>
              <a:gd name="adj" fmla="val 12000"/>
            </a:avLst>
          </a:prstGeom>
          <a:solidFill>
            <a:srgbClr val="F2F2F2"/>
          </a:solidFill>
          <a:ln w="15875">
            <a:solidFill>
              <a:schemeClr val="accent6">
                <a:lumMod val="75000"/>
              </a:schemeClr>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lang="en-US" sz="1400" dirty="0">
                <a:solidFill>
                  <a:srgbClr val="1A1A1A"/>
                </a:solidFill>
              </a:rPr>
              <a:t>30</a:t>
            </a:r>
            <a:r>
              <a:rPr sz="1400" b="0" dirty="0">
                <a:solidFill>
                  <a:srgbClr val="1A1A1A"/>
                </a:solidFill>
              </a:rPr>
              <a:t> MWh at </a:t>
            </a:r>
            <a:r>
              <a:rPr lang="en-US" sz="1400" b="0" dirty="0">
                <a:solidFill>
                  <a:srgbClr val="1A1A1A"/>
                </a:solidFill>
              </a:rPr>
              <a:t>40</a:t>
            </a:r>
            <a:r>
              <a:rPr sz="1400" b="0" dirty="0">
                <a:solidFill>
                  <a:srgbClr val="1A1A1A"/>
                </a:solidFill>
              </a:rPr>
              <a:t>$/</a:t>
            </a:r>
            <a:r>
              <a:rPr lang="en-US" sz="1400" b="0" dirty="0">
                <a:solidFill>
                  <a:srgbClr val="1A1A1A"/>
                </a:solidFill>
              </a:rPr>
              <a:t>MWh</a:t>
            </a:r>
            <a:endParaRPr sz="1400" b="0" dirty="0">
              <a:solidFill>
                <a:srgbClr val="1A1A1A"/>
              </a:solidFill>
            </a:endParaRPr>
          </a:p>
        </p:txBody>
      </p:sp>
      <p:sp>
        <p:nvSpPr>
          <p:cNvPr id="12" name="TextBox 11"/>
          <p:cNvSpPr txBox="1"/>
          <p:nvPr/>
        </p:nvSpPr>
        <p:spPr>
          <a:xfrm>
            <a:off x="5255408" y="2148840"/>
            <a:ext cx="1679594" cy="307777"/>
          </a:xfrm>
          <a:prstGeom prst="rect">
            <a:avLst/>
          </a:prstGeom>
          <a:noFill/>
        </p:spPr>
        <p:txBody>
          <a:bodyPr wrap="square">
            <a:spAutoFit/>
          </a:bodyPr>
          <a:lstStyle/>
          <a:p>
            <a:pPr algn="ctr"/>
            <a:r>
              <a:rPr lang="en-US" sz="1400" b="1" dirty="0">
                <a:solidFill>
                  <a:srgbClr val="000000"/>
                </a:solidFill>
              </a:rPr>
              <a:t>Offshore</a:t>
            </a:r>
            <a:endParaRPr sz="1400" b="1" dirty="0">
              <a:solidFill>
                <a:srgbClr val="000000"/>
              </a:solidFill>
            </a:endParaRPr>
          </a:p>
        </p:txBody>
      </p:sp>
      <p:sp>
        <p:nvSpPr>
          <p:cNvPr id="13" name="Oval 12"/>
          <p:cNvSpPr/>
          <p:nvPr/>
        </p:nvSpPr>
        <p:spPr>
          <a:xfrm>
            <a:off x="5523705" y="2468880"/>
            <a:ext cx="1143000" cy="1143000"/>
          </a:xfrm>
          <a:prstGeom prst="ellipse">
            <a:avLst/>
          </a:prstGeom>
          <a:solidFill>
            <a:srgbClr val="B2D5FF"/>
          </a:solid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wind.png"/>
          <p:cNvPicPr>
            <a:picLocks noChangeAspect="1"/>
          </p:cNvPicPr>
          <p:nvPr/>
        </p:nvPicPr>
        <p:blipFill>
          <a:blip r:embed="rId4"/>
          <a:stretch>
            <a:fillRect/>
          </a:stretch>
        </p:blipFill>
        <p:spPr>
          <a:xfrm>
            <a:off x="5784309" y="2729484"/>
            <a:ext cx="621792" cy="621792"/>
          </a:xfrm>
          <a:prstGeom prst="rect">
            <a:avLst/>
          </a:prstGeom>
        </p:spPr>
      </p:pic>
      <p:sp>
        <p:nvSpPr>
          <p:cNvPr id="15" name="Rounded Rectangle 14"/>
          <p:cNvSpPr/>
          <p:nvPr/>
        </p:nvSpPr>
        <p:spPr>
          <a:xfrm>
            <a:off x="5278268" y="3794760"/>
            <a:ext cx="1633874" cy="868680"/>
          </a:xfrm>
          <a:prstGeom prst="roundRect">
            <a:avLst>
              <a:gd name="adj" fmla="val 12000"/>
            </a:avLst>
          </a:prstGeom>
          <a:solidFill>
            <a:srgbClr val="F2F2F2"/>
          </a:solidFill>
          <a:ln w="15875">
            <a:solidFill>
              <a:srgbClr val="2F3EEA"/>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lang="en-US" sz="1400" dirty="0">
                <a:solidFill>
                  <a:srgbClr val="1A1A1A"/>
                </a:solidFill>
              </a:rPr>
              <a:t>40</a:t>
            </a:r>
            <a:r>
              <a:rPr sz="1400" b="0" dirty="0">
                <a:solidFill>
                  <a:srgbClr val="1A1A1A"/>
                </a:solidFill>
              </a:rPr>
              <a:t> MWh at </a:t>
            </a:r>
            <a:r>
              <a:rPr lang="en-US" sz="1400" b="0" dirty="0">
                <a:solidFill>
                  <a:srgbClr val="1A1A1A"/>
                </a:solidFill>
              </a:rPr>
              <a:t>12.5</a:t>
            </a:r>
            <a:r>
              <a:rPr sz="1400" b="0" dirty="0">
                <a:solidFill>
                  <a:srgbClr val="1A1A1A"/>
                </a:solidFill>
              </a:rPr>
              <a:t>$/</a:t>
            </a:r>
            <a:r>
              <a:rPr lang="en-US" sz="1400" b="0" dirty="0">
                <a:solidFill>
                  <a:srgbClr val="1A1A1A"/>
                </a:solidFill>
              </a:rPr>
              <a:t>MWh</a:t>
            </a:r>
            <a:endParaRPr sz="1400" b="0" dirty="0">
              <a:solidFill>
                <a:srgbClr val="1A1A1A"/>
              </a:solidFill>
            </a:endParaRPr>
          </a:p>
        </p:txBody>
      </p:sp>
      <p:sp>
        <p:nvSpPr>
          <p:cNvPr id="16" name="TextBox 15"/>
          <p:cNvSpPr txBox="1"/>
          <p:nvPr/>
        </p:nvSpPr>
        <p:spPr>
          <a:xfrm>
            <a:off x="7117883" y="2148840"/>
            <a:ext cx="1679594" cy="274320"/>
          </a:xfrm>
          <a:prstGeom prst="rect">
            <a:avLst/>
          </a:prstGeom>
          <a:noFill/>
        </p:spPr>
        <p:txBody>
          <a:bodyPr wrap="square">
            <a:spAutoFit/>
          </a:bodyPr>
          <a:lstStyle/>
          <a:p>
            <a:pPr algn="ctr"/>
            <a:r>
              <a:rPr sz="1400" b="1">
                <a:solidFill>
                  <a:srgbClr val="000000"/>
                </a:solidFill>
              </a:rPr>
              <a:t>Solar</a:t>
            </a:r>
          </a:p>
        </p:txBody>
      </p:sp>
      <p:sp>
        <p:nvSpPr>
          <p:cNvPr id="17" name="Oval 16"/>
          <p:cNvSpPr/>
          <p:nvPr/>
        </p:nvSpPr>
        <p:spPr>
          <a:xfrm>
            <a:off x="7386180" y="2468880"/>
            <a:ext cx="1143000" cy="1143000"/>
          </a:xfrm>
          <a:prstGeom prst="ellipse">
            <a:avLst/>
          </a:prstGeom>
          <a:solidFill>
            <a:schemeClr val="accent5">
              <a:lumMod val="40000"/>
              <a:lumOff val="60000"/>
            </a:schemeClr>
          </a:solidFill>
          <a:ln>
            <a:solidFill>
              <a:srgbClr val="FFCC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solar_dark.png"/>
          <p:cNvPicPr>
            <a:picLocks noChangeAspect="1"/>
          </p:cNvPicPr>
          <p:nvPr/>
        </p:nvPicPr>
        <p:blipFill>
          <a:blip r:embed="rId5"/>
          <a:stretch>
            <a:fillRect/>
          </a:stretch>
        </p:blipFill>
        <p:spPr>
          <a:xfrm>
            <a:off x="7646784" y="2729484"/>
            <a:ext cx="621792" cy="621792"/>
          </a:xfrm>
          <a:prstGeom prst="rect">
            <a:avLst/>
          </a:prstGeom>
        </p:spPr>
      </p:pic>
      <p:sp>
        <p:nvSpPr>
          <p:cNvPr id="19" name="Rounded Rectangle 18"/>
          <p:cNvSpPr/>
          <p:nvPr/>
        </p:nvSpPr>
        <p:spPr>
          <a:xfrm>
            <a:off x="7140743" y="3794760"/>
            <a:ext cx="1633874" cy="868680"/>
          </a:xfrm>
          <a:prstGeom prst="roundRect">
            <a:avLst>
              <a:gd name="adj" fmla="val 12000"/>
            </a:avLst>
          </a:prstGeom>
          <a:solidFill>
            <a:srgbClr val="F2F2F2"/>
          </a:solidFill>
          <a:ln w="15875">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lang="en-US" sz="1400" dirty="0">
                <a:solidFill>
                  <a:srgbClr val="1A1A1A"/>
                </a:solidFill>
              </a:rPr>
              <a:t>100</a:t>
            </a:r>
            <a:r>
              <a:rPr sz="1400" b="0" dirty="0">
                <a:solidFill>
                  <a:srgbClr val="1A1A1A"/>
                </a:solidFill>
              </a:rPr>
              <a:t> MWh at </a:t>
            </a:r>
            <a:r>
              <a:rPr lang="en-US" sz="1400" b="0" dirty="0">
                <a:solidFill>
                  <a:srgbClr val="1A1A1A"/>
                </a:solidFill>
              </a:rPr>
              <a:t>5</a:t>
            </a:r>
            <a:r>
              <a:rPr sz="1400" b="0" dirty="0">
                <a:solidFill>
                  <a:srgbClr val="1A1A1A"/>
                </a:solidFill>
              </a:rPr>
              <a:t>$/</a:t>
            </a:r>
            <a:r>
              <a:rPr lang="en-US" sz="1400" b="0" dirty="0">
                <a:solidFill>
                  <a:srgbClr val="1A1A1A"/>
                </a:solidFill>
              </a:rPr>
              <a:t>MWh</a:t>
            </a:r>
            <a:endParaRPr sz="1400" b="0" dirty="0">
              <a:solidFill>
                <a:srgbClr val="1A1A1A"/>
              </a:solidFill>
            </a:endParaRPr>
          </a:p>
        </p:txBody>
      </p:sp>
      <p:sp>
        <p:nvSpPr>
          <p:cNvPr id="20" name="TextBox 19"/>
          <p:cNvSpPr txBox="1"/>
          <p:nvPr/>
        </p:nvSpPr>
        <p:spPr>
          <a:xfrm>
            <a:off x="8980358" y="2148840"/>
            <a:ext cx="1679594" cy="307777"/>
          </a:xfrm>
          <a:prstGeom prst="rect">
            <a:avLst/>
          </a:prstGeom>
          <a:noFill/>
        </p:spPr>
        <p:txBody>
          <a:bodyPr wrap="square">
            <a:spAutoFit/>
          </a:bodyPr>
          <a:lstStyle/>
          <a:p>
            <a:pPr algn="ctr"/>
            <a:r>
              <a:rPr lang="en-US" sz="1400" b="1" dirty="0">
                <a:solidFill>
                  <a:srgbClr val="000000"/>
                </a:solidFill>
              </a:rPr>
              <a:t>Onshore</a:t>
            </a:r>
            <a:endParaRPr sz="1400" b="1" dirty="0">
              <a:solidFill>
                <a:srgbClr val="000000"/>
              </a:solidFill>
            </a:endParaRPr>
          </a:p>
        </p:txBody>
      </p:sp>
      <p:sp>
        <p:nvSpPr>
          <p:cNvPr id="21" name="Oval 20"/>
          <p:cNvSpPr/>
          <p:nvPr/>
        </p:nvSpPr>
        <p:spPr>
          <a:xfrm>
            <a:off x="9248655" y="2468880"/>
            <a:ext cx="1143000" cy="1143000"/>
          </a:xfrm>
          <a:prstGeom prst="ellipse">
            <a:avLst/>
          </a:prstGeom>
          <a:solidFill>
            <a:schemeClr val="accent3">
              <a:lumMod val="40000"/>
              <a:lumOff val="60000"/>
            </a:schemeClr>
          </a:solidFill>
          <a:ln>
            <a:solidFill>
              <a:schemeClr val="accent3">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003218" y="3794760"/>
            <a:ext cx="1633874" cy="868680"/>
          </a:xfrm>
          <a:prstGeom prst="roundRect">
            <a:avLst>
              <a:gd name="adj" fmla="val 12000"/>
            </a:avLst>
          </a:prstGeom>
          <a:solidFill>
            <a:srgbClr val="F2F2F2"/>
          </a:solidFill>
          <a:ln w="15875">
            <a:solidFill>
              <a:schemeClr val="accent3">
                <a:lumMod val="75000"/>
              </a:schemeClr>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lang="en-US" sz="1400" dirty="0">
                <a:solidFill>
                  <a:srgbClr val="1A1A1A"/>
                </a:solidFill>
              </a:rPr>
              <a:t>50</a:t>
            </a:r>
            <a:r>
              <a:rPr sz="1400" b="0" dirty="0">
                <a:solidFill>
                  <a:srgbClr val="1A1A1A"/>
                </a:solidFill>
              </a:rPr>
              <a:t> MWh at </a:t>
            </a:r>
            <a:r>
              <a:rPr lang="en-US" sz="1400" b="0" dirty="0">
                <a:solidFill>
                  <a:srgbClr val="1A1A1A"/>
                </a:solidFill>
              </a:rPr>
              <a:t>25</a:t>
            </a:r>
            <a:r>
              <a:rPr sz="1400" b="0" dirty="0">
                <a:solidFill>
                  <a:srgbClr val="1A1A1A"/>
                </a:solidFill>
              </a:rPr>
              <a:t>$/</a:t>
            </a:r>
            <a:r>
              <a:rPr lang="en-US" sz="1400" b="0" dirty="0">
                <a:solidFill>
                  <a:srgbClr val="1A1A1A"/>
                </a:solidFill>
              </a:rPr>
              <a:t>MWh</a:t>
            </a:r>
            <a:endParaRPr sz="1400" b="0" dirty="0">
              <a:solidFill>
                <a:srgbClr val="1A1A1A"/>
              </a:solidFill>
            </a:endParaRPr>
          </a:p>
        </p:txBody>
      </p:sp>
      <p:sp>
        <p:nvSpPr>
          <p:cNvPr id="24" name="Date Placeholder 3">
            <a:extLst>
              <a:ext uri="{FF2B5EF4-FFF2-40B4-BE49-F238E27FC236}">
                <a16:creationId xmlns:a16="http://schemas.microsoft.com/office/drawing/2014/main" id="{700D2652-C195-10BA-1A3E-34B8A6AD4E2A}"/>
              </a:ext>
            </a:extLst>
          </p:cNvPr>
          <p:cNvSpPr>
            <a:spLocks noGrp="1"/>
          </p:cNvSpPr>
          <p:nvPr>
            <p:ph type="dt" sz="half" idx="10"/>
          </p:nvPr>
        </p:nvSpPr>
        <p:spPr/>
        <p:txBody>
          <a:bodyPr/>
          <a:lstStyle/>
          <a:p>
            <a:fld id="{23556BF1-9242-4935-8158-B2537AB6E6D5}" type="datetime1">
              <a:rPr lang="da-DK" smtClean="0"/>
              <a:t>03-09-2026</a:t>
            </a:fld>
            <a:endParaRPr lang="en-GB"/>
          </a:p>
        </p:txBody>
      </p:sp>
      <p:sp>
        <p:nvSpPr>
          <p:cNvPr id="25" name="Footer Placeholder 4">
            <a:extLst>
              <a:ext uri="{FF2B5EF4-FFF2-40B4-BE49-F238E27FC236}">
                <a16:creationId xmlns:a16="http://schemas.microsoft.com/office/drawing/2014/main" id="{4FC23D93-73CA-5FD8-5D16-67B4FBC6311A}"/>
              </a:ext>
            </a:extLst>
          </p:cNvPr>
          <p:cNvSpPr>
            <a:spLocks noGrp="1"/>
          </p:cNvSpPr>
          <p:nvPr>
            <p:ph type="ftr" sz="quarter" idx="11"/>
          </p:nvPr>
        </p:nvSpPr>
        <p:spPr/>
        <p:txBody>
          <a:bodyPr/>
          <a:lstStyle/>
          <a:p>
            <a:r>
              <a:rPr lang="en-US"/>
              <a:t>Game Theory in Electricity Markets - Week 1</a:t>
            </a:r>
            <a:endParaRPr lang="da-DK" dirty="0"/>
          </a:p>
        </p:txBody>
      </p:sp>
      <p:sp>
        <p:nvSpPr>
          <p:cNvPr id="26" name="Slide Number Placeholder 5">
            <a:extLst>
              <a:ext uri="{FF2B5EF4-FFF2-40B4-BE49-F238E27FC236}">
                <a16:creationId xmlns:a16="http://schemas.microsoft.com/office/drawing/2014/main" id="{971190B5-9616-8524-EAB4-112793AC1862}"/>
              </a:ext>
            </a:extLst>
          </p:cNvPr>
          <p:cNvSpPr>
            <a:spLocks noGrp="1"/>
          </p:cNvSpPr>
          <p:nvPr>
            <p:ph type="sldNum" sz="quarter" idx="12"/>
          </p:nvPr>
        </p:nvSpPr>
        <p:spPr/>
        <p:txBody>
          <a:bodyPr/>
          <a:lstStyle/>
          <a:p>
            <a:fld id="{103EA872-A674-449B-A120-B97244F8E91D}" type="slidenum">
              <a:rPr lang="da-DK" smtClean="0"/>
              <a:pPr/>
              <a:t>2</a:t>
            </a:fld>
            <a:endParaRPr lang="da-DK" dirty="0"/>
          </a:p>
        </p:txBody>
      </p:sp>
      <p:pic>
        <p:nvPicPr>
          <p:cNvPr id="28" name="Picture 27" descr="wind.png">
            <a:extLst>
              <a:ext uri="{FF2B5EF4-FFF2-40B4-BE49-F238E27FC236}">
                <a16:creationId xmlns:a16="http://schemas.microsoft.com/office/drawing/2014/main" id="{22C5BA44-86D9-22FF-92A9-81FFFF2D6323}"/>
              </a:ext>
            </a:extLst>
          </p:cNvPr>
          <p:cNvPicPr>
            <a:picLocks noChangeAspect="1"/>
          </p:cNvPicPr>
          <p:nvPr/>
        </p:nvPicPr>
        <p:blipFill>
          <a:blip r:embed="rId4"/>
          <a:stretch>
            <a:fillRect/>
          </a:stretch>
        </p:blipFill>
        <p:spPr>
          <a:xfrm>
            <a:off x="9509259" y="2727202"/>
            <a:ext cx="621792" cy="62179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8E4B-BC28-E7ED-A38A-D7209F9E3C14}"/>
              </a:ext>
            </a:extLst>
          </p:cNvPr>
          <p:cNvSpPr>
            <a:spLocks noGrp="1"/>
          </p:cNvSpPr>
          <p:nvPr>
            <p:ph type="title"/>
          </p:nvPr>
        </p:nvSpPr>
        <p:spPr>
          <a:xfrm>
            <a:off x="1414686" y="260648"/>
            <a:ext cx="9312374" cy="540000"/>
          </a:xfrm>
        </p:spPr>
        <p:txBody>
          <a:bodyPr/>
          <a:lstStyle/>
          <a:p>
            <a:r>
              <a:rPr lang="en-US" dirty="0"/>
              <a:t>Market Clearing 101</a:t>
            </a:r>
            <a:endParaRPr lang="en-DK" dirty="0"/>
          </a:p>
        </p:txBody>
      </p:sp>
      <p:sp>
        <p:nvSpPr>
          <p:cNvPr id="3" name="Content Placeholder 2">
            <a:extLst>
              <a:ext uri="{FF2B5EF4-FFF2-40B4-BE49-F238E27FC236}">
                <a16:creationId xmlns:a16="http://schemas.microsoft.com/office/drawing/2014/main" id="{2E5FED68-C1FC-4D21-38E2-CF5A755BF8FD}"/>
              </a:ext>
            </a:extLst>
          </p:cNvPr>
          <p:cNvSpPr>
            <a:spLocks noGrp="1"/>
          </p:cNvSpPr>
          <p:nvPr>
            <p:ph idx="1"/>
          </p:nvPr>
        </p:nvSpPr>
        <p:spPr>
          <a:xfrm>
            <a:off x="1439019" y="1124744"/>
            <a:ext cx="9312374" cy="4839202"/>
          </a:xfrm>
        </p:spPr>
        <p:txBody>
          <a:bodyPr/>
          <a:lstStyle/>
          <a:p>
            <a:pPr marL="0" indent="0">
              <a:buNone/>
            </a:pPr>
            <a:r>
              <a:rPr lang="en-DK" b="1" dirty="0">
                <a:solidFill>
                  <a:schemeClr val="bg1"/>
                </a:solidFill>
              </a:rPr>
              <a:t>.</a:t>
            </a:r>
          </a:p>
        </p:txBody>
      </p:sp>
      <p:sp>
        <p:nvSpPr>
          <p:cNvPr id="4" name="Date Placeholder 3">
            <a:extLst>
              <a:ext uri="{FF2B5EF4-FFF2-40B4-BE49-F238E27FC236}">
                <a16:creationId xmlns:a16="http://schemas.microsoft.com/office/drawing/2014/main" id="{700D2652-C195-10BA-1A3E-34B8A6AD4E2A}"/>
              </a:ext>
            </a:extLst>
          </p:cNvPr>
          <p:cNvSpPr>
            <a:spLocks noGrp="1"/>
          </p:cNvSpPr>
          <p:nvPr>
            <p:ph type="dt" sz="half" idx="10"/>
          </p:nvPr>
        </p:nvSpPr>
        <p:spPr/>
        <p:txBody>
          <a:bodyPr/>
          <a:lstStyle/>
          <a:p>
            <a:fld id="{764DDFE3-29D7-42B1-AA78-E90EB109D5A3}" type="datetime1">
              <a:rPr lang="da-DK" smtClean="0"/>
              <a:t>03-09-2026</a:t>
            </a:fld>
            <a:endParaRPr lang="en-GB"/>
          </a:p>
        </p:txBody>
      </p:sp>
      <p:sp>
        <p:nvSpPr>
          <p:cNvPr id="5" name="Footer Placeholder 4">
            <a:extLst>
              <a:ext uri="{FF2B5EF4-FFF2-40B4-BE49-F238E27FC236}">
                <a16:creationId xmlns:a16="http://schemas.microsoft.com/office/drawing/2014/main" id="{4FC23D93-73CA-5FD8-5D16-67B4FBC6311A}"/>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971190B5-9616-8524-EAB4-112793AC1862}"/>
              </a:ext>
            </a:extLst>
          </p:cNvPr>
          <p:cNvSpPr>
            <a:spLocks noGrp="1"/>
          </p:cNvSpPr>
          <p:nvPr>
            <p:ph type="sldNum" sz="quarter" idx="12"/>
          </p:nvPr>
        </p:nvSpPr>
        <p:spPr/>
        <p:txBody>
          <a:bodyPr/>
          <a:lstStyle/>
          <a:p>
            <a:fld id="{103EA872-A674-449B-A120-B97244F8E91D}" type="slidenum">
              <a:rPr lang="da-DK" smtClean="0"/>
              <a:pPr/>
              <a:t>3</a:t>
            </a:fld>
            <a:endParaRPr lang="da-DK" dirty="0"/>
          </a:p>
        </p:txBody>
      </p:sp>
      <p:sp>
        <p:nvSpPr>
          <p:cNvPr id="8" name="TextBox 7">
            <a:extLst>
              <a:ext uri="{FF2B5EF4-FFF2-40B4-BE49-F238E27FC236}">
                <a16:creationId xmlns:a16="http://schemas.microsoft.com/office/drawing/2014/main" id="{943FA3A3-851D-786C-1E44-15F1FE10DBED}"/>
              </a:ext>
            </a:extLst>
          </p:cNvPr>
          <p:cNvSpPr txBox="1"/>
          <p:nvPr/>
        </p:nvSpPr>
        <p:spPr>
          <a:xfrm>
            <a:off x="9335566" y="6381328"/>
            <a:ext cx="10009111" cy="266740"/>
          </a:xfrm>
          <a:prstGeom prst="rect">
            <a:avLst/>
          </a:prstGeom>
          <a:noFill/>
        </p:spPr>
        <p:txBody>
          <a:bodyPr wrap="square" lIns="0" tIns="0" rIns="0" bIns="0" rtlCol="0">
            <a:spAutoFit/>
          </a:bodyPr>
          <a:lstStyle/>
          <a:p>
            <a:pPr>
              <a:spcBef>
                <a:spcPts val="432"/>
              </a:spcBef>
            </a:pPr>
            <a:r>
              <a:rPr lang="en-GB" sz="700" dirty="0">
                <a:solidFill>
                  <a:schemeClr val="tx1">
                    <a:lumMod val="50000"/>
                    <a:lumOff val="50000"/>
                  </a:schemeClr>
                </a:solidFill>
                <a:latin typeface="+mn-lt"/>
              </a:rPr>
              <a:t>Graphic from: </a:t>
            </a:r>
            <a:r>
              <a:rPr lang="en-GB" sz="700" dirty="0">
                <a:solidFill>
                  <a:schemeClr val="tx1">
                    <a:lumMod val="50000"/>
                    <a:lumOff val="50000"/>
                  </a:schemeClr>
                </a:solidFill>
                <a:latin typeface="+mn-lt"/>
                <a:hlinkClick r:id="rId2">
                  <a:extLst>
                    <a:ext uri="{A12FA001-AC4F-418D-AE19-62706E023703}">
                      <ahyp:hlinkClr xmlns:ahyp="http://schemas.microsoft.com/office/drawing/2018/hyperlinkcolor" val="tx"/>
                    </a:ext>
                  </a:extLst>
                </a:hlinkClick>
              </a:rPr>
              <a:t>https://www.britannica.com/</a:t>
            </a:r>
            <a:r>
              <a:rPr lang="en-GB" sz="700" dirty="0">
                <a:solidFill>
                  <a:schemeClr val="tx1">
                    <a:lumMod val="50000"/>
                    <a:lumOff val="50000"/>
                  </a:schemeClr>
                </a:solidFill>
                <a:latin typeface="+mn-lt"/>
              </a:rPr>
              <a:t> </a:t>
            </a:r>
            <a:endParaRPr lang="en-DK" sz="700" dirty="0">
              <a:solidFill>
                <a:schemeClr val="tx1">
                  <a:lumMod val="50000"/>
                  <a:lumOff val="50000"/>
                </a:schemeClr>
              </a:solidFill>
              <a:latin typeface="+mn-lt"/>
            </a:endParaRPr>
          </a:p>
          <a:p>
            <a:pPr algn="l">
              <a:spcBef>
                <a:spcPts val="432"/>
              </a:spcBef>
            </a:pPr>
            <a:endParaRPr lang="en-DK" sz="700" dirty="0" err="1">
              <a:solidFill>
                <a:schemeClr val="tx1">
                  <a:lumMod val="50000"/>
                  <a:lumOff val="50000"/>
                </a:schemeClr>
              </a:solidFill>
              <a:latin typeface="+mn-lt"/>
            </a:endParaRPr>
          </a:p>
        </p:txBody>
      </p:sp>
      <p:cxnSp>
        <p:nvCxnSpPr>
          <p:cNvPr id="9" name="Straight Arrow Connector 8">
            <a:extLst>
              <a:ext uri="{FF2B5EF4-FFF2-40B4-BE49-F238E27FC236}">
                <a16:creationId xmlns:a16="http://schemas.microsoft.com/office/drawing/2014/main" id="{7CEF315E-A8B6-DD02-3561-70DF8AC93B68}"/>
              </a:ext>
            </a:extLst>
          </p:cNvPr>
          <p:cNvCxnSpPr/>
          <p:nvPr/>
        </p:nvCxnSpPr>
        <p:spPr bwMode="auto">
          <a:xfrm flipV="1">
            <a:off x="2824725" y="1661604"/>
            <a:ext cx="0" cy="360000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ectangle 13">
            <a:extLst>
              <a:ext uri="{FF2B5EF4-FFF2-40B4-BE49-F238E27FC236}">
                <a16:creationId xmlns:a16="http://schemas.microsoft.com/office/drawing/2014/main" id="{3FC935F4-13D9-8A77-5356-DBBB22D0F3C1}"/>
              </a:ext>
            </a:extLst>
          </p:cNvPr>
          <p:cNvSpPr/>
          <p:nvPr/>
        </p:nvSpPr>
        <p:spPr bwMode="auto">
          <a:xfrm>
            <a:off x="2854846" y="5085184"/>
            <a:ext cx="1224136" cy="156557"/>
          </a:xfrm>
          <a:prstGeom prst="rect">
            <a:avLst/>
          </a:prstGeom>
          <a:solidFill>
            <a:schemeClr val="accent5">
              <a:lumMod val="40000"/>
              <a:lumOff val="60000"/>
              <a:alpha val="67059"/>
            </a:schemeClr>
          </a:solidFill>
          <a:ln>
            <a:solidFill>
              <a:schemeClr val="accent5"/>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5" name="Rectangle 14">
            <a:extLst>
              <a:ext uri="{FF2B5EF4-FFF2-40B4-BE49-F238E27FC236}">
                <a16:creationId xmlns:a16="http://schemas.microsoft.com/office/drawing/2014/main" id="{532B421B-7506-97C9-38FF-94F5CF6AB3FC}"/>
              </a:ext>
            </a:extLst>
          </p:cNvPr>
          <p:cNvSpPr/>
          <p:nvPr/>
        </p:nvSpPr>
        <p:spPr bwMode="auto">
          <a:xfrm>
            <a:off x="4093797" y="4844220"/>
            <a:ext cx="720077" cy="396797"/>
          </a:xfrm>
          <a:prstGeom prst="rect">
            <a:avLst/>
          </a:prstGeom>
          <a:solidFill>
            <a:srgbClr val="B2D5FF"/>
          </a:solidFill>
          <a:ln>
            <a:solidFill>
              <a:srgbClr val="6583CD"/>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6" name="Rectangle 15">
            <a:extLst>
              <a:ext uri="{FF2B5EF4-FFF2-40B4-BE49-F238E27FC236}">
                <a16:creationId xmlns:a16="http://schemas.microsoft.com/office/drawing/2014/main" id="{160037AF-8B58-EB4D-ED98-C0FC59B95DD9}"/>
              </a:ext>
            </a:extLst>
          </p:cNvPr>
          <p:cNvSpPr/>
          <p:nvPr/>
        </p:nvSpPr>
        <p:spPr bwMode="auto">
          <a:xfrm>
            <a:off x="4828689" y="4400648"/>
            <a:ext cx="849281" cy="840369"/>
          </a:xfrm>
          <a:prstGeom prst="rect">
            <a:avLst/>
          </a:prstGeom>
          <a:solidFill>
            <a:schemeClr val="accent3">
              <a:lumMod val="40000"/>
              <a:lumOff val="60000"/>
            </a:schemeClr>
          </a:solidFill>
          <a:ln>
            <a:solidFill>
              <a:schemeClr val="accent3">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7" name="Rectangle 16">
            <a:extLst>
              <a:ext uri="{FF2B5EF4-FFF2-40B4-BE49-F238E27FC236}">
                <a16:creationId xmlns:a16="http://schemas.microsoft.com/office/drawing/2014/main" id="{CC9B6FA0-0809-3E4F-40B2-ECFC245046FC}"/>
              </a:ext>
            </a:extLst>
          </p:cNvPr>
          <p:cNvSpPr/>
          <p:nvPr/>
        </p:nvSpPr>
        <p:spPr bwMode="auto">
          <a:xfrm>
            <a:off x="5703255" y="3927576"/>
            <a:ext cx="468109" cy="1307960"/>
          </a:xfrm>
          <a:prstGeom prst="rect">
            <a:avLst/>
          </a:prstGeom>
          <a:solidFill>
            <a:schemeClr val="accent1">
              <a:lumMod val="40000"/>
              <a:lumOff val="60000"/>
            </a:schemeClr>
          </a:solidFill>
          <a:ln>
            <a:solidFill>
              <a:schemeClr val="accent6">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22" name="Straight Connector 21">
            <a:extLst>
              <a:ext uri="{FF2B5EF4-FFF2-40B4-BE49-F238E27FC236}">
                <a16:creationId xmlns:a16="http://schemas.microsoft.com/office/drawing/2014/main" id="{9CDCC674-D0E5-4D80-F897-35A1A8B34523}"/>
              </a:ext>
            </a:extLst>
          </p:cNvPr>
          <p:cNvCxnSpPr>
            <a:cxnSpLocks/>
          </p:cNvCxnSpPr>
          <p:nvPr/>
        </p:nvCxnSpPr>
        <p:spPr bwMode="auto">
          <a:xfrm>
            <a:off x="5519142" y="2132856"/>
            <a:ext cx="0" cy="3128748"/>
          </a:xfrm>
          <a:prstGeom prst="line">
            <a:avLst/>
          </a:prstGeom>
          <a:ln w="3810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8A1BE720-2211-A919-CB41-3348439F89B2}"/>
              </a:ext>
            </a:extLst>
          </p:cNvPr>
          <p:cNvSpPr txBox="1"/>
          <p:nvPr/>
        </p:nvSpPr>
        <p:spPr>
          <a:xfrm>
            <a:off x="5131505" y="1798455"/>
            <a:ext cx="1152128" cy="246221"/>
          </a:xfrm>
          <a:prstGeom prst="rect">
            <a:avLst/>
          </a:prstGeom>
          <a:noFill/>
        </p:spPr>
        <p:txBody>
          <a:bodyPr wrap="square" lIns="0" tIns="0" rIns="0" bIns="0" rtlCol="0">
            <a:spAutoFit/>
          </a:bodyPr>
          <a:lstStyle/>
          <a:p>
            <a:pPr algn="l">
              <a:spcBef>
                <a:spcPts val="432"/>
              </a:spcBef>
            </a:pPr>
            <a:r>
              <a:rPr lang="en-DK" dirty="0">
                <a:latin typeface="+mn-lt"/>
              </a:rPr>
              <a:t>Demand</a:t>
            </a:r>
          </a:p>
        </p:txBody>
      </p:sp>
      <p:sp>
        <p:nvSpPr>
          <p:cNvPr id="25" name="TextBox 24">
            <a:extLst>
              <a:ext uri="{FF2B5EF4-FFF2-40B4-BE49-F238E27FC236}">
                <a16:creationId xmlns:a16="http://schemas.microsoft.com/office/drawing/2014/main" id="{E2E10E76-C1A3-21B5-11E7-A728A189D044}"/>
              </a:ext>
            </a:extLst>
          </p:cNvPr>
          <p:cNvSpPr txBox="1"/>
          <p:nvPr/>
        </p:nvSpPr>
        <p:spPr>
          <a:xfrm>
            <a:off x="8155615" y="5138493"/>
            <a:ext cx="1512168" cy="246221"/>
          </a:xfrm>
          <a:prstGeom prst="rect">
            <a:avLst/>
          </a:prstGeom>
          <a:noFill/>
        </p:spPr>
        <p:txBody>
          <a:bodyPr wrap="square" lIns="0" tIns="0" rIns="0" bIns="0" rtlCol="0">
            <a:spAutoFit/>
          </a:bodyPr>
          <a:lstStyle/>
          <a:p>
            <a:pPr algn="l">
              <a:spcBef>
                <a:spcPts val="432"/>
              </a:spcBef>
            </a:pPr>
            <a:r>
              <a:rPr lang="en-DK" dirty="0">
                <a:latin typeface="+mn-lt"/>
              </a:rPr>
              <a:t>Quantity (MWh)</a:t>
            </a:r>
          </a:p>
        </p:txBody>
      </p:sp>
      <p:cxnSp>
        <p:nvCxnSpPr>
          <p:cNvPr id="10" name="Straight Arrow Connector 9">
            <a:extLst>
              <a:ext uri="{FF2B5EF4-FFF2-40B4-BE49-F238E27FC236}">
                <a16:creationId xmlns:a16="http://schemas.microsoft.com/office/drawing/2014/main" id="{DD6787AE-F548-74EE-991C-DAA30B7CC2FF}"/>
              </a:ext>
            </a:extLst>
          </p:cNvPr>
          <p:cNvCxnSpPr/>
          <p:nvPr/>
        </p:nvCxnSpPr>
        <p:spPr bwMode="auto">
          <a:xfrm>
            <a:off x="2819326" y="5261604"/>
            <a:ext cx="5220096" cy="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a:extLst>
              <a:ext uri="{FF2B5EF4-FFF2-40B4-BE49-F238E27FC236}">
                <a16:creationId xmlns:a16="http://schemas.microsoft.com/office/drawing/2014/main" id="{35B9C22A-3F8C-EB57-7B2B-17DDF4D72EDB}"/>
              </a:ext>
            </a:extLst>
          </p:cNvPr>
          <p:cNvSpPr txBox="1"/>
          <p:nvPr/>
        </p:nvSpPr>
        <p:spPr>
          <a:xfrm>
            <a:off x="2098762" y="1288115"/>
            <a:ext cx="1512168" cy="246221"/>
          </a:xfrm>
          <a:prstGeom prst="rect">
            <a:avLst/>
          </a:prstGeom>
          <a:noFill/>
        </p:spPr>
        <p:txBody>
          <a:bodyPr wrap="square" lIns="0" tIns="0" rIns="0" bIns="0" rtlCol="0">
            <a:spAutoFit/>
          </a:bodyPr>
          <a:lstStyle/>
          <a:p>
            <a:pPr algn="l">
              <a:spcBef>
                <a:spcPts val="432"/>
              </a:spcBef>
            </a:pPr>
            <a:r>
              <a:rPr lang="en-DK" dirty="0">
                <a:latin typeface="+mn-lt"/>
              </a:rPr>
              <a:t>Price (€/MWh)</a:t>
            </a:r>
          </a:p>
        </p:txBody>
      </p:sp>
      <p:cxnSp>
        <p:nvCxnSpPr>
          <p:cNvPr id="28" name="Straight Connector 27">
            <a:extLst>
              <a:ext uri="{FF2B5EF4-FFF2-40B4-BE49-F238E27FC236}">
                <a16:creationId xmlns:a16="http://schemas.microsoft.com/office/drawing/2014/main" id="{38F39B58-DBC5-6515-097C-E5B092EEC2F3}"/>
              </a:ext>
            </a:extLst>
          </p:cNvPr>
          <p:cNvCxnSpPr/>
          <p:nvPr/>
        </p:nvCxnSpPr>
        <p:spPr bwMode="auto">
          <a:xfrm>
            <a:off x="2854846" y="4400648"/>
            <a:ext cx="2664296" cy="0"/>
          </a:xfrm>
          <a:prstGeom prst="line">
            <a:avLst/>
          </a:prstGeom>
          <a:solidFill>
            <a:schemeClr val="accent1"/>
          </a:solidFill>
          <a:ln w="38100" cap="flat" cmpd="sng" algn="ctr">
            <a:solidFill>
              <a:schemeClr val="tx1"/>
            </a:solidFill>
            <a:prstDash val="sysDot"/>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Box 30">
            <a:extLst>
              <a:ext uri="{FF2B5EF4-FFF2-40B4-BE49-F238E27FC236}">
                <a16:creationId xmlns:a16="http://schemas.microsoft.com/office/drawing/2014/main" id="{7D0F5E37-643C-F064-CCF6-4EC1875523D8}"/>
              </a:ext>
            </a:extLst>
          </p:cNvPr>
          <p:cNvSpPr txBox="1"/>
          <p:nvPr/>
        </p:nvSpPr>
        <p:spPr>
          <a:xfrm>
            <a:off x="803341" y="4259419"/>
            <a:ext cx="2279530" cy="246221"/>
          </a:xfrm>
          <a:prstGeom prst="rect">
            <a:avLst/>
          </a:prstGeom>
          <a:noFill/>
        </p:spPr>
        <p:txBody>
          <a:bodyPr wrap="square" lIns="0" tIns="0" rIns="0" bIns="0" rtlCol="0">
            <a:spAutoFit/>
          </a:bodyPr>
          <a:lstStyle/>
          <a:p>
            <a:pPr algn="l">
              <a:spcBef>
                <a:spcPts val="432"/>
              </a:spcBef>
            </a:pPr>
            <a:r>
              <a:rPr lang="en-DK" dirty="0">
                <a:latin typeface="+mn-lt"/>
              </a:rPr>
              <a:t>Market clearing price</a:t>
            </a:r>
          </a:p>
        </p:txBody>
      </p:sp>
      <p:sp>
        <p:nvSpPr>
          <p:cNvPr id="35" name="TextBox 34">
            <a:extLst>
              <a:ext uri="{FF2B5EF4-FFF2-40B4-BE49-F238E27FC236}">
                <a16:creationId xmlns:a16="http://schemas.microsoft.com/office/drawing/2014/main" id="{3C75A9D1-D44C-00D5-E871-3EDD62C5D1A7}"/>
              </a:ext>
            </a:extLst>
          </p:cNvPr>
          <p:cNvSpPr txBox="1"/>
          <p:nvPr/>
        </p:nvSpPr>
        <p:spPr>
          <a:xfrm>
            <a:off x="3358902" y="5335776"/>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G1</a:t>
            </a:r>
          </a:p>
        </p:txBody>
      </p:sp>
      <p:sp>
        <p:nvSpPr>
          <p:cNvPr id="36" name="TextBox 35">
            <a:extLst>
              <a:ext uri="{FF2B5EF4-FFF2-40B4-BE49-F238E27FC236}">
                <a16:creationId xmlns:a16="http://schemas.microsoft.com/office/drawing/2014/main" id="{7F2EC97B-373D-80F4-5EF3-4F4F2497BC69}"/>
              </a:ext>
            </a:extLst>
          </p:cNvPr>
          <p:cNvSpPr txBox="1"/>
          <p:nvPr/>
        </p:nvSpPr>
        <p:spPr>
          <a:xfrm>
            <a:off x="4299223" y="5335776"/>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G2</a:t>
            </a:r>
          </a:p>
        </p:txBody>
      </p:sp>
      <p:sp>
        <p:nvSpPr>
          <p:cNvPr id="37" name="TextBox 36">
            <a:extLst>
              <a:ext uri="{FF2B5EF4-FFF2-40B4-BE49-F238E27FC236}">
                <a16:creationId xmlns:a16="http://schemas.microsoft.com/office/drawing/2014/main" id="{C6841F7D-40C1-AAC7-FD5F-F94E0902AE12}"/>
              </a:ext>
            </a:extLst>
          </p:cNvPr>
          <p:cNvSpPr txBox="1"/>
          <p:nvPr/>
        </p:nvSpPr>
        <p:spPr>
          <a:xfrm>
            <a:off x="5131505" y="5332001"/>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G3</a:t>
            </a:r>
          </a:p>
        </p:txBody>
      </p:sp>
      <p:sp>
        <p:nvSpPr>
          <p:cNvPr id="38" name="TextBox 37">
            <a:extLst>
              <a:ext uri="{FF2B5EF4-FFF2-40B4-BE49-F238E27FC236}">
                <a16:creationId xmlns:a16="http://schemas.microsoft.com/office/drawing/2014/main" id="{82D02316-54F1-7EB9-DA45-90B77A90D4E4}"/>
              </a:ext>
            </a:extLst>
          </p:cNvPr>
          <p:cNvSpPr txBox="1"/>
          <p:nvPr/>
        </p:nvSpPr>
        <p:spPr>
          <a:xfrm>
            <a:off x="5818521" y="5332001"/>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G4</a:t>
            </a:r>
          </a:p>
        </p:txBody>
      </p:sp>
      <p:sp>
        <p:nvSpPr>
          <p:cNvPr id="39" name="TextBox 38">
            <a:extLst>
              <a:ext uri="{FF2B5EF4-FFF2-40B4-BE49-F238E27FC236}">
                <a16:creationId xmlns:a16="http://schemas.microsoft.com/office/drawing/2014/main" id="{8700F55D-FDBF-7F9B-B209-4D9745284B0F}"/>
              </a:ext>
            </a:extLst>
          </p:cNvPr>
          <p:cNvSpPr txBox="1"/>
          <p:nvPr/>
        </p:nvSpPr>
        <p:spPr>
          <a:xfrm>
            <a:off x="6313005" y="5329144"/>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G5</a:t>
            </a:r>
          </a:p>
        </p:txBody>
      </p:sp>
      <p:sp>
        <p:nvSpPr>
          <p:cNvPr id="21" name="Rectangle 20">
            <a:extLst>
              <a:ext uri="{FF2B5EF4-FFF2-40B4-BE49-F238E27FC236}">
                <a16:creationId xmlns:a16="http://schemas.microsoft.com/office/drawing/2014/main" id="{E07C916D-F7CD-878C-6080-A52C581B8FBD}"/>
              </a:ext>
            </a:extLst>
          </p:cNvPr>
          <p:cNvSpPr/>
          <p:nvPr/>
        </p:nvSpPr>
        <p:spPr bwMode="auto">
          <a:xfrm>
            <a:off x="6187517" y="2996954"/>
            <a:ext cx="468109" cy="2245628"/>
          </a:xfrm>
          <a:prstGeom prst="rect">
            <a:avLst/>
          </a:prstGeom>
          <a:solidFill>
            <a:schemeClr val="tx1">
              <a:lumMod val="65000"/>
              <a:lumOff val="35000"/>
            </a:schemeClr>
          </a:solidFill>
          <a:ln>
            <a:solidFill>
              <a:schemeClr val="tx1">
                <a:lumMod val="85000"/>
                <a:lumOff val="1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Tree>
    <p:extLst>
      <p:ext uri="{BB962C8B-B14F-4D97-AF65-F5344CB8AC3E}">
        <p14:creationId xmlns:p14="http://schemas.microsoft.com/office/powerpoint/2010/main" val="3356380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1CDB6-60B1-24BB-6A47-46E9F1EB5F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BB5E3-BC8D-03FC-8950-F4CCD6FB3430}"/>
              </a:ext>
            </a:extLst>
          </p:cNvPr>
          <p:cNvSpPr>
            <a:spLocks noGrp="1"/>
          </p:cNvSpPr>
          <p:nvPr>
            <p:ph type="title"/>
          </p:nvPr>
        </p:nvSpPr>
        <p:spPr>
          <a:xfrm>
            <a:off x="1414686" y="260648"/>
            <a:ext cx="9312374" cy="540000"/>
          </a:xfrm>
        </p:spPr>
        <p:txBody>
          <a:bodyPr/>
          <a:lstStyle/>
          <a:p>
            <a:r>
              <a:rPr lang="en-US" dirty="0"/>
              <a:t>Market Clearing 101</a:t>
            </a:r>
            <a:endParaRPr lang="en-DK" dirty="0"/>
          </a:p>
        </p:txBody>
      </p:sp>
      <p:sp>
        <p:nvSpPr>
          <p:cNvPr id="3" name="Content Placeholder 2">
            <a:extLst>
              <a:ext uri="{FF2B5EF4-FFF2-40B4-BE49-F238E27FC236}">
                <a16:creationId xmlns:a16="http://schemas.microsoft.com/office/drawing/2014/main" id="{CE0CC238-A5D2-DDB4-07C3-7708858BC55A}"/>
              </a:ext>
            </a:extLst>
          </p:cNvPr>
          <p:cNvSpPr>
            <a:spLocks noGrp="1"/>
          </p:cNvSpPr>
          <p:nvPr>
            <p:ph idx="1"/>
          </p:nvPr>
        </p:nvSpPr>
        <p:spPr>
          <a:xfrm>
            <a:off x="1439019" y="1124744"/>
            <a:ext cx="9312374" cy="4839202"/>
          </a:xfrm>
        </p:spPr>
        <p:txBody>
          <a:bodyPr/>
          <a:lstStyle/>
          <a:p>
            <a:pPr marL="0" indent="0">
              <a:buNone/>
            </a:pPr>
            <a:r>
              <a:rPr lang="en-DK" b="1" dirty="0">
                <a:solidFill>
                  <a:schemeClr val="bg1"/>
                </a:solidFill>
              </a:rPr>
              <a:t>.</a:t>
            </a:r>
          </a:p>
        </p:txBody>
      </p:sp>
      <p:sp>
        <p:nvSpPr>
          <p:cNvPr id="4" name="Date Placeholder 3">
            <a:extLst>
              <a:ext uri="{FF2B5EF4-FFF2-40B4-BE49-F238E27FC236}">
                <a16:creationId xmlns:a16="http://schemas.microsoft.com/office/drawing/2014/main" id="{8D0CB0A4-1083-BA9A-6757-45292AB18F2B}"/>
              </a:ext>
            </a:extLst>
          </p:cNvPr>
          <p:cNvSpPr>
            <a:spLocks noGrp="1"/>
          </p:cNvSpPr>
          <p:nvPr>
            <p:ph type="dt" sz="half" idx="10"/>
          </p:nvPr>
        </p:nvSpPr>
        <p:spPr/>
        <p:txBody>
          <a:bodyPr/>
          <a:lstStyle/>
          <a:p>
            <a:fld id="{1F6C1D6E-3917-4A84-B0CC-D0125E11535E}" type="datetime1">
              <a:rPr lang="da-DK" smtClean="0"/>
              <a:t>03-09-2026</a:t>
            </a:fld>
            <a:endParaRPr lang="en-GB"/>
          </a:p>
        </p:txBody>
      </p:sp>
      <p:sp>
        <p:nvSpPr>
          <p:cNvPr id="5" name="Footer Placeholder 4">
            <a:extLst>
              <a:ext uri="{FF2B5EF4-FFF2-40B4-BE49-F238E27FC236}">
                <a16:creationId xmlns:a16="http://schemas.microsoft.com/office/drawing/2014/main" id="{0DA2FF3C-A054-850E-4120-20A239F97569}"/>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C6F0C54D-9456-1109-032A-F76EDB418B37}"/>
              </a:ext>
            </a:extLst>
          </p:cNvPr>
          <p:cNvSpPr>
            <a:spLocks noGrp="1"/>
          </p:cNvSpPr>
          <p:nvPr>
            <p:ph type="sldNum" sz="quarter" idx="12"/>
          </p:nvPr>
        </p:nvSpPr>
        <p:spPr/>
        <p:txBody>
          <a:bodyPr/>
          <a:lstStyle/>
          <a:p>
            <a:fld id="{103EA872-A674-449B-A120-B97244F8E91D}" type="slidenum">
              <a:rPr lang="da-DK" smtClean="0"/>
              <a:pPr/>
              <a:t>4</a:t>
            </a:fld>
            <a:endParaRPr lang="da-DK" dirty="0"/>
          </a:p>
        </p:txBody>
      </p:sp>
      <p:sp>
        <p:nvSpPr>
          <p:cNvPr id="11" name="Right Brace 10">
            <a:extLst>
              <a:ext uri="{FF2B5EF4-FFF2-40B4-BE49-F238E27FC236}">
                <a16:creationId xmlns:a16="http://schemas.microsoft.com/office/drawing/2014/main" id="{A084C7C3-940E-2BB0-29D7-5F9FEB61F164}"/>
              </a:ext>
            </a:extLst>
          </p:cNvPr>
          <p:cNvSpPr/>
          <p:nvPr/>
        </p:nvSpPr>
        <p:spPr bwMode="auto">
          <a:xfrm rot="5400000">
            <a:off x="4002723" y="4410615"/>
            <a:ext cx="252000" cy="2601303"/>
          </a:xfrm>
          <a:prstGeom prst="rightBrace">
            <a:avLst>
              <a:gd name="adj1" fmla="val 69983"/>
              <a:gd name="adj2" fmla="val 50000"/>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DK"/>
          </a:p>
        </p:txBody>
      </p:sp>
      <p:sp>
        <p:nvSpPr>
          <p:cNvPr id="12" name="Right Brace 11">
            <a:extLst>
              <a:ext uri="{FF2B5EF4-FFF2-40B4-BE49-F238E27FC236}">
                <a16:creationId xmlns:a16="http://schemas.microsoft.com/office/drawing/2014/main" id="{E161F60E-25AA-F4A8-4513-1CEAFE2E2995}"/>
              </a:ext>
            </a:extLst>
          </p:cNvPr>
          <p:cNvSpPr/>
          <p:nvPr/>
        </p:nvSpPr>
        <p:spPr bwMode="auto">
          <a:xfrm rot="5400000">
            <a:off x="5929999" y="5107272"/>
            <a:ext cx="252000" cy="1230542"/>
          </a:xfrm>
          <a:prstGeom prst="rightBrace">
            <a:avLst>
              <a:gd name="adj1" fmla="val 69983"/>
              <a:gd name="adj2" fmla="val 50000"/>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DK"/>
          </a:p>
        </p:txBody>
      </p:sp>
      <p:sp>
        <p:nvSpPr>
          <p:cNvPr id="13" name="TextBox 12">
            <a:extLst>
              <a:ext uri="{FF2B5EF4-FFF2-40B4-BE49-F238E27FC236}">
                <a16:creationId xmlns:a16="http://schemas.microsoft.com/office/drawing/2014/main" id="{CDC0CB9B-9E1C-CA53-9A34-7FB77AD7B631}"/>
              </a:ext>
            </a:extLst>
          </p:cNvPr>
          <p:cNvSpPr txBox="1"/>
          <p:nvPr/>
        </p:nvSpPr>
        <p:spPr>
          <a:xfrm>
            <a:off x="3358902" y="5917510"/>
            <a:ext cx="1660401" cy="246221"/>
          </a:xfrm>
          <a:prstGeom prst="rect">
            <a:avLst/>
          </a:prstGeom>
          <a:noFill/>
        </p:spPr>
        <p:txBody>
          <a:bodyPr wrap="square" lIns="0" tIns="0" rIns="0" bIns="0" rtlCol="0">
            <a:spAutoFit/>
          </a:bodyPr>
          <a:lstStyle/>
          <a:p>
            <a:pPr algn="l">
              <a:spcBef>
                <a:spcPts val="432"/>
              </a:spcBef>
            </a:pPr>
            <a:r>
              <a:rPr lang="en-DK" dirty="0">
                <a:latin typeface="+mn-lt"/>
              </a:rPr>
              <a:t>Generating power</a:t>
            </a:r>
          </a:p>
        </p:txBody>
      </p:sp>
      <p:sp>
        <p:nvSpPr>
          <p:cNvPr id="19" name="TextBox 18">
            <a:extLst>
              <a:ext uri="{FF2B5EF4-FFF2-40B4-BE49-F238E27FC236}">
                <a16:creationId xmlns:a16="http://schemas.microsoft.com/office/drawing/2014/main" id="{5C0293E6-1C0D-89B1-AD1C-80C9E5B41C7B}"/>
              </a:ext>
            </a:extLst>
          </p:cNvPr>
          <p:cNvSpPr txBox="1"/>
          <p:nvPr/>
        </p:nvSpPr>
        <p:spPr>
          <a:xfrm>
            <a:off x="6313005" y="5937259"/>
            <a:ext cx="540805" cy="246221"/>
          </a:xfrm>
          <a:prstGeom prst="rect">
            <a:avLst/>
          </a:prstGeom>
          <a:noFill/>
        </p:spPr>
        <p:txBody>
          <a:bodyPr wrap="square" lIns="0" tIns="0" rIns="0" bIns="0" rtlCol="0">
            <a:spAutoFit/>
          </a:bodyPr>
          <a:lstStyle/>
          <a:p>
            <a:pPr algn="l">
              <a:spcBef>
                <a:spcPts val="432"/>
              </a:spcBef>
            </a:pPr>
            <a:r>
              <a:rPr lang="en-DK" dirty="0">
                <a:latin typeface="+mn-lt"/>
              </a:rPr>
              <a:t>Off</a:t>
            </a:r>
          </a:p>
        </p:txBody>
      </p:sp>
      <p:grpSp>
        <p:nvGrpSpPr>
          <p:cNvPr id="29" name="Group 28">
            <a:extLst>
              <a:ext uri="{FF2B5EF4-FFF2-40B4-BE49-F238E27FC236}">
                <a16:creationId xmlns:a16="http://schemas.microsoft.com/office/drawing/2014/main" id="{BEE6E1B4-D111-E609-986F-69200CF39E6F}"/>
              </a:ext>
            </a:extLst>
          </p:cNvPr>
          <p:cNvGrpSpPr/>
          <p:nvPr/>
        </p:nvGrpSpPr>
        <p:grpSpPr>
          <a:xfrm>
            <a:off x="803341" y="1288115"/>
            <a:ext cx="8864442" cy="4232327"/>
            <a:chOff x="803341" y="1288115"/>
            <a:chExt cx="8864442" cy="4232327"/>
          </a:xfrm>
        </p:grpSpPr>
        <p:cxnSp>
          <p:nvCxnSpPr>
            <p:cNvPr id="9" name="Straight Arrow Connector 8">
              <a:extLst>
                <a:ext uri="{FF2B5EF4-FFF2-40B4-BE49-F238E27FC236}">
                  <a16:creationId xmlns:a16="http://schemas.microsoft.com/office/drawing/2014/main" id="{6FB0D5FA-26FD-7CEC-879B-C56B0A1A2445}"/>
                </a:ext>
              </a:extLst>
            </p:cNvPr>
            <p:cNvCxnSpPr/>
            <p:nvPr/>
          </p:nvCxnSpPr>
          <p:spPr bwMode="auto">
            <a:xfrm flipV="1">
              <a:off x="2824725" y="1661604"/>
              <a:ext cx="0" cy="360000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ectangle 13">
              <a:extLst>
                <a:ext uri="{FF2B5EF4-FFF2-40B4-BE49-F238E27FC236}">
                  <a16:creationId xmlns:a16="http://schemas.microsoft.com/office/drawing/2014/main" id="{B744E7A5-6548-5261-9F63-79A84131FB96}"/>
                </a:ext>
              </a:extLst>
            </p:cNvPr>
            <p:cNvSpPr/>
            <p:nvPr/>
          </p:nvSpPr>
          <p:spPr bwMode="auto">
            <a:xfrm>
              <a:off x="2854846" y="5085184"/>
              <a:ext cx="1224136" cy="156557"/>
            </a:xfrm>
            <a:prstGeom prst="rect">
              <a:avLst/>
            </a:prstGeom>
            <a:solidFill>
              <a:schemeClr val="accent5">
                <a:lumMod val="40000"/>
                <a:lumOff val="60000"/>
                <a:alpha val="67059"/>
              </a:schemeClr>
            </a:solidFill>
            <a:ln>
              <a:solidFill>
                <a:schemeClr val="accent5"/>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5" name="Rectangle 14">
              <a:extLst>
                <a:ext uri="{FF2B5EF4-FFF2-40B4-BE49-F238E27FC236}">
                  <a16:creationId xmlns:a16="http://schemas.microsoft.com/office/drawing/2014/main" id="{F8C9309C-B991-EE62-014D-E4CE98F86607}"/>
                </a:ext>
              </a:extLst>
            </p:cNvPr>
            <p:cNvSpPr/>
            <p:nvPr/>
          </p:nvSpPr>
          <p:spPr bwMode="auto">
            <a:xfrm>
              <a:off x="4093797" y="4844220"/>
              <a:ext cx="720077" cy="396797"/>
            </a:xfrm>
            <a:prstGeom prst="rect">
              <a:avLst/>
            </a:prstGeom>
            <a:solidFill>
              <a:srgbClr val="B2D5FF"/>
            </a:solidFill>
            <a:ln>
              <a:solidFill>
                <a:srgbClr val="6583CD"/>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6" name="Rectangle 15">
              <a:extLst>
                <a:ext uri="{FF2B5EF4-FFF2-40B4-BE49-F238E27FC236}">
                  <a16:creationId xmlns:a16="http://schemas.microsoft.com/office/drawing/2014/main" id="{AD77AEBE-E900-29CA-D239-17320CBA3C49}"/>
                </a:ext>
              </a:extLst>
            </p:cNvPr>
            <p:cNvSpPr/>
            <p:nvPr/>
          </p:nvSpPr>
          <p:spPr bwMode="auto">
            <a:xfrm>
              <a:off x="4828689" y="4400648"/>
              <a:ext cx="849281" cy="840369"/>
            </a:xfrm>
            <a:prstGeom prst="rect">
              <a:avLst/>
            </a:prstGeom>
            <a:solidFill>
              <a:schemeClr val="accent3">
                <a:lumMod val="40000"/>
                <a:lumOff val="60000"/>
              </a:schemeClr>
            </a:solidFill>
            <a:ln>
              <a:solidFill>
                <a:schemeClr val="accent3">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7" name="Rectangle 16">
              <a:extLst>
                <a:ext uri="{FF2B5EF4-FFF2-40B4-BE49-F238E27FC236}">
                  <a16:creationId xmlns:a16="http://schemas.microsoft.com/office/drawing/2014/main" id="{BB57D2EF-E179-BE3B-2D2F-0BCBD1357051}"/>
                </a:ext>
              </a:extLst>
            </p:cNvPr>
            <p:cNvSpPr/>
            <p:nvPr/>
          </p:nvSpPr>
          <p:spPr bwMode="auto">
            <a:xfrm>
              <a:off x="5703255" y="3927576"/>
              <a:ext cx="468109" cy="1307960"/>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25" name="TextBox 24">
              <a:extLst>
                <a:ext uri="{FF2B5EF4-FFF2-40B4-BE49-F238E27FC236}">
                  <a16:creationId xmlns:a16="http://schemas.microsoft.com/office/drawing/2014/main" id="{C4EFFFDE-AC48-B53E-03AD-6AC4CCE07608}"/>
                </a:ext>
              </a:extLst>
            </p:cNvPr>
            <p:cNvSpPr txBox="1"/>
            <p:nvPr/>
          </p:nvSpPr>
          <p:spPr>
            <a:xfrm>
              <a:off x="8155615" y="5138493"/>
              <a:ext cx="1512168" cy="246221"/>
            </a:xfrm>
            <a:prstGeom prst="rect">
              <a:avLst/>
            </a:prstGeom>
            <a:noFill/>
          </p:spPr>
          <p:txBody>
            <a:bodyPr wrap="square" lIns="0" tIns="0" rIns="0" bIns="0" rtlCol="0">
              <a:spAutoFit/>
            </a:bodyPr>
            <a:lstStyle/>
            <a:p>
              <a:pPr algn="l">
                <a:spcBef>
                  <a:spcPts val="432"/>
                </a:spcBef>
              </a:pPr>
              <a:r>
                <a:rPr lang="en-DK" dirty="0">
                  <a:latin typeface="+mn-lt"/>
                </a:rPr>
                <a:t>Quantity (MWh)</a:t>
              </a:r>
            </a:p>
          </p:txBody>
        </p:sp>
        <p:cxnSp>
          <p:nvCxnSpPr>
            <p:cNvPr id="10" name="Straight Arrow Connector 9">
              <a:extLst>
                <a:ext uri="{FF2B5EF4-FFF2-40B4-BE49-F238E27FC236}">
                  <a16:creationId xmlns:a16="http://schemas.microsoft.com/office/drawing/2014/main" id="{4A719FEE-9B22-6597-7C9D-AFA601F99F64}"/>
                </a:ext>
              </a:extLst>
            </p:cNvPr>
            <p:cNvCxnSpPr/>
            <p:nvPr/>
          </p:nvCxnSpPr>
          <p:spPr bwMode="auto">
            <a:xfrm>
              <a:off x="2819326" y="5261604"/>
              <a:ext cx="5220096" cy="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a:extLst>
                <a:ext uri="{FF2B5EF4-FFF2-40B4-BE49-F238E27FC236}">
                  <a16:creationId xmlns:a16="http://schemas.microsoft.com/office/drawing/2014/main" id="{84AF3E12-98F3-4AFE-8D0B-576466B76751}"/>
                </a:ext>
              </a:extLst>
            </p:cNvPr>
            <p:cNvSpPr txBox="1"/>
            <p:nvPr/>
          </p:nvSpPr>
          <p:spPr>
            <a:xfrm>
              <a:off x="2098762" y="1288115"/>
              <a:ext cx="1512168" cy="246221"/>
            </a:xfrm>
            <a:prstGeom prst="rect">
              <a:avLst/>
            </a:prstGeom>
            <a:noFill/>
          </p:spPr>
          <p:txBody>
            <a:bodyPr wrap="square" lIns="0" tIns="0" rIns="0" bIns="0" rtlCol="0">
              <a:spAutoFit/>
            </a:bodyPr>
            <a:lstStyle/>
            <a:p>
              <a:pPr algn="l">
                <a:spcBef>
                  <a:spcPts val="432"/>
                </a:spcBef>
              </a:pPr>
              <a:r>
                <a:rPr lang="en-DK" dirty="0">
                  <a:latin typeface="+mn-lt"/>
                </a:rPr>
                <a:t>Price (€/MWh)</a:t>
              </a:r>
            </a:p>
          </p:txBody>
        </p:sp>
        <p:cxnSp>
          <p:nvCxnSpPr>
            <p:cNvPr id="28" name="Straight Connector 27">
              <a:extLst>
                <a:ext uri="{FF2B5EF4-FFF2-40B4-BE49-F238E27FC236}">
                  <a16:creationId xmlns:a16="http://schemas.microsoft.com/office/drawing/2014/main" id="{0943A4E6-9C42-5A53-C0DD-19F8946E85CA}"/>
                </a:ext>
              </a:extLst>
            </p:cNvPr>
            <p:cNvCxnSpPr/>
            <p:nvPr/>
          </p:nvCxnSpPr>
          <p:spPr bwMode="auto">
            <a:xfrm>
              <a:off x="2854846" y="4400648"/>
              <a:ext cx="2574528" cy="0"/>
            </a:xfrm>
            <a:prstGeom prst="line">
              <a:avLst/>
            </a:prstGeom>
            <a:solidFill>
              <a:schemeClr val="accent1"/>
            </a:solidFill>
            <a:ln w="38100" cap="flat" cmpd="sng" algn="ctr">
              <a:solidFill>
                <a:schemeClr val="tx1"/>
              </a:solidFill>
              <a:prstDash val="sysDot"/>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Box 30">
              <a:extLst>
                <a:ext uri="{FF2B5EF4-FFF2-40B4-BE49-F238E27FC236}">
                  <a16:creationId xmlns:a16="http://schemas.microsoft.com/office/drawing/2014/main" id="{77D4CC28-BC24-B4A4-3CB6-7531ECB63D7F}"/>
                </a:ext>
              </a:extLst>
            </p:cNvPr>
            <p:cNvSpPr txBox="1"/>
            <p:nvPr/>
          </p:nvSpPr>
          <p:spPr>
            <a:xfrm>
              <a:off x="803341" y="4259419"/>
              <a:ext cx="2279530" cy="246221"/>
            </a:xfrm>
            <a:prstGeom prst="rect">
              <a:avLst/>
            </a:prstGeom>
            <a:noFill/>
          </p:spPr>
          <p:txBody>
            <a:bodyPr wrap="square" lIns="0" tIns="0" rIns="0" bIns="0" rtlCol="0">
              <a:spAutoFit/>
            </a:bodyPr>
            <a:lstStyle/>
            <a:p>
              <a:pPr algn="l">
                <a:spcBef>
                  <a:spcPts val="432"/>
                </a:spcBef>
              </a:pPr>
              <a:r>
                <a:rPr lang="en-DK" dirty="0">
                  <a:latin typeface="+mn-lt"/>
                </a:rPr>
                <a:t>Market clearing price</a:t>
              </a:r>
            </a:p>
          </p:txBody>
        </p:sp>
        <p:sp>
          <p:nvSpPr>
            <p:cNvPr id="35" name="TextBox 34">
              <a:extLst>
                <a:ext uri="{FF2B5EF4-FFF2-40B4-BE49-F238E27FC236}">
                  <a16:creationId xmlns:a16="http://schemas.microsoft.com/office/drawing/2014/main" id="{02151FF6-5A2A-A175-1674-07EF7AD59B37}"/>
                </a:ext>
              </a:extLst>
            </p:cNvPr>
            <p:cNvSpPr txBox="1"/>
            <p:nvPr/>
          </p:nvSpPr>
          <p:spPr>
            <a:xfrm>
              <a:off x="3358902" y="5335776"/>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G1</a:t>
              </a:r>
            </a:p>
          </p:txBody>
        </p:sp>
        <p:sp>
          <p:nvSpPr>
            <p:cNvPr id="36" name="TextBox 35">
              <a:extLst>
                <a:ext uri="{FF2B5EF4-FFF2-40B4-BE49-F238E27FC236}">
                  <a16:creationId xmlns:a16="http://schemas.microsoft.com/office/drawing/2014/main" id="{750FE4F9-7A8D-EA80-209B-8CCAE8BF85E2}"/>
                </a:ext>
              </a:extLst>
            </p:cNvPr>
            <p:cNvSpPr txBox="1"/>
            <p:nvPr/>
          </p:nvSpPr>
          <p:spPr>
            <a:xfrm>
              <a:off x="4299223" y="5335776"/>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G2</a:t>
              </a:r>
            </a:p>
          </p:txBody>
        </p:sp>
        <p:sp>
          <p:nvSpPr>
            <p:cNvPr id="37" name="TextBox 36">
              <a:extLst>
                <a:ext uri="{FF2B5EF4-FFF2-40B4-BE49-F238E27FC236}">
                  <a16:creationId xmlns:a16="http://schemas.microsoft.com/office/drawing/2014/main" id="{78E14310-1B8D-6C2E-6AAC-940A604E8361}"/>
                </a:ext>
              </a:extLst>
            </p:cNvPr>
            <p:cNvSpPr txBox="1"/>
            <p:nvPr/>
          </p:nvSpPr>
          <p:spPr>
            <a:xfrm>
              <a:off x="5131505" y="5332001"/>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G3</a:t>
              </a:r>
            </a:p>
          </p:txBody>
        </p:sp>
        <p:sp>
          <p:nvSpPr>
            <p:cNvPr id="38" name="TextBox 37">
              <a:extLst>
                <a:ext uri="{FF2B5EF4-FFF2-40B4-BE49-F238E27FC236}">
                  <a16:creationId xmlns:a16="http://schemas.microsoft.com/office/drawing/2014/main" id="{A1A6319B-A865-C814-C2AC-592E252C082B}"/>
                </a:ext>
              </a:extLst>
            </p:cNvPr>
            <p:cNvSpPr txBox="1"/>
            <p:nvPr/>
          </p:nvSpPr>
          <p:spPr>
            <a:xfrm>
              <a:off x="5818521" y="5332001"/>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G4</a:t>
              </a:r>
            </a:p>
          </p:txBody>
        </p:sp>
        <p:sp>
          <p:nvSpPr>
            <p:cNvPr id="39" name="TextBox 38">
              <a:extLst>
                <a:ext uri="{FF2B5EF4-FFF2-40B4-BE49-F238E27FC236}">
                  <a16:creationId xmlns:a16="http://schemas.microsoft.com/office/drawing/2014/main" id="{A8FCF0EB-0F9D-0B68-4C16-DF82E547FBDA}"/>
                </a:ext>
              </a:extLst>
            </p:cNvPr>
            <p:cNvSpPr txBox="1"/>
            <p:nvPr/>
          </p:nvSpPr>
          <p:spPr>
            <a:xfrm>
              <a:off x="6313005" y="5329144"/>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G5</a:t>
              </a:r>
            </a:p>
          </p:txBody>
        </p:sp>
        <p:sp>
          <p:nvSpPr>
            <p:cNvPr id="7" name="Rectangle 6">
              <a:extLst>
                <a:ext uri="{FF2B5EF4-FFF2-40B4-BE49-F238E27FC236}">
                  <a16:creationId xmlns:a16="http://schemas.microsoft.com/office/drawing/2014/main" id="{DA6EF1B4-84B7-76CA-6A98-2023F9AF930D}"/>
                </a:ext>
              </a:extLst>
            </p:cNvPr>
            <p:cNvSpPr/>
            <p:nvPr/>
          </p:nvSpPr>
          <p:spPr bwMode="auto">
            <a:xfrm>
              <a:off x="5519142" y="4400648"/>
              <a:ext cx="158828" cy="834888"/>
            </a:xfrm>
            <a:prstGeom prst="rect">
              <a:avLst/>
            </a:prstGeom>
            <a:solidFill>
              <a:schemeClr val="bg1">
                <a:lumMod val="85000"/>
              </a:schemeClr>
            </a:solidFill>
            <a:ln w="28575" cap="flat" cmpd="sng" algn="ctr">
              <a:solidFill>
                <a:schemeClr val="bg1">
                  <a:lumMod val="50000"/>
                </a:schemeClr>
              </a:solid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22" name="Straight Connector 21">
              <a:extLst>
                <a:ext uri="{FF2B5EF4-FFF2-40B4-BE49-F238E27FC236}">
                  <a16:creationId xmlns:a16="http://schemas.microsoft.com/office/drawing/2014/main" id="{2FA509EE-4F80-452E-76EF-5B6DB069ABDE}"/>
                </a:ext>
              </a:extLst>
            </p:cNvPr>
            <p:cNvCxnSpPr>
              <a:cxnSpLocks/>
            </p:cNvCxnSpPr>
            <p:nvPr/>
          </p:nvCxnSpPr>
          <p:spPr bwMode="auto">
            <a:xfrm>
              <a:off x="5519142" y="2132856"/>
              <a:ext cx="0" cy="3128748"/>
            </a:xfrm>
            <a:prstGeom prst="line">
              <a:avLst/>
            </a:prstGeom>
            <a:ln w="3810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CE05E5D0-8B3A-8605-7CE0-CBA7D75B8EFF}"/>
                </a:ext>
              </a:extLst>
            </p:cNvPr>
            <p:cNvSpPr txBox="1"/>
            <p:nvPr/>
          </p:nvSpPr>
          <p:spPr>
            <a:xfrm>
              <a:off x="5131505" y="1798455"/>
              <a:ext cx="1152128" cy="246221"/>
            </a:xfrm>
            <a:prstGeom prst="rect">
              <a:avLst/>
            </a:prstGeom>
            <a:noFill/>
          </p:spPr>
          <p:txBody>
            <a:bodyPr wrap="square" lIns="0" tIns="0" rIns="0" bIns="0" rtlCol="0">
              <a:spAutoFit/>
            </a:bodyPr>
            <a:lstStyle/>
            <a:p>
              <a:pPr algn="l">
                <a:spcBef>
                  <a:spcPts val="432"/>
                </a:spcBef>
              </a:pPr>
              <a:r>
                <a:rPr lang="en-DK" dirty="0">
                  <a:latin typeface="+mn-lt"/>
                </a:rPr>
                <a:t>Demand</a:t>
              </a:r>
            </a:p>
          </p:txBody>
        </p:sp>
        <p:sp>
          <p:nvSpPr>
            <p:cNvPr id="24" name="Rectangle 23">
              <a:extLst>
                <a:ext uri="{FF2B5EF4-FFF2-40B4-BE49-F238E27FC236}">
                  <a16:creationId xmlns:a16="http://schemas.microsoft.com/office/drawing/2014/main" id="{9A44FD5E-65A7-3E51-C3F3-63968130F727}"/>
                </a:ext>
              </a:extLst>
            </p:cNvPr>
            <p:cNvSpPr/>
            <p:nvPr/>
          </p:nvSpPr>
          <p:spPr bwMode="auto">
            <a:xfrm>
              <a:off x="6187517" y="2996954"/>
              <a:ext cx="468109" cy="2245628"/>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grpSp>
    </p:spTree>
    <p:extLst>
      <p:ext uri="{BB962C8B-B14F-4D97-AF65-F5344CB8AC3E}">
        <p14:creationId xmlns:p14="http://schemas.microsoft.com/office/powerpoint/2010/main" val="2360458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ECDCD-6A42-7E89-9E96-49E428964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FF8C8-9D9F-28EB-078A-7DAA7F419ADD}"/>
              </a:ext>
            </a:extLst>
          </p:cNvPr>
          <p:cNvSpPr>
            <a:spLocks noGrp="1"/>
          </p:cNvSpPr>
          <p:nvPr>
            <p:ph type="title"/>
          </p:nvPr>
        </p:nvSpPr>
        <p:spPr>
          <a:xfrm>
            <a:off x="1414686" y="260648"/>
            <a:ext cx="9312374" cy="540000"/>
          </a:xfrm>
        </p:spPr>
        <p:txBody>
          <a:bodyPr/>
          <a:lstStyle/>
          <a:p>
            <a:r>
              <a:rPr lang="en-US" dirty="0"/>
              <a:t>Market Clearing 101</a:t>
            </a:r>
            <a:endParaRPr lang="en-DK" dirty="0"/>
          </a:p>
        </p:txBody>
      </p:sp>
      <p:sp>
        <p:nvSpPr>
          <p:cNvPr id="3" name="Content Placeholder 2">
            <a:extLst>
              <a:ext uri="{FF2B5EF4-FFF2-40B4-BE49-F238E27FC236}">
                <a16:creationId xmlns:a16="http://schemas.microsoft.com/office/drawing/2014/main" id="{72973F9D-41B4-2854-06BF-25BAC218B5AC}"/>
              </a:ext>
            </a:extLst>
          </p:cNvPr>
          <p:cNvSpPr>
            <a:spLocks noGrp="1"/>
          </p:cNvSpPr>
          <p:nvPr>
            <p:ph idx="1"/>
          </p:nvPr>
        </p:nvSpPr>
        <p:spPr>
          <a:xfrm>
            <a:off x="1439019" y="1124744"/>
            <a:ext cx="9312374" cy="4839202"/>
          </a:xfrm>
        </p:spPr>
        <p:txBody>
          <a:bodyPr/>
          <a:lstStyle/>
          <a:p>
            <a:pPr marL="0" indent="0">
              <a:buNone/>
            </a:pPr>
            <a:r>
              <a:rPr lang="en-DK" b="1" dirty="0">
                <a:solidFill>
                  <a:schemeClr val="bg1"/>
                </a:solidFill>
              </a:rPr>
              <a:t>.</a:t>
            </a:r>
          </a:p>
        </p:txBody>
      </p:sp>
      <p:sp>
        <p:nvSpPr>
          <p:cNvPr id="4" name="Date Placeholder 3">
            <a:extLst>
              <a:ext uri="{FF2B5EF4-FFF2-40B4-BE49-F238E27FC236}">
                <a16:creationId xmlns:a16="http://schemas.microsoft.com/office/drawing/2014/main" id="{29281D09-1385-3071-5218-12EFEEED2D3A}"/>
              </a:ext>
            </a:extLst>
          </p:cNvPr>
          <p:cNvSpPr>
            <a:spLocks noGrp="1"/>
          </p:cNvSpPr>
          <p:nvPr>
            <p:ph type="dt" sz="half" idx="10"/>
          </p:nvPr>
        </p:nvSpPr>
        <p:spPr/>
        <p:txBody>
          <a:bodyPr/>
          <a:lstStyle/>
          <a:p>
            <a:fld id="{7A7C1205-0AB3-4AB0-A953-CF1604346B60}" type="datetime1">
              <a:rPr lang="da-DK" smtClean="0"/>
              <a:t>03-09-2026</a:t>
            </a:fld>
            <a:endParaRPr lang="en-GB"/>
          </a:p>
        </p:txBody>
      </p:sp>
      <p:sp>
        <p:nvSpPr>
          <p:cNvPr id="5" name="Footer Placeholder 4">
            <a:extLst>
              <a:ext uri="{FF2B5EF4-FFF2-40B4-BE49-F238E27FC236}">
                <a16:creationId xmlns:a16="http://schemas.microsoft.com/office/drawing/2014/main" id="{B6B89562-544A-E001-4CDC-6CC9E6F52127}"/>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0EBB8226-1C6E-9E67-0C9D-6CF2D635EE53}"/>
              </a:ext>
            </a:extLst>
          </p:cNvPr>
          <p:cNvSpPr>
            <a:spLocks noGrp="1"/>
          </p:cNvSpPr>
          <p:nvPr>
            <p:ph type="sldNum" sz="quarter" idx="12"/>
          </p:nvPr>
        </p:nvSpPr>
        <p:spPr/>
        <p:txBody>
          <a:bodyPr/>
          <a:lstStyle/>
          <a:p>
            <a:fld id="{103EA872-A674-449B-A120-B97244F8E91D}" type="slidenum">
              <a:rPr lang="da-DK" smtClean="0"/>
              <a:pPr/>
              <a:t>5</a:t>
            </a:fld>
            <a:endParaRPr lang="da-DK" dirty="0"/>
          </a:p>
        </p:txBody>
      </p:sp>
      <p:cxnSp>
        <p:nvCxnSpPr>
          <p:cNvPr id="9" name="Straight Arrow Connector 8">
            <a:extLst>
              <a:ext uri="{FF2B5EF4-FFF2-40B4-BE49-F238E27FC236}">
                <a16:creationId xmlns:a16="http://schemas.microsoft.com/office/drawing/2014/main" id="{36CEF65E-EEAF-FEF0-1792-B6949F89CD81}"/>
              </a:ext>
            </a:extLst>
          </p:cNvPr>
          <p:cNvCxnSpPr/>
          <p:nvPr/>
        </p:nvCxnSpPr>
        <p:spPr bwMode="auto">
          <a:xfrm flipV="1">
            <a:off x="2824725" y="1661604"/>
            <a:ext cx="0" cy="360000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ectangle 13">
            <a:extLst>
              <a:ext uri="{FF2B5EF4-FFF2-40B4-BE49-F238E27FC236}">
                <a16:creationId xmlns:a16="http://schemas.microsoft.com/office/drawing/2014/main" id="{A829D6B0-0C50-2EE2-5B32-7C9D60054FAD}"/>
              </a:ext>
            </a:extLst>
          </p:cNvPr>
          <p:cNvSpPr/>
          <p:nvPr/>
        </p:nvSpPr>
        <p:spPr bwMode="auto">
          <a:xfrm>
            <a:off x="2854846" y="5085184"/>
            <a:ext cx="1224136" cy="156557"/>
          </a:xfrm>
          <a:prstGeom prst="rect">
            <a:avLst/>
          </a:prstGeom>
          <a:solidFill>
            <a:schemeClr val="accent5">
              <a:lumMod val="40000"/>
              <a:lumOff val="60000"/>
              <a:alpha val="67059"/>
            </a:schemeClr>
          </a:solidFill>
          <a:ln>
            <a:solidFill>
              <a:schemeClr val="accent5"/>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5" name="Rectangle 14">
            <a:extLst>
              <a:ext uri="{FF2B5EF4-FFF2-40B4-BE49-F238E27FC236}">
                <a16:creationId xmlns:a16="http://schemas.microsoft.com/office/drawing/2014/main" id="{6A2A6803-7451-210B-EAB0-234647294532}"/>
              </a:ext>
            </a:extLst>
          </p:cNvPr>
          <p:cNvSpPr/>
          <p:nvPr/>
        </p:nvSpPr>
        <p:spPr bwMode="auto">
          <a:xfrm>
            <a:off x="4093797" y="4844220"/>
            <a:ext cx="720077" cy="396797"/>
          </a:xfrm>
          <a:prstGeom prst="rect">
            <a:avLst/>
          </a:prstGeom>
          <a:solidFill>
            <a:srgbClr val="B2D5FF"/>
          </a:solidFill>
          <a:ln>
            <a:solidFill>
              <a:srgbClr val="6583CD"/>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6" name="Rectangle 15">
            <a:extLst>
              <a:ext uri="{FF2B5EF4-FFF2-40B4-BE49-F238E27FC236}">
                <a16:creationId xmlns:a16="http://schemas.microsoft.com/office/drawing/2014/main" id="{FCA5CB09-3F10-AB5D-A1C0-857A26475922}"/>
              </a:ext>
            </a:extLst>
          </p:cNvPr>
          <p:cNvSpPr/>
          <p:nvPr/>
        </p:nvSpPr>
        <p:spPr bwMode="auto">
          <a:xfrm>
            <a:off x="4828689" y="4400648"/>
            <a:ext cx="849281" cy="840369"/>
          </a:xfrm>
          <a:prstGeom prst="rect">
            <a:avLst/>
          </a:prstGeom>
          <a:solidFill>
            <a:schemeClr val="accent3">
              <a:lumMod val="40000"/>
              <a:lumOff val="60000"/>
            </a:schemeClr>
          </a:solidFill>
          <a:ln>
            <a:solidFill>
              <a:schemeClr val="accent3">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7" name="Rectangle 16">
            <a:extLst>
              <a:ext uri="{FF2B5EF4-FFF2-40B4-BE49-F238E27FC236}">
                <a16:creationId xmlns:a16="http://schemas.microsoft.com/office/drawing/2014/main" id="{E4C725F0-4FFA-214A-BBF9-E913B3B35BFA}"/>
              </a:ext>
            </a:extLst>
          </p:cNvPr>
          <p:cNvSpPr/>
          <p:nvPr/>
        </p:nvSpPr>
        <p:spPr bwMode="auto">
          <a:xfrm>
            <a:off x="5703255" y="3927576"/>
            <a:ext cx="468109" cy="1307960"/>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22" name="Straight Connector 21">
            <a:extLst>
              <a:ext uri="{FF2B5EF4-FFF2-40B4-BE49-F238E27FC236}">
                <a16:creationId xmlns:a16="http://schemas.microsoft.com/office/drawing/2014/main" id="{ACB0509E-CF0D-1299-BDD3-97385B9551BB}"/>
              </a:ext>
            </a:extLst>
          </p:cNvPr>
          <p:cNvCxnSpPr>
            <a:cxnSpLocks/>
          </p:cNvCxnSpPr>
          <p:nvPr/>
        </p:nvCxnSpPr>
        <p:spPr bwMode="auto">
          <a:xfrm>
            <a:off x="5519142" y="2132856"/>
            <a:ext cx="0" cy="3128748"/>
          </a:xfrm>
          <a:prstGeom prst="line">
            <a:avLst/>
          </a:prstGeom>
          <a:ln w="3810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AC90B6CC-A3F2-9CD0-F5E7-9F69DF8B4000}"/>
              </a:ext>
            </a:extLst>
          </p:cNvPr>
          <p:cNvSpPr txBox="1"/>
          <p:nvPr/>
        </p:nvSpPr>
        <p:spPr>
          <a:xfrm>
            <a:off x="5131505" y="1798455"/>
            <a:ext cx="1152128" cy="246221"/>
          </a:xfrm>
          <a:prstGeom prst="rect">
            <a:avLst/>
          </a:prstGeom>
          <a:noFill/>
        </p:spPr>
        <p:txBody>
          <a:bodyPr wrap="square" lIns="0" tIns="0" rIns="0" bIns="0" rtlCol="0">
            <a:spAutoFit/>
          </a:bodyPr>
          <a:lstStyle/>
          <a:p>
            <a:pPr algn="l">
              <a:spcBef>
                <a:spcPts val="432"/>
              </a:spcBef>
            </a:pPr>
            <a:r>
              <a:rPr lang="en-DK" dirty="0">
                <a:latin typeface="+mn-lt"/>
              </a:rPr>
              <a:t>Demand</a:t>
            </a:r>
          </a:p>
        </p:txBody>
      </p:sp>
      <p:sp>
        <p:nvSpPr>
          <p:cNvPr id="25" name="TextBox 24">
            <a:extLst>
              <a:ext uri="{FF2B5EF4-FFF2-40B4-BE49-F238E27FC236}">
                <a16:creationId xmlns:a16="http://schemas.microsoft.com/office/drawing/2014/main" id="{67251209-643F-18CA-5FEA-3769869420FA}"/>
              </a:ext>
            </a:extLst>
          </p:cNvPr>
          <p:cNvSpPr txBox="1"/>
          <p:nvPr/>
        </p:nvSpPr>
        <p:spPr>
          <a:xfrm>
            <a:off x="8155615" y="5138493"/>
            <a:ext cx="1512168" cy="246221"/>
          </a:xfrm>
          <a:prstGeom prst="rect">
            <a:avLst/>
          </a:prstGeom>
          <a:noFill/>
        </p:spPr>
        <p:txBody>
          <a:bodyPr wrap="square" lIns="0" tIns="0" rIns="0" bIns="0" rtlCol="0">
            <a:spAutoFit/>
          </a:bodyPr>
          <a:lstStyle/>
          <a:p>
            <a:pPr algn="l">
              <a:spcBef>
                <a:spcPts val="432"/>
              </a:spcBef>
            </a:pPr>
            <a:r>
              <a:rPr lang="en-DK" dirty="0">
                <a:latin typeface="+mn-lt"/>
              </a:rPr>
              <a:t>Quantity (MWh)</a:t>
            </a:r>
          </a:p>
        </p:txBody>
      </p:sp>
      <p:cxnSp>
        <p:nvCxnSpPr>
          <p:cNvPr id="10" name="Straight Arrow Connector 9">
            <a:extLst>
              <a:ext uri="{FF2B5EF4-FFF2-40B4-BE49-F238E27FC236}">
                <a16:creationId xmlns:a16="http://schemas.microsoft.com/office/drawing/2014/main" id="{EA4CAF8F-B8C6-CCCE-2946-C9C3364B1BBB}"/>
              </a:ext>
            </a:extLst>
          </p:cNvPr>
          <p:cNvCxnSpPr/>
          <p:nvPr/>
        </p:nvCxnSpPr>
        <p:spPr bwMode="auto">
          <a:xfrm>
            <a:off x="2819326" y="5261604"/>
            <a:ext cx="5220096" cy="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a:extLst>
              <a:ext uri="{FF2B5EF4-FFF2-40B4-BE49-F238E27FC236}">
                <a16:creationId xmlns:a16="http://schemas.microsoft.com/office/drawing/2014/main" id="{CC97110E-8108-3FE8-3616-0D4774B77B60}"/>
              </a:ext>
            </a:extLst>
          </p:cNvPr>
          <p:cNvSpPr txBox="1"/>
          <p:nvPr/>
        </p:nvSpPr>
        <p:spPr>
          <a:xfrm>
            <a:off x="2098762" y="1288115"/>
            <a:ext cx="1512168" cy="246221"/>
          </a:xfrm>
          <a:prstGeom prst="rect">
            <a:avLst/>
          </a:prstGeom>
          <a:noFill/>
        </p:spPr>
        <p:txBody>
          <a:bodyPr wrap="square" lIns="0" tIns="0" rIns="0" bIns="0" rtlCol="0">
            <a:spAutoFit/>
          </a:bodyPr>
          <a:lstStyle/>
          <a:p>
            <a:pPr algn="l">
              <a:spcBef>
                <a:spcPts val="432"/>
              </a:spcBef>
            </a:pPr>
            <a:r>
              <a:rPr lang="en-DK" dirty="0">
                <a:latin typeface="+mn-lt"/>
              </a:rPr>
              <a:t>Price (€/MWh)</a:t>
            </a:r>
          </a:p>
        </p:txBody>
      </p:sp>
      <p:sp>
        <p:nvSpPr>
          <p:cNvPr id="35" name="TextBox 34">
            <a:extLst>
              <a:ext uri="{FF2B5EF4-FFF2-40B4-BE49-F238E27FC236}">
                <a16:creationId xmlns:a16="http://schemas.microsoft.com/office/drawing/2014/main" id="{4D99D3C5-850D-9B49-CA31-0526FAE1319F}"/>
              </a:ext>
            </a:extLst>
          </p:cNvPr>
          <p:cNvSpPr txBox="1"/>
          <p:nvPr/>
        </p:nvSpPr>
        <p:spPr>
          <a:xfrm>
            <a:off x="3358902" y="5335776"/>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G1</a:t>
            </a:r>
          </a:p>
        </p:txBody>
      </p:sp>
      <p:sp>
        <p:nvSpPr>
          <p:cNvPr id="36" name="TextBox 35">
            <a:extLst>
              <a:ext uri="{FF2B5EF4-FFF2-40B4-BE49-F238E27FC236}">
                <a16:creationId xmlns:a16="http://schemas.microsoft.com/office/drawing/2014/main" id="{DF68A480-FEE0-046B-AB05-08536B471645}"/>
              </a:ext>
            </a:extLst>
          </p:cNvPr>
          <p:cNvSpPr txBox="1"/>
          <p:nvPr/>
        </p:nvSpPr>
        <p:spPr>
          <a:xfrm>
            <a:off x="4299223" y="5335776"/>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G2</a:t>
            </a:r>
          </a:p>
        </p:txBody>
      </p:sp>
      <p:sp>
        <p:nvSpPr>
          <p:cNvPr id="37" name="TextBox 36">
            <a:extLst>
              <a:ext uri="{FF2B5EF4-FFF2-40B4-BE49-F238E27FC236}">
                <a16:creationId xmlns:a16="http://schemas.microsoft.com/office/drawing/2014/main" id="{32EDA6C0-4D8F-CBF6-A1E8-B4FC8B7472E4}"/>
              </a:ext>
            </a:extLst>
          </p:cNvPr>
          <p:cNvSpPr txBox="1"/>
          <p:nvPr/>
        </p:nvSpPr>
        <p:spPr>
          <a:xfrm>
            <a:off x="5131505" y="5332001"/>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G3</a:t>
            </a:r>
          </a:p>
        </p:txBody>
      </p:sp>
      <p:sp>
        <p:nvSpPr>
          <p:cNvPr id="38" name="TextBox 37">
            <a:extLst>
              <a:ext uri="{FF2B5EF4-FFF2-40B4-BE49-F238E27FC236}">
                <a16:creationId xmlns:a16="http://schemas.microsoft.com/office/drawing/2014/main" id="{A23664DC-0CB1-27BE-9EFD-2C4EF3DD08BC}"/>
              </a:ext>
            </a:extLst>
          </p:cNvPr>
          <p:cNvSpPr txBox="1"/>
          <p:nvPr/>
        </p:nvSpPr>
        <p:spPr>
          <a:xfrm>
            <a:off x="5818521" y="5332001"/>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G4</a:t>
            </a:r>
          </a:p>
        </p:txBody>
      </p:sp>
      <p:sp>
        <p:nvSpPr>
          <p:cNvPr id="39" name="TextBox 38">
            <a:extLst>
              <a:ext uri="{FF2B5EF4-FFF2-40B4-BE49-F238E27FC236}">
                <a16:creationId xmlns:a16="http://schemas.microsoft.com/office/drawing/2014/main" id="{FDC80B13-6944-D954-5AFC-0372060C9664}"/>
              </a:ext>
            </a:extLst>
          </p:cNvPr>
          <p:cNvSpPr txBox="1"/>
          <p:nvPr/>
        </p:nvSpPr>
        <p:spPr>
          <a:xfrm>
            <a:off x="6313005" y="5329144"/>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G5</a:t>
            </a:r>
          </a:p>
        </p:txBody>
      </p:sp>
      <p:sp>
        <p:nvSpPr>
          <p:cNvPr id="42" name="TextBox 41">
            <a:extLst>
              <a:ext uri="{FF2B5EF4-FFF2-40B4-BE49-F238E27FC236}">
                <a16:creationId xmlns:a16="http://schemas.microsoft.com/office/drawing/2014/main" id="{68825E05-B29D-2FA0-3993-A2BF6C8F8105}"/>
              </a:ext>
            </a:extLst>
          </p:cNvPr>
          <p:cNvSpPr txBox="1"/>
          <p:nvPr/>
        </p:nvSpPr>
        <p:spPr>
          <a:xfrm>
            <a:off x="7307807" y="1473286"/>
            <a:ext cx="4447635" cy="841256"/>
          </a:xfrm>
          <a:prstGeom prst="rect">
            <a:avLst/>
          </a:prstGeom>
          <a:noFill/>
        </p:spPr>
        <p:txBody>
          <a:bodyPr wrap="square" lIns="0" tIns="0" rIns="0" bIns="0" rtlCol="0">
            <a:spAutoFit/>
          </a:bodyPr>
          <a:lstStyle/>
          <a:p>
            <a:pPr algn="l">
              <a:spcBef>
                <a:spcPts val="432"/>
              </a:spcBef>
            </a:pPr>
            <a:r>
              <a:rPr lang="en-DK" dirty="0">
                <a:latin typeface="+mn-lt"/>
              </a:rPr>
              <a:t>Everyone reports their </a:t>
            </a:r>
            <a:r>
              <a:rPr lang="en-DK" b="1" dirty="0">
                <a:latin typeface="+mn-lt"/>
              </a:rPr>
              <a:t>true cost</a:t>
            </a:r>
            <a:endParaRPr lang="en-US" b="1" dirty="0">
              <a:latin typeface="+mn-lt"/>
            </a:endParaRPr>
          </a:p>
          <a:p>
            <a:pPr algn="l">
              <a:spcBef>
                <a:spcPts val="432"/>
              </a:spcBef>
            </a:pPr>
            <a:endParaRPr lang="en-US" b="1" dirty="0">
              <a:latin typeface="+mn-lt"/>
            </a:endParaRPr>
          </a:p>
          <a:p>
            <a:pPr algn="l">
              <a:spcBef>
                <a:spcPts val="432"/>
              </a:spcBef>
            </a:pPr>
            <a:r>
              <a:rPr lang="en-US" dirty="0">
                <a:latin typeface="+mn-lt"/>
              </a:rPr>
              <a:t>G1 and G2 earn some money, the rest does not</a:t>
            </a:r>
            <a:endParaRPr lang="en-DK" dirty="0">
              <a:latin typeface="+mn-lt"/>
            </a:endParaRPr>
          </a:p>
        </p:txBody>
      </p:sp>
      <p:cxnSp>
        <p:nvCxnSpPr>
          <p:cNvPr id="7" name="Straight Connector 6">
            <a:extLst>
              <a:ext uri="{FF2B5EF4-FFF2-40B4-BE49-F238E27FC236}">
                <a16:creationId xmlns:a16="http://schemas.microsoft.com/office/drawing/2014/main" id="{B534F4DD-E792-5848-EE5D-2DEFFC984B8F}"/>
              </a:ext>
            </a:extLst>
          </p:cNvPr>
          <p:cNvCxnSpPr/>
          <p:nvPr/>
        </p:nvCxnSpPr>
        <p:spPr bwMode="auto">
          <a:xfrm>
            <a:off x="2854846" y="4400648"/>
            <a:ext cx="2664296" cy="0"/>
          </a:xfrm>
          <a:prstGeom prst="line">
            <a:avLst/>
          </a:prstGeom>
          <a:solidFill>
            <a:schemeClr val="accent1"/>
          </a:solidFill>
          <a:ln w="38100" cap="flat" cmpd="sng" algn="ctr">
            <a:solidFill>
              <a:schemeClr val="tx1"/>
            </a:solidFill>
            <a:prstDash val="sysDot"/>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TextBox 10">
            <a:extLst>
              <a:ext uri="{FF2B5EF4-FFF2-40B4-BE49-F238E27FC236}">
                <a16:creationId xmlns:a16="http://schemas.microsoft.com/office/drawing/2014/main" id="{BF3DEDF4-060F-670E-4736-652035D2099C}"/>
              </a:ext>
            </a:extLst>
          </p:cNvPr>
          <p:cNvSpPr txBox="1"/>
          <p:nvPr/>
        </p:nvSpPr>
        <p:spPr>
          <a:xfrm>
            <a:off x="803341" y="4259419"/>
            <a:ext cx="2279530" cy="246221"/>
          </a:xfrm>
          <a:prstGeom prst="rect">
            <a:avLst/>
          </a:prstGeom>
          <a:noFill/>
        </p:spPr>
        <p:txBody>
          <a:bodyPr wrap="square" lIns="0" tIns="0" rIns="0" bIns="0" rtlCol="0">
            <a:spAutoFit/>
          </a:bodyPr>
          <a:lstStyle/>
          <a:p>
            <a:pPr algn="l">
              <a:spcBef>
                <a:spcPts val="432"/>
              </a:spcBef>
            </a:pPr>
            <a:r>
              <a:rPr lang="en-DK" dirty="0">
                <a:latin typeface="+mn-lt"/>
              </a:rPr>
              <a:t>Market clearing price</a:t>
            </a:r>
          </a:p>
        </p:txBody>
      </p:sp>
      <p:cxnSp>
        <p:nvCxnSpPr>
          <p:cNvPr id="27" name="Straight Connector 26">
            <a:extLst>
              <a:ext uri="{FF2B5EF4-FFF2-40B4-BE49-F238E27FC236}">
                <a16:creationId xmlns:a16="http://schemas.microsoft.com/office/drawing/2014/main" id="{DBF6FD3E-7C6D-BFB5-E7F3-898D7DD1DCA5}"/>
              </a:ext>
            </a:extLst>
          </p:cNvPr>
          <p:cNvCxnSpPr/>
          <p:nvPr/>
        </p:nvCxnSpPr>
        <p:spPr bwMode="auto">
          <a:xfrm flipV="1">
            <a:off x="2854846" y="4400648"/>
            <a:ext cx="658667" cy="641970"/>
          </a:xfrm>
          <a:prstGeom prst="line">
            <a:avLst/>
          </a:prstGeom>
          <a:solidFill>
            <a:schemeClr val="accent1"/>
          </a:solidFill>
          <a:ln w="9525" cap="flat" cmpd="sng" algn="ctr">
            <a:solidFill>
              <a:schemeClr val="accent5">
                <a:lumMod val="7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a:extLst>
              <a:ext uri="{FF2B5EF4-FFF2-40B4-BE49-F238E27FC236}">
                <a16:creationId xmlns:a16="http://schemas.microsoft.com/office/drawing/2014/main" id="{C6960F1A-1973-D87F-DE88-65FDAA092132}"/>
              </a:ext>
            </a:extLst>
          </p:cNvPr>
          <p:cNvCxnSpPr/>
          <p:nvPr/>
        </p:nvCxnSpPr>
        <p:spPr bwMode="auto">
          <a:xfrm flipV="1">
            <a:off x="3165973" y="4426717"/>
            <a:ext cx="658667" cy="641970"/>
          </a:xfrm>
          <a:prstGeom prst="line">
            <a:avLst/>
          </a:prstGeom>
          <a:solidFill>
            <a:schemeClr val="accent1"/>
          </a:solidFill>
          <a:ln w="9525" cap="flat" cmpd="sng" algn="ctr">
            <a:solidFill>
              <a:schemeClr val="accent5">
                <a:lumMod val="7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Connector 28">
            <a:extLst>
              <a:ext uri="{FF2B5EF4-FFF2-40B4-BE49-F238E27FC236}">
                <a16:creationId xmlns:a16="http://schemas.microsoft.com/office/drawing/2014/main" id="{95959729-85DE-0702-C1C8-1A0E3CA9B1C8}"/>
              </a:ext>
            </a:extLst>
          </p:cNvPr>
          <p:cNvCxnSpPr/>
          <p:nvPr/>
        </p:nvCxnSpPr>
        <p:spPr bwMode="auto">
          <a:xfrm flipV="1">
            <a:off x="3499982" y="4436649"/>
            <a:ext cx="658667" cy="641970"/>
          </a:xfrm>
          <a:prstGeom prst="line">
            <a:avLst/>
          </a:prstGeom>
          <a:solidFill>
            <a:schemeClr val="accent1"/>
          </a:solidFill>
          <a:ln w="9525" cap="flat" cmpd="sng" algn="ctr">
            <a:solidFill>
              <a:schemeClr val="accent5">
                <a:lumMod val="7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Straight Connector 29">
            <a:extLst>
              <a:ext uri="{FF2B5EF4-FFF2-40B4-BE49-F238E27FC236}">
                <a16:creationId xmlns:a16="http://schemas.microsoft.com/office/drawing/2014/main" id="{3AE4C95F-FC86-9AE9-6754-2877DF73FA9C}"/>
              </a:ext>
            </a:extLst>
          </p:cNvPr>
          <p:cNvCxnSpPr/>
          <p:nvPr/>
        </p:nvCxnSpPr>
        <p:spPr bwMode="auto">
          <a:xfrm flipV="1">
            <a:off x="3785944" y="4436649"/>
            <a:ext cx="658667" cy="641970"/>
          </a:xfrm>
          <a:prstGeom prst="line">
            <a:avLst/>
          </a:prstGeom>
          <a:solidFill>
            <a:schemeClr val="accent1"/>
          </a:solidFill>
          <a:ln w="9525" cap="flat" cmpd="sng" algn="ctr">
            <a:solidFill>
              <a:schemeClr val="accent5">
                <a:lumMod val="7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Straight Connector 30">
            <a:extLst>
              <a:ext uri="{FF2B5EF4-FFF2-40B4-BE49-F238E27FC236}">
                <a16:creationId xmlns:a16="http://schemas.microsoft.com/office/drawing/2014/main" id="{FD6369AE-186C-9C1F-3A65-A4C9356D8A8C}"/>
              </a:ext>
            </a:extLst>
          </p:cNvPr>
          <p:cNvCxnSpPr/>
          <p:nvPr/>
        </p:nvCxnSpPr>
        <p:spPr bwMode="auto">
          <a:xfrm flipV="1">
            <a:off x="4336306" y="4369110"/>
            <a:ext cx="467098" cy="469723"/>
          </a:xfrm>
          <a:prstGeom prst="line">
            <a:avLst/>
          </a:prstGeom>
          <a:solidFill>
            <a:schemeClr val="accent1"/>
          </a:solidFill>
          <a:ln w="9525" cap="flat" cmpd="sng" algn="ctr">
            <a:solidFill>
              <a:schemeClr val="accent5">
                <a:lumMod val="7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Connector: Curved 33">
            <a:extLst>
              <a:ext uri="{FF2B5EF4-FFF2-40B4-BE49-F238E27FC236}">
                <a16:creationId xmlns:a16="http://schemas.microsoft.com/office/drawing/2014/main" id="{71CA167F-6A8A-7747-0D6A-39F2E8297AAB}"/>
              </a:ext>
            </a:extLst>
          </p:cNvPr>
          <p:cNvCxnSpPr/>
          <p:nvPr/>
        </p:nvCxnSpPr>
        <p:spPr bwMode="auto">
          <a:xfrm rot="16200000" flipH="1">
            <a:off x="3242215" y="3970481"/>
            <a:ext cx="800187" cy="521850"/>
          </a:xfrm>
          <a:prstGeom prst="curvedConnector3">
            <a:avLst/>
          </a:prstGeom>
          <a:ln>
            <a:solidFill>
              <a:schemeClr val="accent5">
                <a:lumMod val="75000"/>
              </a:schemeClr>
            </a:solidFill>
            <a:headEnd type="none" w="med" len="med"/>
            <a:tailEnd type="triangle"/>
          </a:ln>
        </p:spPr>
        <p:style>
          <a:lnRef idx="3">
            <a:schemeClr val="dk1"/>
          </a:lnRef>
          <a:fillRef idx="0">
            <a:schemeClr val="dk1"/>
          </a:fillRef>
          <a:effectRef idx="2">
            <a:schemeClr val="dk1"/>
          </a:effectRef>
          <a:fontRef idx="minor">
            <a:schemeClr val="tx1"/>
          </a:fontRef>
        </p:style>
      </p:cxnSp>
      <p:sp>
        <p:nvSpPr>
          <p:cNvPr id="40" name="TextBox 39">
            <a:extLst>
              <a:ext uri="{FF2B5EF4-FFF2-40B4-BE49-F238E27FC236}">
                <a16:creationId xmlns:a16="http://schemas.microsoft.com/office/drawing/2014/main" id="{95BA295B-8869-83C5-269C-0DECA6013CF6}"/>
              </a:ext>
            </a:extLst>
          </p:cNvPr>
          <p:cNvSpPr txBox="1"/>
          <p:nvPr/>
        </p:nvSpPr>
        <p:spPr>
          <a:xfrm>
            <a:off x="3082871" y="3544345"/>
            <a:ext cx="878446" cy="246221"/>
          </a:xfrm>
          <a:prstGeom prst="rect">
            <a:avLst/>
          </a:prstGeom>
          <a:noFill/>
        </p:spPr>
        <p:txBody>
          <a:bodyPr wrap="none" lIns="0" tIns="0" rIns="0" bIns="0" rtlCol="0">
            <a:spAutoFit/>
          </a:bodyPr>
          <a:lstStyle/>
          <a:p>
            <a:pPr algn="l">
              <a:spcBef>
                <a:spcPts val="432"/>
              </a:spcBef>
            </a:pPr>
            <a:r>
              <a:rPr lang="en-US" dirty="0">
                <a:solidFill>
                  <a:schemeClr val="accent5">
                    <a:lumMod val="75000"/>
                  </a:schemeClr>
                </a:solidFill>
                <a:latin typeface="+mn-lt"/>
              </a:rPr>
              <a:t>Profit $$$</a:t>
            </a:r>
          </a:p>
        </p:txBody>
      </p:sp>
      <p:cxnSp>
        <p:nvCxnSpPr>
          <p:cNvPr id="44" name="Straight Connector 43">
            <a:extLst>
              <a:ext uri="{FF2B5EF4-FFF2-40B4-BE49-F238E27FC236}">
                <a16:creationId xmlns:a16="http://schemas.microsoft.com/office/drawing/2014/main" id="{7C689D91-4FE4-75F9-B9DF-471E1E073702}"/>
              </a:ext>
            </a:extLst>
          </p:cNvPr>
          <p:cNvCxnSpPr>
            <a:cxnSpLocks/>
          </p:cNvCxnSpPr>
          <p:nvPr/>
        </p:nvCxnSpPr>
        <p:spPr bwMode="auto">
          <a:xfrm flipV="1">
            <a:off x="4093796" y="4362478"/>
            <a:ext cx="9578" cy="47635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1" name="Rectangle 50">
            <a:extLst>
              <a:ext uri="{FF2B5EF4-FFF2-40B4-BE49-F238E27FC236}">
                <a16:creationId xmlns:a16="http://schemas.microsoft.com/office/drawing/2014/main" id="{7C45AACE-EB01-8B49-C4B8-96065863E4F8}"/>
              </a:ext>
            </a:extLst>
          </p:cNvPr>
          <p:cNvSpPr/>
          <p:nvPr/>
        </p:nvSpPr>
        <p:spPr bwMode="auto">
          <a:xfrm>
            <a:off x="5519142" y="4400648"/>
            <a:ext cx="158828" cy="834888"/>
          </a:xfrm>
          <a:prstGeom prst="rect">
            <a:avLst/>
          </a:prstGeom>
          <a:solidFill>
            <a:schemeClr val="bg1">
              <a:lumMod val="85000"/>
            </a:schemeClr>
          </a:solidFill>
          <a:ln w="28575" cap="flat" cmpd="sng" algn="ctr">
            <a:solidFill>
              <a:schemeClr val="bg1">
                <a:lumMod val="50000"/>
              </a:schemeClr>
            </a:solid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55" name="Rectangle 54">
            <a:extLst>
              <a:ext uri="{FF2B5EF4-FFF2-40B4-BE49-F238E27FC236}">
                <a16:creationId xmlns:a16="http://schemas.microsoft.com/office/drawing/2014/main" id="{B246D902-59C6-CA9D-2AA3-8F20E0E81A8E}"/>
              </a:ext>
            </a:extLst>
          </p:cNvPr>
          <p:cNvSpPr/>
          <p:nvPr/>
        </p:nvSpPr>
        <p:spPr bwMode="auto">
          <a:xfrm>
            <a:off x="6187517" y="2996954"/>
            <a:ext cx="468109" cy="2245628"/>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Tree>
    <p:extLst>
      <p:ext uri="{BB962C8B-B14F-4D97-AF65-F5344CB8AC3E}">
        <p14:creationId xmlns:p14="http://schemas.microsoft.com/office/powerpoint/2010/main" val="636533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D76A0-C5A9-7557-30C8-DB2EE91D9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A547AB-81FB-B98D-FB4E-382A343936B6}"/>
              </a:ext>
            </a:extLst>
          </p:cNvPr>
          <p:cNvSpPr>
            <a:spLocks noGrp="1"/>
          </p:cNvSpPr>
          <p:nvPr>
            <p:ph type="title"/>
          </p:nvPr>
        </p:nvSpPr>
        <p:spPr>
          <a:xfrm>
            <a:off x="1414686" y="260648"/>
            <a:ext cx="9312374" cy="540000"/>
          </a:xfrm>
        </p:spPr>
        <p:txBody>
          <a:bodyPr/>
          <a:lstStyle/>
          <a:p>
            <a:r>
              <a:rPr lang="en-DK" dirty="0"/>
              <a:t>Strategic behaviour</a:t>
            </a:r>
          </a:p>
        </p:txBody>
      </p:sp>
      <p:sp>
        <p:nvSpPr>
          <p:cNvPr id="3" name="Content Placeholder 2">
            <a:extLst>
              <a:ext uri="{FF2B5EF4-FFF2-40B4-BE49-F238E27FC236}">
                <a16:creationId xmlns:a16="http://schemas.microsoft.com/office/drawing/2014/main" id="{D2ECBC1E-6DD2-1D1A-1BED-1890B2563A36}"/>
              </a:ext>
            </a:extLst>
          </p:cNvPr>
          <p:cNvSpPr>
            <a:spLocks noGrp="1"/>
          </p:cNvSpPr>
          <p:nvPr>
            <p:ph idx="1"/>
          </p:nvPr>
        </p:nvSpPr>
        <p:spPr>
          <a:xfrm>
            <a:off x="1439019" y="1124744"/>
            <a:ext cx="9312374" cy="4839202"/>
          </a:xfrm>
        </p:spPr>
        <p:txBody>
          <a:bodyPr/>
          <a:lstStyle/>
          <a:p>
            <a:pPr marL="0" indent="0">
              <a:buNone/>
            </a:pPr>
            <a:r>
              <a:rPr lang="en-DK" b="1" dirty="0">
                <a:solidFill>
                  <a:schemeClr val="bg1"/>
                </a:solidFill>
              </a:rPr>
              <a:t>.</a:t>
            </a:r>
          </a:p>
        </p:txBody>
      </p:sp>
      <p:sp>
        <p:nvSpPr>
          <p:cNvPr id="4" name="Date Placeholder 3">
            <a:extLst>
              <a:ext uri="{FF2B5EF4-FFF2-40B4-BE49-F238E27FC236}">
                <a16:creationId xmlns:a16="http://schemas.microsoft.com/office/drawing/2014/main" id="{759588FC-BEA2-3FC3-4A04-15D99C68BC4E}"/>
              </a:ext>
            </a:extLst>
          </p:cNvPr>
          <p:cNvSpPr>
            <a:spLocks noGrp="1"/>
          </p:cNvSpPr>
          <p:nvPr>
            <p:ph type="dt" sz="half" idx="10"/>
          </p:nvPr>
        </p:nvSpPr>
        <p:spPr/>
        <p:txBody>
          <a:bodyPr/>
          <a:lstStyle/>
          <a:p>
            <a:fld id="{FA860B25-6FB4-4275-ADA5-D858016A5A41}" type="datetime1">
              <a:rPr lang="da-DK" smtClean="0"/>
              <a:t>03-09-2026</a:t>
            </a:fld>
            <a:endParaRPr lang="en-GB"/>
          </a:p>
        </p:txBody>
      </p:sp>
      <p:sp>
        <p:nvSpPr>
          <p:cNvPr id="5" name="Footer Placeholder 4">
            <a:extLst>
              <a:ext uri="{FF2B5EF4-FFF2-40B4-BE49-F238E27FC236}">
                <a16:creationId xmlns:a16="http://schemas.microsoft.com/office/drawing/2014/main" id="{36E00D9B-A760-233B-0088-5FD61913EF06}"/>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3FAB9354-61F4-961E-2602-12D6CE672EEA}"/>
              </a:ext>
            </a:extLst>
          </p:cNvPr>
          <p:cNvSpPr>
            <a:spLocks noGrp="1"/>
          </p:cNvSpPr>
          <p:nvPr>
            <p:ph type="sldNum" sz="quarter" idx="12"/>
          </p:nvPr>
        </p:nvSpPr>
        <p:spPr/>
        <p:txBody>
          <a:bodyPr/>
          <a:lstStyle/>
          <a:p>
            <a:fld id="{103EA872-A674-449B-A120-B97244F8E91D}" type="slidenum">
              <a:rPr lang="da-DK" smtClean="0"/>
              <a:pPr/>
              <a:t>6</a:t>
            </a:fld>
            <a:endParaRPr lang="da-DK" dirty="0"/>
          </a:p>
        </p:txBody>
      </p:sp>
      <p:cxnSp>
        <p:nvCxnSpPr>
          <p:cNvPr id="9" name="Straight Arrow Connector 8">
            <a:extLst>
              <a:ext uri="{FF2B5EF4-FFF2-40B4-BE49-F238E27FC236}">
                <a16:creationId xmlns:a16="http://schemas.microsoft.com/office/drawing/2014/main" id="{F40039E3-7EA7-8CD1-6353-12E8A4EC1A11}"/>
              </a:ext>
            </a:extLst>
          </p:cNvPr>
          <p:cNvCxnSpPr/>
          <p:nvPr/>
        </p:nvCxnSpPr>
        <p:spPr bwMode="auto">
          <a:xfrm flipV="1">
            <a:off x="2824725" y="1661604"/>
            <a:ext cx="0" cy="360000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ectangle 13">
            <a:extLst>
              <a:ext uri="{FF2B5EF4-FFF2-40B4-BE49-F238E27FC236}">
                <a16:creationId xmlns:a16="http://schemas.microsoft.com/office/drawing/2014/main" id="{ED2822AB-1971-61F6-404C-5841A300D892}"/>
              </a:ext>
            </a:extLst>
          </p:cNvPr>
          <p:cNvSpPr/>
          <p:nvPr/>
        </p:nvSpPr>
        <p:spPr bwMode="auto">
          <a:xfrm>
            <a:off x="2854846" y="5085184"/>
            <a:ext cx="1224136" cy="156557"/>
          </a:xfrm>
          <a:prstGeom prst="rect">
            <a:avLst/>
          </a:prstGeom>
          <a:solidFill>
            <a:schemeClr val="accent5">
              <a:lumMod val="40000"/>
              <a:lumOff val="60000"/>
              <a:alpha val="67059"/>
            </a:schemeClr>
          </a:solidFill>
          <a:ln>
            <a:solidFill>
              <a:schemeClr val="accent5"/>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5" name="Rectangle 14">
            <a:extLst>
              <a:ext uri="{FF2B5EF4-FFF2-40B4-BE49-F238E27FC236}">
                <a16:creationId xmlns:a16="http://schemas.microsoft.com/office/drawing/2014/main" id="{B2104DB7-C40A-2C3F-F9B8-36D9A065DE45}"/>
              </a:ext>
            </a:extLst>
          </p:cNvPr>
          <p:cNvSpPr/>
          <p:nvPr/>
        </p:nvSpPr>
        <p:spPr bwMode="auto">
          <a:xfrm>
            <a:off x="4093797" y="4844220"/>
            <a:ext cx="720077" cy="396797"/>
          </a:xfrm>
          <a:prstGeom prst="rect">
            <a:avLst/>
          </a:prstGeom>
          <a:solidFill>
            <a:srgbClr val="B2D5FF"/>
          </a:solidFill>
          <a:ln>
            <a:solidFill>
              <a:srgbClr val="6583CD"/>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6" name="Rectangle 15">
            <a:extLst>
              <a:ext uri="{FF2B5EF4-FFF2-40B4-BE49-F238E27FC236}">
                <a16:creationId xmlns:a16="http://schemas.microsoft.com/office/drawing/2014/main" id="{FCB0F425-D16D-6382-B17D-EE9D131C9413}"/>
              </a:ext>
            </a:extLst>
          </p:cNvPr>
          <p:cNvSpPr/>
          <p:nvPr/>
        </p:nvSpPr>
        <p:spPr bwMode="auto">
          <a:xfrm>
            <a:off x="4828689" y="4400648"/>
            <a:ext cx="849281" cy="840369"/>
          </a:xfrm>
          <a:prstGeom prst="rect">
            <a:avLst/>
          </a:prstGeom>
          <a:solidFill>
            <a:srgbClr val="FCBEC5"/>
          </a:solidFill>
          <a:ln>
            <a:solidFill>
              <a:srgbClr val="C0000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7" name="Rectangle 16">
            <a:extLst>
              <a:ext uri="{FF2B5EF4-FFF2-40B4-BE49-F238E27FC236}">
                <a16:creationId xmlns:a16="http://schemas.microsoft.com/office/drawing/2014/main" id="{4ECBE2C8-87C3-E71E-85A7-E80486F4E1CA}"/>
              </a:ext>
            </a:extLst>
          </p:cNvPr>
          <p:cNvSpPr/>
          <p:nvPr/>
        </p:nvSpPr>
        <p:spPr bwMode="auto">
          <a:xfrm>
            <a:off x="5703255" y="3927576"/>
            <a:ext cx="468109" cy="1307960"/>
          </a:xfrm>
          <a:prstGeom prst="rect">
            <a:avLst/>
          </a:prstGeom>
          <a:solidFill>
            <a:schemeClr val="tx2">
              <a:lumMod val="40000"/>
              <a:lumOff val="60000"/>
            </a:schemeClr>
          </a:solidFill>
          <a:ln>
            <a:solidFill>
              <a:schemeClr val="accent6">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25" name="TextBox 24">
            <a:extLst>
              <a:ext uri="{FF2B5EF4-FFF2-40B4-BE49-F238E27FC236}">
                <a16:creationId xmlns:a16="http://schemas.microsoft.com/office/drawing/2014/main" id="{A5763676-E90D-EB94-B1B4-1FA54CEFCBAF}"/>
              </a:ext>
            </a:extLst>
          </p:cNvPr>
          <p:cNvSpPr txBox="1"/>
          <p:nvPr/>
        </p:nvSpPr>
        <p:spPr>
          <a:xfrm>
            <a:off x="8155615" y="5138493"/>
            <a:ext cx="1512168" cy="246221"/>
          </a:xfrm>
          <a:prstGeom prst="rect">
            <a:avLst/>
          </a:prstGeom>
          <a:noFill/>
        </p:spPr>
        <p:txBody>
          <a:bodyPr wrap="square" lIns="0" tIns="0" rIns="0" bIns="0" rtlCol="0">
            <a:spAutoFit/>
          </a:bodyPr>
          <a:lstStyle/>
          <a:p>
            <a:pPr algn="l">
              <a:spcBef>
                <a:spcPts val="432"/>
              </a:spcBef>
            </a:pPr>
            <a:r>
              <a:rPr lang="en-DK" dirty="0">
                <a:latin typeface="+mn-lt"/>
              </a:rPr>
              <a:t>Quantity (MWh)</a:t>
            </a:r>
          </a:p>
        </p:txBody>
      </p:sp>
      <p:cxnSp>
        <p:nvCxnSpPr>
          <p:cNvPr id="10" name="Straight Arrow Connector 9">
            <a:extLst>
              <a:ext uri="{FF2B5EF4-FFF2-40B4-BE49-F238E27FC236}">
                <a16:creationId xmlns:a16="http://schemas.microsoft.com/office/drawing/2014/main" id="{372A3D94-2D5A-E4F9-A400-D40E6D4668BE}"/>
              </a:ext>
            </a:extLst>
          </p:cNvPr>
          <p:cNvCxnSpPr/>
          <p:nvPr/>
        </p:nvCxnSpPr>
        <p:spPr bwMode="auto">
          <a:xfrm>
            <a:off x="2819326" y="5261604"/>
            <a:ext cx="5220096" cy="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a:extLst>
              <a:ext uri="{FF2B5EF4-FFF2-40B4-BE49-F238E27FC236}">
                <a16:creationId xmlns:a16="http://schemas.microsoft.com/office/drawing/2014/main" id="{BE4A3019-19BD-338F-87DD-BB519DA7E422}"/>
              </a:ext>
            </a:extLst>
          </p:cNvPr>
          <p:cNvSpPr txBox="1"/>
          <p:nvPr/>
        </p:nvSpPr>
        <p:spPr>
          <a:xfrm>
            <a:off x="2098762" y="1288115"/>
            <a:ext cx="1512168" cy="246221"/>
          </a:xfrm>
          <a:prstGeom prst="rect">
            <a:avLst/>
          </a:prstGeom>
          <a:noFill/>
        </p:spPr>
        <p:txBody>
          <a:bodyPr wrap="square" lIns="0" tIns="0" rIns="0" bIns="0" rtlCol="0">
            <a:spAutoFit/>
          </a:bodyPr>
          <a:lstStyle/>
          <a:p>
            <a:pPr algn="l">
              <a:spcBef>
                <a:spcPts val="432"/>
              </a:spcBef>
            </a:pPr>
            <a:r>
              <a:rPr lang="en-DK" dirty="0">
                <a:latin typeface="+mn-lt"/>
              </a:rPr>
              <a:t>Price (€/MWh)</a:t>
            </a:r>
          </a:p>
        </p:txBody>
      </p:sp>
      <p:sp>
        <p:nvSpPr>
          <p:cNvPr id="35" name="TextBox 34">
            <a:extLst>
              <a:ext uri="{FF2B5EF4-FFF2-40B4-BE49-F238E27FC236}">
                <a16:creationId xmlns:a16="http://schemas.microsoft.com/office/drawing/2014/main" id="{7A1FBFCA-8CB3-F496-A797-FF7B1FB1A163}"/>
              </a:ext>
            </a:extLst>
          </p:cNvPr>
          <p:cNvSpPr txBox="1"/>
          <p:nvPr/>
        </p:nvSpPr>
        <p:spPr>
          <a:xfrm>
            <a:off x="3358902" y="5335776"/>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G1</a:t>
            </a:r>
          </a:p>
        </p:txBody>
      </p:sp>
      <p:sp>
        <p:nvSpPr>
          <p:cNvPr id="36" name="TextBox 35">
            <a:extLst>
              <a:ext uri="{FF2B5EF4-FFF2-40B4-BE49-F238E27FC236}">
                <a16:creationId xmlns:a16="http://schemas.microsoft.com/office/drawing/2014/main" id="{1197985B-06EC-8E45-BA6E-27717F873464}"/>
              </a:ext>
            </a:extLst>
          </p:cNvPr>
          <p:cNvSpPr txBox="1"/>
          <p:nvPr/>
        </p:nvSpPr>
        <p:spPr>
          <a:xfrm>
            <a:off x="4299223" y="5335776"/>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G2</a:t>
            </a:r>
          </a:p>
        </p:txBody>
      </p:sp>
      <p:sp>
        <p:nvSpPr>
          <p:cNvPr id="37" name="TextBox 36">
            <a:extLst>
              <a:ext uri="{FF2B5EF4-FFF2-40B4-BE49-F238E27FC236}">
                <a16:creationId xmlns:a16="http://schemas.microsoft.com/office/drawing/2014/main" id="{3C4E9A3E-6B81-B5C4-9D60-7A4369E2DB90}"/>
              </a:ext>
            </a:extLst>
          </p:cNvPr>
          <p:cNvSpPr txBox="1"/>
          <p:nvPr/>
        </p:nvSpPr>
        <p:spPr>
          <a:xfrm>
            <a:off x="5131505" y="5332001"/>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G3</a:t>
            </a:r>
          </a:p>
        </p:txBody>
      </p:sp>
      <p:sp>
        <p:nvSpPr>
          <p:cNvPr id="38" name="TextBox 37">
            <a:extLst>
              <a:ext uri="{FF2B5EF4-FFF2-40B4-BE49-F238E27FC236}">
                <a16:creationId xmlns:a16="http://schemas.microsoft.com/office/drawing/2014/main" id="{62910311-B08C-B829-5C59-6647341B7ABF}"/>
              </a:ext>
            </a:extLst>
          </p:cNvPr>
          <p:cNvSpPr txBox="1"/>
          <p:nvPr/>
        </p:nvSpPr>
        <p:spPr>
          <a:xfrm>
            <a:off x="5818521" y="5332001"/>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G4</a:t>
            </a:r>
          </a:p>
        </p:txBody>
      </p:sp>
      <p:sp>
        <p:nvSpPr>
          <p:cNvPr id="39" name="TextBox 38">
            <a:extLst>
              <a:ext uri="{FF2B5EF4-FFF2-40B4-BE49-F238E27FC236}">
                <a16:creationId xmlns:a16="http://schemas.microsoft.com/office/drawing/2014/main" id="{B8CE0CF8-475A-3A32-31E1-EA59ACCA0EA3}"/>
              </a:ext>
            </a:extLst>
          </p:cNvPr>
          <p:cNvSpPr txBox="1"/>
          <p:nvPr/>
        </p:nvSpPr>
        <p:spPr>
          <a:xfrm>
            <a:off x="6313005" y="5329144"/>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G5</a:t>
            </a:r>
          </a:p>
        </p:txBody>
      </p:sp>
      <p:sp>
        <p:nvSpPr>
          <p:cNvPr id="7" name="Rectangle 6">
            <a:extLst>
              <a:ext uri="{FF2B5EF4-FFF2-40B4-BE49-F238E27FC236}">
                <a16:creationId xmlns:a16="http://schemas.microsoft.com/office/drawing/2014/main" id="{A11811C6-579B-55C0-A6DA-A14F26E4197C}"/>
              </a:ext>
            </a:extLst>
          </p:cNvPr>
          <p:cNvSpPr/>
          <p:nvPr/>
        </p:nvSpPr>
        <p:spPr bwMode="auto">
          <a:xfrm>
            <a:off x="4828689" y="3580462"/>
            <a:ext cx="849281" cy="1653390"/>
          </a:xfrm>
          <a:prstGeom prst="rect">
            <a:avLst/>
          </a:prstGeom>
          <a:solidFill>
            <a:schemeClr val="accent3">
              <a:lumMod val="40000"/>
              <a:lumOff val="60000"/>
            </a:schemeClr>
          </a:solidFill>
          <a:ln>
            <a:solidFill>
              <a:schemeClr val="accent3">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34" name="Curved Connector 33">
            <a:extLst>
              <a:ext uri="{FF2B5EF4-FFF2-40B4-BE49-F238E27FC236}">
                <a16:creationId xmlns:a16="http://schemas.microsoft.com/office/drawing/2014/main" id="{190CD730-14F5-D7F8-F626-0787ADFAEB55}"/>
              </a:ext>
            </a:extLst>
          </p:cNvPr>
          <p:cNvCxnSpPr>
            <a:endCxn id="7" idx="0"/>
          </p:cNvCxnSpPr>
          <p:nvPr/>
        </p:nvCxnSpPr>
        <p:spPr bwMode="auto">
          <a:xfrm rot="10800000" flipV="1">
            <a:off x="5253330" y="1924278"/>
            <a:ext cx="1669976" cy="1656184"/>
          </a:xfrm>
          <a:prstGeom prst="curvedConnector2">
            <a:avLst/>
          </a:prstGeom>
          <a:solidFill>
            <a:schemeClr val="accent1"/>
          </a:solidFill>
          <a:ln w="19050"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TextBox 41">
            <a:extLst>
              <a:ext uri="{FF2B5EF4-FFF2-40B4-BE49-F238E27FC236}">
                <a16:creationId xmlns:a16="http://schemas.microsoft.com/office/drawing/2014/main" id="{891F56F8-262A-53E9-06AD-C89E2194FFC9}"/>
              </a:ext>
            </a:extLst>
          </p:cNvPr>
          <p:cNvSpPr txBox="1"/>
          <p:nvPr/>
        </p:nvSpPr>
        <p:spPr>
          <a:xfrm>
            <a:off x="7031302" y="1764331"/>
            <a:ext cx="3384371" cy="492443"/>
          </a:xfrm>
          <a:prstGeom prst="rect">
            <a:avLst/>
          </a:prstGeom>
          <a:noFill/>
        </p:spPr>
        <p:txBody>
          <a:bodyPr wrap="square" lIns="0" tIns="0" rIns="0" bIns="0" rtlCol="0">
            <a:spAutoFit/>
          </a:bodyPr>
          <a:lstStyle/>
          <a:p>
            <a:pPr algn="l">
              <a:spcBef>
                <a:spcPts val="432"/>
              </a:spcBef>
            </a:pPr>
            <a:r>
              <a:rPr lang="en-DK" dirty="0">
                <a:latin typeface="+mn-lt"/>
              </a:rPr>
              <a:t>G3 bids </a:t>
            </a:r>
            <a:r>
              <a:rPr lang="en-DK" b="1" dirty="0">
                <a:latin typeface="+mn-lt"/>
              </a:rPr>
              <a:t>higher</a:t>
            </a:r>
            <a:r>
              <a:rPr lang="en-DK" dirty="0">
                <a:latin typeface="+mn-lt"/>
              </a:rPr>
              <a:t> than their </a:t>
            </a:r>
            <a:r>
              <a:rPr lang="en-DK" b="1" dirty="0">
                <a:latin typeface="+mn-lt"/>
              </a:rPr>
              <a:t>true cost, </a:t>
            </a:r>
            <a:r>
              <a:rPr lang="en-DK" dirty="0">
                <a:latin typeface="+mn-lt"/>
              </a:rPr>
              <a:t>to maximize its profit</a:t>
            </a:r>
            <a:endParaRPr lang="en-DK" b="1" dirty="0">
              <a:latin typeface="+mn-lt"/>
            </a:endParaRPr>
          </a:p>
        </p:txBody>
      </p:sp>
      <p:cxnSp>
        <p:nvCxnSpPr>
          <p:cNvPr id="43" name="Straight Connector 42">
            <a:extLst>
              <a:ext uri="{FF2B5EF4-FFF2-40B4-BE49-F238E27FC236}">
                <a16:creationId xmlns:a16="http://schemas.microsoft.com/office/drawing/2014/main" id="{D9D9CAEF-9DC3-1EF9-CCD3-8EC00AAF1943}"/>
              </a:ext>
            </a:extLst>
          </p:cNvPr>
          <p:cNvCxnSpPr>
            <a:cxnSpLocks/>
          </p:cNvCxnSpPr>
          <p:nvPr/>
        </p:nvCxnSpPr>
        <p:spPr bwMode="auto">
          <a:xfrm>
            <a:off x="5519142" y="2132856"/>
            <a:ext cx="0" cy="3128748"/>
          </a:xfrm>
          <a:prstGeom prst="line">
            <a:avLst/>
          </a:prstGeom>
          <a:ln w="3810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4" name="TextBox 43">
            <a:extLst>
              <a:ext uri="{FF2B5EF4-FFF2-40B4-BE49-F238E27FC236}">
                <a16:creationId xmlns:a16="http://schemas.microsoft.com/office/drawing/2014/main" id="{BA1C45E8-441E-3BF5-B6D8-7A0E69E2DE53}"/>
              </a:ext>
            </a:extLst>
          </p:cNvPr>
          <p:cNvSpPr txBox="1"/>
          <p:nvPr/>
        </p:nvSpPr>
        <p:spPr>
          <a:xfrm>
            <a:off x="5131505" y="1798455"/>
            <a:ext cx="1152128" cy="246221"/>
          </a:xfrm>
          <a:prstGeom prst="rect">
            <a:avLst/>
          </a:prstGeom>
          <a:noFill/>
        </p:spPr>
        <p:txBody>
          <a:bodyPr wrap="square" lIns="0" tIns="0" rIns="0" bIns="0" rtlCol="0">
            <a:spAutoFit/>
          </a:bodyPr>
          <a:lstStyle/>
          <a:p>
            <a:pPr algn="l">
              <a:spcBef>
                <a:spcPts val="432"/>
              </a:spcBef>
            </a:pPr>
            <a:r>
              <a:rPr lang="en-DK" dirty="0">
                <a:latin typeface="+mn-lt"/>
              </a:rPr>
              <a:t>Demand</a:t>
            </a:r>
          </a:p>
        </p:txBody>
      </p:sp>
      <p:cxnSp>
        <p:nvCxnSpPr>
          <p:cNvPr id="46" name="Straight Connector 45">
            <a:extLst>
              <a:ext uri="{FF2B5EF4-FFF2-40B4-BE49-F238E27FC236}">
                <a16:creationId xmlns:a16="http://schemas.microsoft.com/office/drawing/2014/main" id="{09B838B2-CEF2-A98D-2CB8-737455F91B8F}"/>
              </a:ext>
            </a:extLst>
          </p:cNvPr>
          <p:cNvCxnSpPr>
            <a:endCxn id="7" idx="3"/>
          </p:cNvCxnSpPr>
          <p:nvPr/>
        </p:nvCxnSpPr>
        <p:spPr bwMode="auto">
          <a:xfrm>
            <a:off x="4885885" y="4400648"/>
            <a:ext cx="792085" cy="6509"/>
          </a:xfrm>
          <a:prstGeom prst="line">
            <a:avLst/>
          </a:prstGeom>
          <a:solidFill>
            <a:schemeClr val="accent1"/>
          </a:solidFill>
          <a:ln w="28575" cap="flat" cmpd="sng" algn="ctr">
            <a:solidFill>
              <a:schemeClr val="accent3">
                <a:lumMod val="75000"/>
              </a:schemeClr>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Curved Connector 46">
            <a:extLst>
              <a:ext uri="{FF2B5EF4-FFF2-40B4-BE49-F238E27FC236}">
                <a16:creationId xmlns:a16="http://schemas.microsoft.com/office/drawing/2014/main" id="{61FA59E9-22A2-BD13-B30D-A2E7B5C3AFF6}"/>
              </a:ext>
            </a:extLst>
          </p:cNvPr>
          <p:cNvCxnSpPr/>
          <p:nvPr/>
        </p:nvCxnSpPr>
        <p:spPr bwMode="auto">
          <a:xfrm>
            <a:off x="4064413" y="3823394"/>
            <a:ext cx="771556" cy="570089"/>
          </a:xfrm>
          <a:prstGeom prst="curvedConnector3">
            <a:avLst>
              <a:gd name="adj1" fmla="val 50000"/>
            </a:avLst>
          </a:prstGeom>
          <a:solidFill>
            <a:schemeClr val="accent1"/>
          </a:solidFill>
          <a:ln w="19050"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TextBox 50">
            <a:extLst>
              <a:ext uri="{FF2B5EF4-FFF2-40B4-BE49-F238E27FC236}">
                <a16:creationId xmlns:a16="http://schemas.microsoft.com/office/drawing/2014/main" id="{EBC39A64-3E64-2DEB-04A1-5C20D0071602}"/>
              </a:ext>
            </a:extLst>
          </p:cNvPr>
          <p:cNvSpPr txBox="1"/>
          <p:nvPr/>
        </p:nvSpPr>
        <p:spPr>
          <a:xfrm>
            <a:off x="3053587" y="3663198"/>
            <a:ext cx="2016229" cy="246221"/>
          </a:xfrm>
          <a:prstGeom prst="rect">
            <a:avLst/>
          </a:prstGeom>
          <a:noFill/>
        </p:spPr>
        <p:txBody>
          <a:bodyPr wrap="square" lIns="0" tIns="0" rIns="0" bIns="0" rtlCol="0">
            <a:spAutoFit/>
          </a:bodyPr>
          <a:lstStyle/>
          <a:p>
            <a:pPr algn="l">
              <a:spcBef>
                <a:spcPts val="432"/>
              </a:spcBef>
            </a:pPr>
            <a:r>
              <a:rPr lang="en-DK" b="1" dirty="0">
                <a:latin typeface="+mn-lt"/>
              </a:rPr>
              <a:t>True cost</a:t>
            </a:r>
          </a:p>
        </p:txBody>
      </p:sp>
      <p:sp>
        <p:nvSpPr>
          <p:cNvPr id="12" name="Rectangle 11">
            <a:extLst>
              <a:ext uri="{FF2B5EF4-FFF2-40B4-BE49-F238E27FC236}">
                <a16:creationId xmlns:a16="http://schemas.microsoft.com/office/drawing/2014/main" id="{873E3B38-4453-B333-169C-F692F3E94CB2}"/>
              </a:ext>
            </a:extLst>
          </p:cNvPr>
          <p:cNvSpPr/>
          <p:nvPr/>
        </p:nvSpPr>
        <p:spPr bwMode="auto">
          <a:xfrm>
            <a:off x="6187517" y="2996954"/>
            <a:ext cx="468109" cy="2245628"/>
          </a:xfrm>
          <a:prstGeom prst="rect">
            <a:avLst/>
          </a:prstGeom>
          <a:solidFill>
            <a:schemeClr val="tx1">
              <a:lumMod val="65000"/>
              <a:lumOff val="35000"/>
            </a:schemeClr>
          </a:solidFill>
          <a:ln>
            <a:solidFill>
              <a:schemeClr val="tx1">
                <a:lumMod val="85000"/>
                <a:lumOff val="1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Tree>
    <p:extLst>
      <p:ext uri="{BB962C8B-B14F-4D97-AF65-F5344CB8AC3E}">
        <p14:creationId xmlns:p14="http://schemas.microsoft.com/office/powerpoint/2010/main" val="2438369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64AB6-C60D-D690-B24B-B582864ED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E972B9-88DA-72FD-CA41-74163B8F5184}"/>
              </a:ext>
            </a:extLst>
          </p:cNvPr>
          <p:cNvSpPr>
            <a:spLocks noGrp="1"/>
          </p:cNvSpPr>
          <p:nvPr>
            <p:ph type="title"/>
          </p:nvPr>
        </p:nvSpPr>
        <p:spPr>
          <a:xfrm>
            <a:off x="1414686" y="260648"/>
            <a:ext cx="9312374" cy="540000"/>
          </a:xfrm>
        </p:spPr>
        <p:txBody>
          <a:bodyPr/>
          <a:lstStyle/>
          <a:p>
            <a:r>
              <a:rPr lang="en-DK" dirty="0"/>
              <a:t>Strategic behaviour</a:t>
            </a:r>
          </a:p>
        </p:txBody>
      </p:sp>
      <p:sp>
        <p:nvSpPr>
          <p:cNvPr id="3" name="Content Placeholder 2">
            <a:extLst>
              <a:ext uri="{FF2B5EF4-FFF2-40B4-BE49-F238E27FC236}">
                <a16:creationId xmlns:a16="http://schemas.microsoft.com/office/drawing/2014/main" id="{EE88BC66-190A-70F9-CEF3-3DDD66147880}"/>
              </a:ext>
            </a:extLst>
          </p:cNvPr>
          <p:cNvSpPr>
            <a:spLocks noGrp="1"/>
          </p:cNvSpPr>
          <p:nvPr>
            <p:ph idx="1"/>
          </p:nvPr>
        </p:nvSpPr>
        <p:spPr>
          <a:xfrm>
            <a:off x="1439019" y="1124744"/>
            <a:ext cx="9312374" cy="4839202"/>
          </a:xfrm>
        </p:spPr>
        <p:txBody>
          <a:bodyPr/>
          <a:lstStyle/>
          <a:p>
            <a:pPr marL="0" indent="0">
              <a:buNone/>
            </a:pPr>
            <a:r>
              <a:rPr lang="en-DK" b="1" dirty="0">
                <a:solidFill>
                  <a:schemeClr val="bg1"/>
                </a:solidFill>
              </a:rPr>
              <a:t>.</a:t>
            </a:r>
          </a:p>
        </p:txBody>
      </p:sp>
      <p:sp>
        <p:nvSpPr>
          <p:cNvPr id="4" name="Date Placeholder 3">
            <a:extLst>
              <a:ext uri="{FF2B5EF4-FFF2-40B4-BE49-F238E27FC236}">
                <a16:creationId xmlns:a16="http://schemas.microsoft.com/office/drawing/2014/main" id="{DE27617E-EC80-D43B-5F03-63BB97F04BD9}"/>
              </a:ext>
            </a:extLst>
          </p:cNvPr>
          <p:cNvSpPr>
            <a:spLocks noGrp="1"/>
          </p:cNvSpPr>
          <p:nvPr>
            <p:ph type="dt" sz="half" idx="10"/>
          </p:nvPr>
        </p:nvSpPr>
        <p:spPr/>
        <p:txBody>
          <a:bodyPr/>
          <a:lstStyle/>
          <a:p>
            <a:fld id="{20D13FC2-7BBD-42F1-9600-CC233C8789A6}" type="datetime1">
              <a:rPr lang="da-DK" smtClean="0"/>
              <a:t>03-09-2026</a:t>
            </a:fld>
            <a:endParaRPr lang="en-GB"/>
          </a:p>
        </p:txBody>
      </p:sp>
      <p:sp>
        <p:nvSpPr>
          <p:cNvPr id="5" name="Footer Placeholder 4">
            <a:extLst>
              <a:ext uri="{FF2B5EF4-FFF2-40B4-BE49-F238E27FC236}">
                <a16:creationId xmlns:a16="http://schemas.microsoft.com/office/drawing/2014/main" id="{9163953E-E61D-7210-E74C-8A0A5A20EA3E}"/>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ECCC9425-85ED-BB7C-2BFE-44F1C87B4C73}"/>
              </a:ext>
            </a:extLst>
          </p:cNvPr>
          <p:cNvSpPr>
            <a:spLocks noGrp="1"/>
          </p:cNvSpPr>
          <p:nvPr>
            <p:ph type="sldNum" sz="quarter" idx="12"/>
          </p:nvPr>
        </p:nvSpPr>
        <p:spPr/>
        <p:txBody>
          <a:bodyPr/>
          <a:lstStyle/>
          <a:p>
            <a:fld id="{103EA872-A674-449B-A120-B97244F8E91D}" type="slidenum">
              <a:rPr lang="da-DK" smtClean="0"/>
              <a:pPr/>
              <a:t>7</a:t>
            </a:fld>
            <a:endParaRPr lang="da-DK" dirty="0"/>
          </a:p>
        </p:txBody>
      </p:sp>
      <p:cxnSp>
        <p:nvCxnSpPr>
          <p:cNvPr id="9" name="Straight Arrow Connector 8">
            <a:extLst>
              <a:ext uri="{FF2B5EF4-FFF2-40B4-BE49-F238E27FC236}">
                <a16:creationId xmlns:a16="http://schemas.microsoft.com/office/drawing/2014/main" id="{B1C3981A-10AA-9E32-A647-5A8014A178A4}"/>
              </a:ext>
            </a:extLst>
          </p:cNvPr>
          <p:cNvCxnSpPr/>
          <p:nvPr/>
        </p:nvCxnSpPr>
        <p:spPr bwMode="auto">
          <a:xfrm flipV="1">
            <a:off x="2824725" y="1661604"/>
            <a:ext cx="0" cy="360000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ectangle 13">
            <a:extLst>
              <a:ext uri="{FF2B5EF4-FFF2-40B4-BE49-F238E27FC236}">
                <a16:creationId xmlns:a16="http://schemas.microsoft.com/office/drawing/2014/main" id="{3B756E73-5BCA-6771-FE5D-2B9B29826E70}"/>
              </a:ext>
            </a:extLst>
          </p:cNvPr>
          <p:cNvSpPr/>
          <p:nvPr/>
        </p:nvSpPr>
        <p:spPr bwMode="auto">
          <a:xfrm>
            <a:off x="2854846" y="5085184"/>
            <a:ext cx="1224136" cy="156557"/>
          </a:xfrm>
          <a:prstGeom prst="rect">
            <a:avLst/>
          </a:prstGeom>
          <a:solidFill>
            <a:schemeClr val="accent5">
              <a:lumMod val="40000"/>
              <a:lumOff val="60000"/>
              <a:alpha val="67059"/>
            </a:schemeClr>
          </a:solidFill>
          <a:ln>
            <a:solidFill>
              <a:schemeClr val="accent5"/>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5" name="Rectangle 14">
            <a:extLst>
              <a:ext uri="{FF2B5EF4-FFF2-40B4-BE49-F238E27FC236}">
                <a16:creationId xmlns:a16="http://schemas.microsoft.com/office/drawing/2014/main" id="{8B860075-397A-12CE-153B-194487EDA7E6}"/>
              </a:ext>
            </a:extLst>
          </p:cNvPr>
          <p:cNvSpPr/>
          <p:nvPr/>
        </p:nvSpPr>
        <p:spPr bwMode="auto">
          <a:xfrm>
            <a:off x="4093797" y="4844220"/>
            <a:ext cx="720077" cy="396797"/>
          </a:xfrm>
          <a:prstGeom prst="rect">
            <a:avLst/>
          </a:prstGeom>
          <a:solidFill>
            <a:srgbClr val="B2D5FF"/>
          </a:solidFill>
          <a:ln>
            <a:solidFill>
              <a:srgbClr val="6583CD"/>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7" name="Rectangle 16">
            <a:extLst>
              <a:ext uri="{FF2B5EF4-FFF2-40B4-BE49-F238E27FC236}">
                <a16:creationId xmlns:a16="http://schemas.microsoft.com/office/drawing/2014/main" id="{E93BB116-5DCD-D5E2-F038-37C59A4BAE28}"/>
              </a:ext>
            </a:extLst>
          </p:cNvPr>
          <p:cNvSpPr/>
          <p:nvPr/>
        </p:nvSpPr>
        <p:spPr bwMode="auto">
          <a:xfrm>
            <a:off x="4835009" y="3927576"/>
            <a:ext cx="468109" cy="1307960"/>
          </a:xfrm>
          <a:prstGeom prst="rect">
            <a:avLst/>
          </a:prstGeom>
          <a:solidFill>
            <a:schemeClr val="tx2">
              <a:lumMod val="40000"/>
              <a:lumOff val="60000"/>
            </a:schemeClr>
          </a:solidFill>
          <a:ln>
            <a:solidFill>
              <a:schemeClr val="accent6">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8" name="Rectangle 17">
            <a:extLst>
              <a:ext uri="{FF2B5EF4-FFF2-40B4-BE49-F238E27FC236}">
                <a16:creationId xmlns:a16="http://schemas.microsoft.com/office/drawing/2014/main" id="{CB069E98-1FCE-F8D5-A62E-0F9E5BFC1DDF}"/>
              </a:ext>
            </a:extLst>
          </p:cNvPr>
          <p:cNvSpPr/>
          <p:nvPr/>
        </p:nvSpPr>
        <p:spPr bwMode="auto">
          <a:xfrm>
            <a:off x="6187517" y="2996954"/>
            <a:ext cx="468109" cy="2245628"/>
          </a:xfrm>
          <a:prstGeom prst="rect">
            <a:avLst/>
          </a:prstGeom>
          <a:solidFill>
            <a:schemeClr val="tx1">
              <a:lumMod val="65000"/>
              <a:lumOff val="35000"/>
            </a:schemeClr>
          </a:solidFill>
          <a:ln>
            <a:solidFill>
              <a:schemeClr val="tx1">
                <a:lumMod val="85000"/>
                <a:lumOff val="1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25" name="TextBox 24">
            <a:extLst>
              <a:ext uri="{FF2B5EF4-FFF2-40B4-BE49-F238E27FC236}">
                <a16:creationId xmlns:a16="http://schemas.microsoft.com/office/drawing/2014/main" id="{076DAADC-7F03-1483-F9D9-09E11E76BFB2}"/>
              </a:ext>
            </a:extLst>
          </p:cNvPr>
          <p:cNvSpPr txBox="1"/>
          <p:nvPr/>
        </p:nvSpPr>
        <p:spPr>
          <a:xfrm>
            <a:off x="8155615" y="5138493"/>
            <a:ext cx="1512168" cy="246221"/>
          </a:xfrm>
          <a:prstGeom prst="rect">
            <a:avLst/>
          </a:prstGeom>
          <a:noFill/>
        </p:spPr>
        <p:txBody>
          <a:bodyPr wrap="square" lIns="0" tIns="0" rIns="0" bIns="0" rtlCol="0">
            <a:spAutoFit/>
          </a:bodyPr>
          <a:lstStyle/>
          <a:p>
            <a:pPr algn="l">
              <a:spcBef>
                <a:spcPts val="432"/>
              </a:spcBef>
            </a:pPr>
            <a:r>
              <a:rPr lang="en-DK" dirty="0">
                <a:latin typeface="+mn-lt"/>
              </a:rPr>
              <a:t>Quantity (MWh)</a:t>
            </a:r>
          </a:p>
        </p:txBody>
      </p:sp>
      <p:cxnSp>
        <p:nvCxnSpPr>
          <p:cNvPr id="10" name="Straight Arrow Connector 9">
            <a:extLst>
              <a:ext uri="{FF2B5EF4-FFF2-40B4-BE49-F238E27FC236}">
                <a16:creationId xmlns:a16="http://schemas.microsoft.com/office/drawing/2014/main" id="{D053128E-3F9B-44DD-3B9A-1979BA7263EE}"/>
              </a:ext>
            </a:extLst>
          </p:cNvPr>
          <p:cNvCxnSpPr/>
          <p:nvPr/>
        </p:nvCxnSpPr>
        <p:spPr bwMode="auto">
          <a:xfrm>
            <a:off x="2819326" y="5261604"/>
            <a:ext cx="5220096" cy="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a:extLst>
              <a:ext uri="{FF2B5EF4-FFF2-40B4-BE49-F238E27FC236}">
                <a16:creationId xmlns:a16="http://schemas.microsoft.com/office/drawing/2014/main" id="{87AEC415-E57D-C39D-15F0-D7DCE18DA5F9}"/>
              </a:ext>
            </a:extLst>
          </p:cNvPr>
          <p:cNvSpPr txBox="1"/>
          <p:nvPr/>
        </p:nvSpPr>
        <p:spPr>
          <a:xfrm>
            <a:off x="2098762" y="1288115"/>
            <a:ext cx="1512168" cy="246221"/>
          </a:xfrm>
          <a:prstGeom prst="rect">
            <a:avLst/>
          </a:prstGeom>
          <a:noFill/>
        </p:spPr>
        <p:txBody>
          <a:bodyPr wrap="square" lIns="0" tIns="0" rIns="0" bIns="0" rtlCol="0">
            <a:spAutoFit/>
          </a:bodyPr>
          <a:lstStyle/>
          <a:p>
            <a:pPr algn="l">
              <a:spcBef>
                <a:spcPts val="432"/>
              </a:spcBef>
            </a:pPr>
            <a:r>
              <a:rPr lang="en-DK" dirty="0">
                <a:latin typeface="+mn-lt"/>
              </a:rPr>
              <a:t>Price (€/MWh)</a:t>
            </a:r>
          </a:p>
        </p:txBody>
      </p:sp>
      <p:sp>
        <p:nvSpPr>
          <p:cNvPr id="35" name="TextBox 34">
            <a:extLst>
              <a:ext uri="{FF2B5EF4-FFF2-40B4-BE49-F238E27FC236}">
                <a16:creationId xmlns:a16="http://schemas.microsoft.com/office/drawing/2014/main" id="{5CFA5696-814F-298C-1D44-20596B8F62CF}"/>
              </a:ext>
            </a:extLst>
          </p:cNvPr>
          <p:cNvSpPr txBox="1"/>
          <p:nvPr/>
        </p:nvSpPr>
        <p:spPr>
          <a:xfrm>
            <a:off x="3358902" y="5335776"/>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G1</a:t>
            </a:r>
          </a:p>
        </p:txBody>
      </p:sp>
      <p:sp>
        <p:nvSpPr>
          <p:cNvPr id="36" name="TextBox 35">
            <a:extLst>
              <a:ext uri="{FF2B5EF4-FFF2-40B4-BE49-F238E27FC236}">
                <a16:creationId xmlns:a16="http://schemas.microsoft.com/office/drawing/2014/main" id="{28DB5751-7D6F-0342-0D9F-5D5D8307C8BD}"/>
              </a:ext>
            </a:extLst>
          </p:cNvPr>
          <p:cNvSpPr txBox="1"/>
          <p:nvPr/>
        </p:nvSpPr>
        <p:spPr>
          <a:xfrm>
            <a:off x="4299223" y="5335776"/>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G2</a:t>
            </a:r>
          </a:p>
        </p:txBody>
      </p:sp>
      <p:sp>
        <p:nvSpPr>
          <p:cNvPr id="37" name="TextBox 36">
            <a:extLst>
              <a:ext uri="{FF2B5EF4-FFF2-40B4-BE49-F238E27FC236}">
                <a16:creationId xmlns:a16="http://schemas.microsoft.com/office/drawing/2014/main" id="{2DDACD96-38F0-F35C-5AA8-E11C659FAF3F}"/>
              </a:ext>
            </a:extLst>
          </p:cNvPr>
          <p:cNvSpPr txBox="1"/>
          <p:nvPr/>
        </p:nvSpPr>
        <p:spPr>
          <a:xfrm>
            <a:off x="5664763" y="5335776"/>
            <a:ext cx="405521" cy="184666"/>
          </a:xfrm>
          <a:prstGeom prst="rect">
            <a:avLst/>
          </a:prstGeom>
          <a:noFill/>
        </p:spPr>
        <p:txBody>
          <a:bodyPr wrap="square" lIns="0" tIns="0" rIns="0" bIns="0" rtlCol="0">
            <a:spAutoFit/>
          </a:bodyPr>
          <a:lstStyle/>
          <a:p>
            <a:pPr algn="l">
              <a:spcBef>
                <a:spcPts val="432"/>
              </a:spcBef>
            </a:pPr>
            <a:r>
              <a:rPr lang="en-DK" sz="1200" b="1" dirty="0">
                <a:highlight>
                  <a:srgbClr val="FFFF00"/>
                </a:highlight>
                <a:latin typeface="+mn-lt"/>
              </a:rPr>
              <a:t>G3</a:t>
            </a:r>
          </a:p>
        </p:txBody>
      </p:sp>
      <p:sp>
        <p:nvSpPr>
          <p:cNvPr id="38" name="TextBox 37">
            <a:extLst>
              <a:ext uri="{FF2B5EF4-FFF2-40B4-BE49-F238E27FC236}">
                <a16:creationId xmlns:a16="http://schemas.microsoft.com/office/drawing/2014/main" id="{EC038F24-EE97-DE5B-FCE8-899D5BF042E6}"/>
              </a:ext>
            </a:extLst>
          </p:cNvPr>
          <p:cNvSpPr txBox="1"/>
          <p:nvPr/>
        </p:nvSpPr>
        <p:spPr>
          <a:xfrm>
            <a:off x="4998751" y="5329144"/>
            <a:ext cx="405521" cy="184666"/>
          </a:xfrm>
          <a:prstGeom prst="rect">
            <a:avLst/>
          </a:prstGeom>
          <a:noFill/>
        </p:spPr>
        <p:txBody>
          <a:bodyPr wrap="square" lIns="0" tIns="0" rIns="0" bIns="0" rtlCol="0">
            <a:spAutoFit/>
          </a:bodyPr>
          <a:lstStyle/>
          <a:p>
            <a:pPr algn="l">
              <a:spcBef>
                <a:spcPts val="432"/>
              </a:spcBef>
            </a:pPr>
            <a:r>
              <a:rPr lang="en-DK" sz="1200" b="1" dirty="0">
                <a:highlight>
                  <a:srgbClr val="FFFF00"/>
                </a:highlight>
                <a:latin typeface="+mn-lt"/>
              </a:rPr>
              <a:t>G4</a:t>
            </a:r>
          </a:p>
        </p:txBody>
      </p:sp>
      <p:sp>
        <p:nvSpPr>
          <p:cNvPr id="39" name="TextBox 38">
            <a:extLst>
              <a:ext uri="{FF2B5EF4-FFF2-40B4-BE49-F238E27FC236}">
                <a16:creationId xmlns:a16="http://schemas.microsoft.com/office/drawing/2014/main" id="{02DD4FE9-B69D-D8E8-0F4A-7BA41D7C2FAA}"/>
              </a:ext>
            </a:extLst>
          </p:cNvPr>
          <p:cNvSpPr txBox="1"/>
          <p:nvPr/>
        </p:nvSpPr>
        <p:spPr>
          <a:xfrm>
            <a:off x="6313005" y="5329144"/>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G5</a:t>
            </a:r>
          </a:p>
        </p:txBody>
      </p:sp>
      <p:sp>
        <p:nvSpPr>
          <p:cNvPr id="7" name="Rectangle 6">
            <a:extLst>
              <a:ext uri="{FF2B5EF4-FFF2-40B4-BE49-F238E27FC236}">
                <a16:creationId xmlns:a16="http://schemas.microsoft.com/office/drawing/2014/main" id="{8B3D73B3-C981-03F2-D7CE-19BD247E5433}"/>
              </a:ext>
            </a:extLst>
          </p:cNvPr>
          <p:cNvSpPr/>
          <p:nvPr/>
        </p:nvSpPr>
        <p:spPr bwMode="auto">
          <a:xfrm>
            <a:off x="5317933" y="3580462"/>
            <a:ext cx="849281" cy="1653390"/>
          </a:xfrm>
          <a:prstGeom prst="rect">
            <a:avLst/>
          </a:prstGeom>
          <a:solidFill>
            <a:schemeClr val="accent3">
              <a:lumMod val="40000"/>
              <a:lumOff val="60000"/>
            </a:schemeClr>
          </a:solidFill>
          <a:ln>
            <a:solidFill>
              <a:schemeClr val="accent3">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34" name="Curved Connector 33">
            <a:extLst>
              <a:ext uri="{FF2B5EF4-FFF2-40B4-BE49-F238E27FC236}">
                <a16:creationId xmlns:a16="http://schemas.microsoft.com/office/drawing/2014/main" id="{3EBC0304-33EC-1A5E-7F37-558A7C1E6F1F}"/>
              </a:ext>
            </a:extLst>
          </p:cNvPr>
          <p:cNvCxnSpPr>
            <a:endCxn id="7" idx="0"/>
          </p:cNvCxnSpPr>
          <p:nvPr/>
        </p:nvCxnSpPr>
        <p:spPr bwMode="auto">
          <a:xfrm rot="10800000" flipV="1">
            <a:off x="5742574" y="1924278"/>
            <a:ext cx="1669976" cy="1656184"/>
          </a:xfrm>
          <a:prstGeom prst="curvedConnector2">
            <a:avLst/>
          </a:prstGeom>
          <a:solidFill>
            <a:schemeClr val="accent1"/>
          </a:solidFill>
          <a:ln w="19050"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TextBox 41">
            <a:extLst>
              <a:ext uri="{FF2B5EF4-FFF2-40B4-BE49-F238E27FC236}">
                <a16:creationId xmlns:a16="http://schemas.microsoft.com/office/drawing/2014/main" id="{A36052C8-2E82-3D5A-87B9-967954698A2C}"/>
              </a:ext>
            </a:extLst>
          </p:cNvPr>
          <p:cNvSpPr txBox="1"/>
          <p:nvPr/>
        </p:nvSpPr>
        <p:spPr>
          <a:xfrm>
            <a:off x="7428876" y="1681334"/>
            <a:ext cx="2482748" cy="492443"/>
          </a:xfrm>
          <a:prstGeom prst="rect">
            <a:avLst/>
          </a:prstGeom>
          <a:noFill/>
        </p:spPr>
        <p:txBody>
          <a:bodyPr wrap="square" lIns="0" tIns="0" rIns="0" bIns="0" rtlCol="0">
            <a:spAutoFit/>
          </a:bodyPr>
          <a:lstStyle/>
          <a:p>
            <a:pPr algn="l">
              <a:spcBef>
                <a:spcPts val="432"/>
              </a:spcBef>
            </a:pPr>
            <a:r>
              <a:rPr lang="en-DK" dirty="0">
                <a:latin typeface="+mn-lt"/>
              </a:rPr>
              <a:t>Re-arrangement according to the reported cost</a:t>
            </a:r>
            <a:endParaRPr lang="en-DK" b="1" dirty="0">
              <a:latin typeface="+mn-lt"/>
            </a:endParaRPr>
          </a:p>
        </p:txBody>
      </p:sp>
      <p:cxnSp>
        <p:nvCxnSpPr>
          <p:cNvPr id="19" name="Straight Connector 18">
            <a:extLst>
              <a:ext uri="{FF2B5EF4-FFF2-40B4-BE49-F238E27FC236}">
                <a16:creationId xmlns:a16="http://schemas.microsoft.com/office/drawing/2014/main" id="{82566464-2554-C005-42D5-1E6C3F665E6D}"/>
              </a:ext>
            </a:extLst>
          </p:cNvPr>
          <p:cNvCxnSpPr/>
          <p:nvPr/>
        </p:nvCxnSpPr>
        <p:spPr bwMode="auto">
          <a:xfrm>
            <a:off x="5317933" y="4400648"/>
            <a:ext cx="849281" cy="0"/>
          </a:xfrm>
          <a:prstGeom prst="line">
            <a:avLst/>
          </a:prstGeom>
          <a:solidFill>
            <a:schemeClr val="accent1"/>
          </a:solidFill>
          <a:ln w="28575" cap="flat" cmpd="sng" algn="ctr">
            <a:solidFill>
              <a:schemeClr val="accent3">
                <a:lumMod val="75000"/>
              </a:schemeClr>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urved Connector 20">
            <a:extLst>
              <a:ext uri="{FF2B5EF4-FFF2-40B4-BE49-F238E27FC236}">
                <a16:creationId xmlns:a16="http://schemas.microsoft.com/office/drawing/2014/main" id="{467E808A-F67A-C3A4-81E7-5B0A26168CDF}"/>
              </a:ext>
            </a:extLst>
          </p:cNvPr>
          <p:cNvCxnSpPr>
            <a:stCxn id="42" idx="1"/>
            <a:endCxn id="17" idx="0"/>
          </p:cNvCxnSpPr>
          <p:nvPr/>
        </p:nvCxnSpPr>
        <p:spPr bwMode="auto">
          <a:xfrm rot="10800000" flipV="1">
            <a:off x="5069064" y="1927556"/>
            <a:ext cx="2359812" cy="2000020"/>
          </a:xfrm>
          <a:prstGeom prst="curvedConnector2">
            <a:avLst/>
          </a:prstGeom>
          <a:solidFill>
            <a:schemeClr val="accent1"/>
          </a:solidFill>
          <a:ln w="19050"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101277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34DD1-6C07-7610-9933-4534EBCE9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364D83-44BC-833E-405D-264D2DAC3357}"/>
              </a:ext>
            </a:extLst>
          </p:cNvPr>
          <p:cNvSpPr>
            <a:spLocks noGrp="1"/>
          </p:cNvSpPr>
          <p:nvPr>
            <p:ph type="title"/>
          </p:nvPr>
        </p:nvSpPr>
        <p:spPr>
          <a:xfrm>
            <a:off x="1414686" y="260648"/>
            <a:ext cx="9312374" cy="540000"/>
          </a:xfrm>
        </p:spPr>
        <p:txBody>
          <a:bodyPr/>
          <a:lstStyle/>
          <a:p>
            <a:r>
              <a:rPr lang="en-DK" dirty="0"/>
              <a:t>Strategic behaviour</a:t>
            </a:r>
          </a:p>
        </p:txBody>
      </p:sp>
      <p:sp>
        <p:nvSpPr>
          <p:cNvPr id="3" name="Content Placeholder 2">
            <a:extLst>
              <a:ext uri="{FF2B5EF4-FFF2-40B4-BE49-F238E27FC236}">
                <a16:creationId xmlns:a16="http://schemas.microsoft.com/office/drawing/2014/main" id="{159A2F91-4731-B4C6-DE54-EAB4E5264936}"/>
              </a:ext>
            </a:extLst>
          </p:cNvPr>
          <p:cNvSpPr>
            <a:spLocks noGrp="1"/>
          </p:cNvSpPr>
          <p:nvPr>
            <p:ph idx="1"/>
          </p:nvPr>
        </p:nvSpPr>
        <p:spPr>
          <a:xfrm>
            <a:off x="1439019" y="1124744"/>
            <a:ext cx="9312374" cy="4839202"/>
          </a:xfrm>
        </p:spPr>
        <p:txBody>
          <a:bodyPr/>
          <a:lstStyle/>
          <a:p>
            <a:pPr marL="0" indent="0">
              <a:buNone/>
            </a:pPr>
            <a:r>
              <a:rPr lang="en-DK" b="1" dirty="0">
                <a:solidFill>
                  <a:schemeClr val="bg1"/>
                </a:solidFill>
              </a:rPr>
              <a:t>.</a:t>
            </a:r>
          </a:p>
        </p:txBody>
      </p:sp>
      <p:sp>
        <p:nvSpPr>
          <p:cNvPr id="4" name="Date Placeholder 3">
            <a:extLst>
              <a:ext uri="{FF2B5EF4-FFF2-40B4-BE49-F238E27FC236}">
                <a16:creationId xmlns:a16="http://schemas.microsoft.com/office/drawing/2014/main" id="{0D8C08BB-CF67-166D-A690-5E812181533C}"/>
              </a:ext>
            </a:extLst>
          </p:cNvPr>
          <p:cNvSpPr>
            <a:spLocks noGrp="1"/>
          </p:cNvSpPr>
          <p:nvPr>
            <p:ph type="dt" sz="half" idx="10"/>
          </p:nvPr>
        </p:nvSpPr>
        <p:spPr/>
        <p:txBody>
          <a:bodyPr/>
          <a:lstStyle/>
          <a:p>
            <a:fld id="{512FA6B4-F2DF-41C3-8189-11F154894BE6}" type="datetime1">
              <a:rPr lang="da-DK" smtClean="0"/>
              <a:t>03-09-2026</a:t>
            </a:fld>
            <a:endParaRPr lang="en-GB"/>
          </a:p>
        </p:txBody>
      </p:sp>
      <p:sp>
        <p:nvSpPr>
          <p:cNvPr id="5" name="Footer Placeholder 4">
            <a:extLst>
              <a:ext uri="{FF2B5EF4-FFF2-40B4-BE49-F238E27FC236}">
                <a16:creationId xmlns:a16="http://schemas.microsoft.com/office/drawing/2014/main" id="{D7BD5F0E-534D-3BB6-5F46-1FEBCAC5DF2D}"/>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873CFC78-8BA4-7544-ED7A-736C3F47EA5C}"/>
              </a:ext>
            </a:extLst>
          </p:cNvPr>
          <p:cNvSpPr>
            <a:spLocks noGrp="1"/>
          </p:cNvSpPr>
          <p:nvPr>
            <p:ph type="sldNum" sz="quarter" idx="12"/>
          </p:nvPr>
        </p:nvSpPr>
        <p:spPr/>
        <p:txBody>
          <a:bodyPr/>
          <a:lstStyle/>
          <a:p>
            <a:fld id="{103EA872-A674-449B-A120-B97244F8E91D}" type="slidenum">
              <a:rPr lang="da-DK" smtClean="0"/>
              <a:pPr/>
              <a:t>8</a:t>
            </a:fld>
            <a:endParaRPr lang="da-DK" dirty="0"/>
          </a:p>
        </p:txBody>
      </p:sp>
      <p:sp>
        <p:nvSpPr>
          <p:cNvPr id="25" name="TextBox 24">
            <a:extLst>
              <a:ext uri="{FF2B5EF4-FFF2-40B4-BE49-F238E27FC236}">
                <a16:creationId xmlns:a16="http://schemas.microsoft.com/office/drawing/2014/main" id="{FA080170-26E1-04F0-8301-25A0D831EA4A}"/>
              </a:ext>
            </a:extLst>
          </p:cNvPr>
          <p:cNvSpPr txBox="1"/>
          <p:nvPr/>
        </p:nvSpPr>
        <p:spPr>
          <a:xfrm>
            <a:off x="8155615" y="5138493"/>
            <a:ext cx="1512168" cy="246221"/>
          </a:xfrm>
          <a:prstGeom prst="rect">
            <a:avLst/>
          </a:prstGeom>
          <a:noFill/>
        </p:spPr>
        <p:txBody>
          <a:bodyPr wrap="square" lIns="0" tIns="0" rIns="0" bIns="0" rtlCol="0">
            <a:spAutoFit/>
          </a:bodyPr>
          <a:lstStyle/>
          <a:p>
            <a:pPr algn="l">
              <a:spcBef>
                <a:spcPts val="432"/>
              </a:spcBef>
            </a:pPr>
            <a:r>
              <a:rPr lang="en-DK" dirty="0">
                <a:latin typeface="+mn-lt"/>
              </a:rPr>
              <a:t>Quantity (MWh)</a:t>
            </a:r>
          </a:p>
        </p:txBody>
      </p:sp>
      <p:sp>
        <p:nvSpPr>
          <p:cNvPr id="26" name="TextBox 25">
            <a:extLst>
              <a:ext uri="{FF2B5EF4-FFF2-40B4-BE49-F238E27FC236}">
                <a16:creationId xmlns:a16="http://schemas.microsoft.com/office/drawing/2014/main" id="{D853F558-5D9F-811D-87BE-F0ECEBEF0EA7}"/>
              </a:ext>
            </a:extLst>
          </p:cNvPr>
          <p:cNvSpPr txBox="1"/>
          <p:nvPr/>
        </p:nvSpPr>
        <p:spPr>
          <a:xfrm>
            <a:off x="2098762" y="1288115"/>
            <a:ext cx="1512168" cy="246221"/>
          </a:xfrm>
          <a:prstGeom prst="rect">
            <a:avLst/>
          </a:prstGeom>
          <a:noFill/>
        </p:spPr>
        <p:txBody>
          <a:bodyPr wrap="square" lIns="0" tIns="0" rIns="0" bIns="0" rtlCol="0">
            <a:spAutoFit/>
          </a:bodyPr>
          <a:lstStyle/>
          <a:p>
            <a:pPr algn="l">
              <a:spcBef>
                <a:spcPts val="432"/>
              </a:spcBef>
            </a:pPr>
            <a:r>
              <a:rPr lang="en-DK" dirty="0">
                <a:latin typeface="+mn-lt"/>
              </a:rPr>
              <a:t>Price (€/MWh)</a:t>
            </a:r>
          </a:p>
        </p:txBody>
      </p:sp>
      <p:sp>
        <p:nvSpPr>
          <p:cNvPr id="35" name="TextBox 34">
            <a:extLst>
              <a:ext uri="{FF2B5EF4-FFF2-40B4-BE49-F238E27FC236}">
                <a16:creationId xmlns:a16="http://schemas.microsoft.com/office/drawing/2014/main" id="{B3792D94-953F-B5EC-21DB-00B0F8DA8DE5}"/>
              </a:ext>
            </a:extLst>
          </p:cNvPr>
          <p:cNvSpPr txBox="1"/>
          <p:nvPr/>
        </p:nvSpPr>
        <p:spPr>
          <a:xfrm>
            <a:off x="3358902" y="5335776"/>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G1</a:t>
            </a:r>
          </a:p>
        </p:txBody>
      </p:sp>
      <p:sp>
        <p:nvSpPr>
          <p:cNvPr id="36" name="TextBox 35">
            <a:extLst>
              <a:ext uri="{FF2B5EF4-FFF2-40B4-BE49-F238E27FC236}">
                <a16:creationId xmlns:a16="http://schemas.microsoft.com/office/drawing/2014/main" id="{2C4C4FDA-1FBE-FDFF-DCB8-F7B9C7069E95}"/>
              </a:ext>
            </a:extLst>
          </p:cNvPr>
          <p:cNvSpPr txBox="1"/>
          <p:nvPr/>
        </p:nvSpPr>
        <p:spPr>
          <a:xfrm>
            <a:off x="4299223" y="5335776"/>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G2</a:t>
            </a:r>
          </a:p>
        </p:txBody>
      </p:sp>
      <p:sp>
        <p:nvSpPr>
          <p:cNvPr id="37" name="TextBox 36">
            <a:extLst>
              <a:ext uri="{FF2B5EF4-FFF2-40B4-BE49-F238E27FC236}">
                <a16:creationId xmlns:a16="http://schemas.microsoft.com/office/drawing/2014/main" id="{02DBCE0C-24CC-0DCF-A66D-6FAD2481C17E}"/>
              </a:ext>
            </a:extLst>
          </p:cNvPr>
          <p:cNvSpPr txBox="1"/>
          <p:nvPr/>
        </p:nvSpPr>
        <p:spPr>
          <a:xfrm>
            <a:off x="5664763" y="5335776"/>
            <a:ext cx="405521" cy="184666"/>
          </a:xfrm>
          <a:prstGeom prst="rect">
            <a:avLst/>
          </a:prstGeom>
          <a:noFill/>
        </p:spPr>
        <p:txBody>
          <a:bodyPr wrap="square" lIns="0" tIns="0" rIns="0" bIns="0" rtlCol="0">
            <a:spAutoFit/>
          </a:bodyPr>
          <a:lstStyle/>
          <a:p>
            <a:pPr algn="l">
              <a:spcBef>
                <a:spcPts val="432"/>
              </a:spcBef>
            </a:pPr>
            <a:r>
              <a:rPr lang="en-DK" sz="1200" b="1" dirty="0">
                <a:latin typeface="+mn-lt"/>
              </a:rPr>
              <a:t>G3</a:t>
            </a:r>
          </a:p>
        </p:txBody>
      </p:sp>
      <p:sp>
        <p:nvSpPr>
          <p:cNvPr id="38" name="TextBox 37">
            <a:extLst>
              <a:ext uri="{FF2B5EF4-FFF2-40B4-BE49-F238E27FC236}">
                <a16:creationId xmlns:a16="http://schemas.microsoft.com/office/drawing/2014/main" id="{C271EAAC-199E-C1B1-4452-F8A5D96D2C88}"/>
              </a:ext>
            </a:extLst>
          </p:cNvPr>
          <p:cNvSpPr txBox="1"/>
          <p:nvPr/>
        </p:nvSpPr>
        <p:spPr>
          <a:xfrm>
            <a:off x="4998751" y="5329144"/>
            <a:ext cx="405521" cy="184666"/>
          </a:xfrm>
          <a:prstGeom prst="rect">
            <a:avLst/>
          </a:prstGeom>
          <a:noFill/>
        </p:spPr>
        <p:txBody>
          <a:bodyPr wrap="square" lIns="0" tIns="0" rIns="0" bIns="0" rtlCol="0">
            <a:spAutoFit/>
          </a:bodyPr>
          <a:lstStyle/>
          <a:p>
            <a:pPr algn="l">
              <a:spcBef>
                <a:spcPts val="432"/>
              </a:spcBef>
            </a:pPr>
            <a:r>
              <a:rPr lang="en-DK" sz="1200" b="1" dirty="0">
                <a:latin typeface="+mn-lt"/>
              </a:rPr>
              <a:t>G4</a:t>
            </a:r>
          </a:p>
        </p:txBody>
      </p:sp>
      <p:sp>
        <p:nvSpPr>
          <p:cNvPr id="39" name="TextBox 38">
            <a:extLst>
              <a:ext uri="{FF2B5EF4-FFF2-40B4-BE49-F238E27FC236}">
                <a16:creationId xmlns:a16="http://schemas.microsoft.com/office/drawing/2014/main" id="{4C0F6889-31D8-6B62-597F-7AF79488A2CA}"/>
              </a:ext>
            </a:extLst>
          </p:cNvPr>
          <p:cNvSpPr txBox="1"/>
          <p:nvPr/>
        </p:nvSpPr>
        <p:spPr>
          <a:xfrm>
            <a:off x="6313005" y="5329144"/>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G5</a:t>
            </a:r>
          </a:p>
        </p:txBody>
      </p:sp>
      <p:grpSp>
        <p:nvGrpSpPr>
          <p:cNvPr id="31" name="Group 30">
            <a:extLst>
              <a:ext uri="{FF2B5EF4-FFF2-40B4-BE49-F238E27FC236}">
                <a16:creationId xmlns:a16="http://schemas.microsoft.com/office/drawing/2014/main" id="{B1B63AB9-01C3-9572-1733-5E43AFE8BFFA}"/>
              </a:ext>
            </a:extLst>
          </p:cNvPr>
          <p:cNvGrpSpPr/>
          <p:nvPr/>
        </p:nvGrpSpPr>
        <p:grpSpPr>
          <a:xfrm>
            <a:off x="282838" y="3568083"/>
            <a:ext cx="5146536" cy="937557"/>
            <a:chOff x="282838" y="3568083"/>
            <a:chExt cx="5146536" cy="937557"/>
          </a:xfrm>
        </p:grpSpPr>
        <p:sp>
          <p:nvSpPr>
            <p:cNvPr id="27" name="Right Brace 26">
              <a:extLst>
                <a:ext uri="{FF2B5EF4-FFF2-40B4-BE49-F238E27FC236}">
                  <a16:creationId xmlns:a16="http://schemas.microsoft.com/office/drawing/2014/main" id="{AAD50C84-CFCD-EA2F-69CB-045AB657614E}"/>
                </a:ext>
              </a:extLst>
            </p:cNvPr>
            <p:cNvSpPr/>
            <p:nvPr/>
          </p:nvSpPr>
          <p:spPr bwMode="auto">
            <a:xfrm rot="10800000">
              <a:off x="2527595" y="3568083"/>
              <a:ext cx="252000" cy="832565"/>
            </a:xfrm>
            <a:prstGeom prst="rightBrace">
              <a:avLst>
                <a:gd name="adj1" fmla="val 69983"/>
                <a:gd name="adj2" fmla="val 50000"/>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DK" dirty="0"/>
            </a:p>
          </p:txBody>
        </p:sp>
        <p:grpSp>
          <p:nvGrpSpPr>
            <p:cNvPr id="30" name="Group 29">
              <a:extLst>
                <a:ext uri="{FF2B5EF4-FFF2-40B4-BE49-F238E27FC236}">
                  <a16:creationId xmlns:a16="http://schemas.microsoft.com/office/drawing/2014/main" id="{B9D31491-C673-6C86-E44A-A809F7E226FB}"/>
                </a:ext>
              </a:extLst>
            </p:cNvPr>
            <p:cNvGrpSpPr/>
            <p:nvPr/>
          </p:nvGrpSpPr>
          <p:grpSpPr>
            <a:xfrm>
              <a:off x="282838" y="4259419"/>
              <a:ext cx="5146536" cy="246221"/>
              <a:chOff x="282838" y="4259419"/>
              <a:chExt cx="5146536" cy="246221"/>
            </a:xfrm>
          </p:grpSpPr>
          <p:sp>
            <p:nvSpPr>
              <p:cNvPr id="28" name="TextBox 27">
                <a:extLst>
                  <a:ext uri="{FF2B5EF4-FFF2-40B4-BE49-F238E27FC236}">
                    <a16:creationId xmlns:a16="http://schemas.microsoft.com/office/drawing/2014/main" id="{72F8EC61-92F6-95F7-6DD3-0D42F7C4213D}"/>
                  </a:ext>
                </a:extLst>
              </p:cNvPr>
              <p:cNvSpPr txBox="1"/>
              <p:nvPr/>
            </p:nvSpPr>
            <p:spPr>
              <a:xfrm>
                <a:off x="282838" y="4259419"/>
                <a:ext cx="2281074" cy="246221"/>
              </a:xfrm>
              <a:prstGeom prst="rect">
                <a:avLst/>
              </a:prstGeom>
              <a:noFill/>
            </p:spPr>
            <p:txBody>
              <a:bodyPr wrap="none" lIns="0" tIns="0" rIns="0" bIns="0" rtlCol="0">
                <a:spAutoFit/>
              </a:bodyPr>
              <a:lstStyle/>
              <a:p>
                <a:pPr algn="l">
                  <a:spcBef>
                    <a:spcPts val="432"/>
                  </a:spcBef>
                </a:pPr>
                <a:r>
                  <a:rPr lang="en-US" dirty="0">
                    <a:latin typeface="+mn-lt"/>
                  </a:rPr>
                  <a:t>Old market clearing price</a:t>
                </a:r>
              </a:p>
            </p:txBody>
          </p:sp>
          <p:cxnSp>
            <p:nvCxnSpPr>
              <p:cNvPr id="29" name="Straight Connector 28">
                <a:extLst>
                  <a:ext uri="{FF2B5EF4-FFF2-40B4-BE49-F238E27FC236}">
                    <a16:creationId xmlns:a16="http://schemas.microsoft.com/office/drawing/2014/main" id="{E30C676F-F456-BB1B-FF97-5B21BE7E4837}"/>
                  </a:ext>
                </a:extLst>
              </p:cNvPr>
              <p:cNvCxnSpPr/>
              <p:nvPr/>
            </p:nvCxnSpPr>
            <p:spPr bwMode="auto">
              <a:xfrm>
                <a:off x="2854846" y="4400648"/>
                <a:ext cx="2574528" cy="0"/>
              </a:xfrm>
              <a:prstGeom prst="line">
                <a:avLst/>
              </a:prstGeom>
              <a:solidFill>
                <a:schemeClr val="accent1"/>
              </a:solidFill>
              <a:ln w="38100" cap="flat" cmpd="sng" algn="ctr">
                <a:solidFill>
                  <a:schemeClr val="tx1"/>
                </a:solidFill>
                <a:prstDash val="sysDot"/>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43" name="Group 42">
            <a:extLst>
              <a:ext uri="{FF2B5EF4-FFF2-40B4-BE49-F238E27FC236}">
                <a16:creationId xmlns:a16="http://schemas.microsoft.com/office/drawing/2014/main" id="{A9B09F64-C934-4612-079C-7C3168E6879E}"/>
              </a:ext>
            </a:extLst>
          </p:cNvPr>
          <p:cNvGrpSpPr/>
          <p:nvPr/>
        </p:nvGrpSpPr>
        <p:grpSpPr>
          <a:xfrm>
            <a:off x="727955" y="3687806"/>
            <a:ext cx="1670110" cy="609579"/>
            <a:chOff x="727955" y="3687806"/>
            <a:chExt cx="1670110" cy="609579"/>
          </a:xfrm>
        </p:grpSpPr>
        <p:pic>
          <p:nvPicPr>
            <p:cNvPr id="40" name="Picture 39">
              <a:extLst>
                <a:ext uri="{FF2B5EF4-FFF2-40B4-BE49-F238E27FC236}">
                  <a16:creationId xmlns:a16="http://schemas.microsoft.com/office/drawing/2014/main" id="{5D5FB2C5-62BD-BA18-6F38-9FCA9096824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50688" y="3687806"/>
              <a:ext cx="547377" cy="609579"/>
            </a:xfrm>
            <a:prstGeom prst="rect">
              <a:avLst/>
            </a:prstGeom>
          </p:spPr>
        </p:pic>
        <p:sp>
          <p:nvSpPr>
            <p:cNvPr id="42" name="TextBox 41">
              <a:extLst>
                <a:ext uri="{FF2B5EF4-FFF2-40B4-BE49-F238E27FC236}">
                  <a16:creationId xmlns:a16="http://schemas.microsoft.com/office/drawing/2014/main" id="{037F8867-A131-D399-3A7B-1113BD9F311A}"/>
                </a:ext>
              </a:extLst>
            </p:cNvPr>
            <p:cNvSpPr txBox="1"/>
            <p:nvPr/>
          </p:nvSpPr>
          <p:spPr>
            <a:xfrm>
              <a:off x="727955" y="3846313"/>
              <a:ext cx="1106072" cy="246221"/>
            </a:xfrm>
            <a:prstGeom prst="rect">
              <a:avLst/>
            </a:prstGeom>
            <a:noFill/>
          </p:spPr>
          <p:txBody>
            <a:bodyPr wrap="none" lIns="0" tIns="0" rIns="0" bIns="0" rtlCol="0">
              <a:spAutoFit/>
            </a:bodyPr>
            <a:lstStyle/>
            <a:p>
              <a:pPr algn="l">
                <a:spcBef>
                  <a:spcPts val="432"/>
                </a:spcBef>
              </a:pPr>
              <a:r>
                <a:rPr lang="en-US" dirty="0">
                  <a:latin typeface="+mn-lt"/>
                </a:rPr>
                <a:t>Consumers:</a:t>
              </a:r>
            </a:p>
          </p:txBody>
        </p:sp>
      </p:grpSp>
      <p:grpSp>
        <p:nvGrpSpPr>
          <p:cNvPr id="52" name="Group 51">
            <a:extLst>
              <a:ext uri="{FF2B5EF4-FFF2-40B4-BE49-F238E27FC236}">
                <a16:creationId xmlns:a16="http://schemas.microsoft.com/office/drawing/2014/main" id="{E6A8E841-80AB-2291-B7FB-F2ABA77FD16E}"/>
              </a:ext>
            </a:extLst>
          </p:cNvPr>
          <p:cNvGrpSpPr/>
          <p:nvPr/>
        </p:nvGrpSpPr>
        <p:grpSpPr>
          <a:xfrm>
            <a:off x="286892" y="1681334"/>
            <a:ext cx="10665710" cy="3552022"/>
            <a:chOff x="286892" y="1681334"/>
            <a:chExt cx="10665710" cy="3552022"/>
          </a:xfrm>
        </p:grpSpPr>
        <p:sp>
          <p:nvSpPr>
            <p:cNvPr id="23" name="TextBox 22">
              <a:extLst>
                <a:ext uri="{FF2B5EF4-FFF2-40B4-BE49-F238E27FC236}">
                  <a16:creationId xmlns:a16="http://schemas.microsoft.com/office/drawing/2014/main" id="{B0334319-8EE9-4423-1DEC-B1242D356734}"/>
                </a:ext>
              </a:extLst>
            </p:cNvPr>
            <p:cNvSpPr txBox="1"/>
            <p:nvPr/>
          </p:nvSpPr>
          <p:spPr>
            <a:xfrm>
              <a:off x="7428876" y="1681334"/>
              <a:ext cx="3523726" cy="543739"/>
            </a:xfrm>
            <a:prstGeom prst="rect">
              <a:avLst/>
            </a:prstGeom>
            <a:noFill/>
          </p:spPr>
          <p:txBody>
            <a:bodyPr wrap="square" lIns="0" tIns="0" rIns="0" bIns="0" rtlCol="0">
              <a:spAutoFit/>
            </a:bodyPr>
            <a:lstStyle/>
            <a:p>
              <a:pPr algn="l">
                <a:spcBef>
                  <a:spcPts val="432"/>
                </a:spcBef>
              </a:pPr>
              <a:r>
                <a:rPr lang="en-DK" dirty="0">
                  <a:latin typeface="+mn-lt"/>
                </a:rPr>
                <a:t>Market is cleared with this information</a:t>
              </a:r>
              <a:endParaRPr lang="en-US" dirty="0">
                <a:latin typeface="+mn-lt"/>
              </a:endParaRPr>
            </a:p>
            <a:p>
              <a:pPr algn="l">
                <a:spcBef>
                  <a:spcPts val="432"/>
                </a:spcBef>
              </a:pPr>
              <a:endParaRPr lang="en-US" b="1" dirty="0">
                <a:latin typeface="+mn-lt"/>
              </a:endParaRPr>
            </a:p>
          </p:txBody>
        </p:sp>
        <p:grpSp>
          <p:nvGrpSpPr>
            <p:cNvPr id="51" name="Group 50">
              <a:extLst>
                <a:ext uri="{FF2B5EF4-FFF2-40B4-BE49-F238E27FC236}">
                  <a16:creationId xmlns:a16="http://schemas.microsoft.com/office/drawing/2014/main" id="{EF37D6AF-7056-DA25-B9CF-7BB85FEA8FF3}"/>
                </a:ext>
              </a:extLst>
            </p:cNvPr>
            <p:cNvGrpSpPr/>
            <p:nvPr/>
          </p:nvGrpSpPr>
          <p:grpSpPr>
            <a:xfrm>
              <a:off x="286892" y="2120985"/>
              <a:ext cx="10362388" cy="3112371"/>
              <a:chOff x="286892" y="2120985"/>
              <a:chExt cx="10362388" cy="3112371"/>
            </a:xfrm>
          </p:grpSpPr>
          <p:sp>
            <p:nvSpPr>
              <p:cNvPr id="19" name="TextBox 18">
                <a:extLst>
                  <a:ext uri="{FF2B5EF4-FFF2-40B4-BE49-F238E27FC236}">
                    <a16:creationId xmlns:a16="http://schemas.microsoft.com/office/drawing/2014/main" id="{9484D95C-D8D3-D7CC-180A-29EE5686B219}"/>
                  </a:ext>
                </a:extLst>
              </p:cNvPr>
              <p:cNvSpPr txBox="1"/>
              <p:nvPr/>
            </p:nvSpPr>
            <p:spPr>
              <a:xfrm>
                <a:off x="7443274" y="2120985"/>
                <a:ext cx="3206006" cy="246221"/>
              </a:xfrm>
              <a:prstGeom prst="rect">
                <a:avLst/>
              </a:prstGeom>
              <a:noFill/>
            </p:spPr>
            <p:txBody>
              <a:bodyPr wrap="none" lIns="0" tIns="0" rIns="0" bIns="0" rtlCol="0">
                <a:spAutoFit/>
              </a:bodyPr>
              <a:lstStyle/>
              <a:p>
                <a:pPr algn="l">
                  <a:spcBef>
                    <a:spcPts val="432"/>
                  </a:spcBef>
                </a:pPr>
                <a:r>
                  <a:rPr lang="en-US" dirty="0">
                    <a:latin typeface="+mn-lt"/>
                  </a:rPr>
                  <a:t>Suddenly G3 makes a (small) profit</a:t>
                </a:r>
              </a:p>
            </p:txBody>
          </p:sp>
          <p:grpSp>
            <p:nvGrpSpPr>
              <p:cNvPr id="49" name="Group 48">
                <a:extLst>
                  <a:ext uri="{FF2B5EF4-FFF2-40B4-BE49-F238E27FC236}">
                    <a16:creationId xmlns:a16="http://schemas.microsoft.com/office/drawing/2014/main" id="{6BBFC536-052B-DA2F-EDF8-223C77EA0357}"/>
                  </a:ext>
                </a:extLst>
              </p:cNvPr>
              <p:cNvGrpSpPr/>
              <p:nvPr/>
            </p:nvGrpSpPr>
            <p:grpSpPr>
              <a:xfrm>
                <a:off x="286892" y="3434576"/>
                <a:ext cx="5880312" cy="1798780"/>
                <a:chOff x="286892" y="3434576"/>
                <a:chExt cx="5880312" cy="1798780"/>
              </a:xfrm>
            </p:grpSpPr>
            <p:grpSp>
              <p:nvGrpSpPr>
                <p:cNvPr id="48" name="Group 47">
                  <a:extLst>
                    <a:ext uri="{FF2B5EF4-FFF2-40B4-BE49-F238E27FC236}">
                      <a16:creationId xmlns:a16="http://schemas.microsoft.com/office/drawing/2014/main" id="{8AABC6D5-ABDC-F517-5884-9E223C6EB424}"/>
                    </a:ext>
                  </a:extLst>
                </p:cNvPr>
                <p:cNvGrpSpPr/>
                <p:nvPr/>
              </p:nvGrpSpPr>
              <p:grpSpPr>
                <a:xfrm>
                  <a:off x="286892" y="3434576"/>
                  <a:ext cx="5232250" cy="246221"/>
                  <a:chOff x="286892" y="3434576"/>
                  <a:chExt cx="5232250" cy="246221"/>
                </a:xfrm>
              </p:grpSpPr>
              <p:cxnSp>
                <p:nvCxnSpPr>
                  <p:cNvPr id="16" name="Straight Connector 15">
                    <a:extLst>
                      <a:ext uri="{FF2B5EF4-FFF2-40B4-BE49-F238E27FC236}">
                        <a16:creationId xmlns:a16="http://schemas.microsoft.com/office/drawing/2014/main" id="{FC9997CC-18F4-28C0-4356-8D3227C3DC9C}"/>
                      </a:ext>
                    </a:extLst>
                  </p:cNvPr>
                  <p:cNvCxnSpPr>
                    <a:cxnSpLocks/>
                  </p:cNvCxnSpPr>
                  <p:nvPr/>
                </p:nvCxnSpPr>
                <p:spPr bwMode="auto">
                  <a:xfrm>
                    <a:off x="2869619" y="3575805"/>
                    <a:ext cx="2649523" cy="0"/>
                  </a:xfrm>
                  <a:prstGeom prst="line">
                    <a:avLst/>
                  </a:prstGeom>
                  <a:solidFill>
                    <a:schemeClr val="accent1"/>
                  </a:solidFill>
                  <a:ln w="38100" cap="flat" cmpd="sng" algn="ctr">
                    <a:solidFill>
                      <a:schemeClr val="tx1"/>
                    </a:solidFill>
                    <a:prstDash val="sysDot"/>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TextBox 20">
                    <a:extLst>
                      <a:ext uri="{FF2B5EF4-FFF2-40B4-BE49-F238E27FC236}">
                        <a16:creationId xmlns:a16="http://schemas.microsoft.com/office/drawing/2014/main" id="{09529C4B-C75B-A785-D2F6-0BBF97111B6D}"/>
                      </a:ext>
                    </a:extLst>
                  </p:cNvPr>
                  <p:cNvSpPr txBox="1"/>
                  <p:nvPr/>
                </p:nvSpPr>
                <p:spPr>
                  <a:xfrm>
                    <a:off x="286892" y="3434576"/>
                    <a:ext cx="2810752" cy="246221"/>
                  </a:xfrm>
                  <a:prstGeom prst="rect">
                    <a:avLst/>
                  </a:prstGeom>
                  <a:noFill/>
                </p:spPr>
                <p:txBody>
                  <a:bodyPr wrap="square" lIns="0" tIns="0" rIns="0" bIns="0" rtlCol="0">
                    <a:spAutoFit/>
                  </a:bodyPr>
                  <a:lstStyle/>
                  <a:p>
                    <a:pPr algn="l">
                      <a:spcBef>
                        <a:spcPts val="432"/>
                      </a:spcBef>
                    </a:pPr>
                    <a:r>
                      <a:rPr lang="en-US" dirty="0">
                        <a:latin typeface="+mn-lt"/>
                      </a:rPr>
                      <a:t>New m</a:t>
                    </a:r>
                    <a:r>
                      <a:rPr lang="en-DK" dirty="0">
                        <a:latin typeface="+mn-lt"/>
                      </a:rPr>
                      <a:t>arket clearing price</a:t>
                    </a:r>
                  </a:p>
                </p:txBody>
              </p:sp>
            </p:grpSp>
            <p:sp>
              <p:nvSpPr>
                <p:cNvPr id="45" name="Rectangle 44">
                  <a:extLst>
                    <a:ext uri="{FF2B5EF4-FFF2-40B4-BE49-F238E27FC236}">
                      <a16:creationId xmlns:a16="http://schemas.microsoft.com/office/drawing/2014/main" id="{1E29D594-05C4-A315-7344-94ABBC6718E5}"/>
                    </a:ext>
                  </a:extLst>
                </p:cNvPr>
                <p:cNvSpPr/>
                <p:nvPr/>
              </p:nvSpPr>
              <p:spPr bwMode="auto">
                <a:xfrm>
                  <a:off x="5509270" y="3579967"/>
                  <a:ext cx="657934" cy="1653389"/>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grpSp>
        </p:grpSp>
      </p:grpSp>
      <p:cxnSp>
        <p:nvCxnSpPr>
          <p:cNvPr id="9" name="Straight Arrow Connector 8">
            <a:extLst>
              <a:ext uri="{FF2B5EF4-FFF2-40B4-BE49-F238E27FC236}">
                <a16:creationId xmlns:a16="http://schemas.microsoft.com/office/drawing/2014/main" id="{E9C4C302-3642-B65D-285D-CBFDDD588DC2}"/>
              </a:ext>
            </a:extLst>
          </p:cNvPr>
          <p:cNvCxnSpPr/>
          <p:nvPr/>
        </p:nvCxnSpPr>
        <p:spPr bwMode="auto">
          <a:xfrm flipV="1">
            <a:off x="2824725" y="1661604"/>
            <a:ext cx="0" cy="360000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ectangle 13">
            <a:extLst>
              <a:ext uri="{FF2B5EF4-FFF2-40B4-BE49-F238E27FC236}">
                <a16:creationId xmlns:a16="http://schemas.microsoft.com/office/drawing/2014/main" id="{4DF702A3-2243-0FD7-16A4-B667B607DA7E}"/>
              </a:ext>
            </a:extLst>
          </p:cNvPr>
          <p:cNvSpPr/>
          <p:nvPr/>
        </p:nvSpPr>
        <p:spPr bwMode="auto">
          <a:xfrm>
            <a:off x="2854846" y="5085184"/>
            <a:ext cx="1224136" cy="156557"/>
          </a:xfrm>
          <a:prstGeom prst="rect">
            <a:avLst/>
          </a:prstGeom>
          <a:solidFill>
            <a:schemeClr val="accent5">
              <a:lumMod val="40000"/>
              <a:lumOff val="60000"/>
              <a:alpha val="67059"/>
            </a:schemeClr>
          </a:solidFill>
          <a:ln>
            <a:solidFill>
              <a:schemeClr val="accent5"/>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5" name="Rectangle 14">
            <a:extLst>
              <a:ext uri="{FF2B5EF4-FFF2-40B4-BE49-F238E27FC236}">
                <a16:creationId xmlns:a16="http://schemas.microsoft.com/office/drawing/2014/main" id="{466192CD-B95D-F161-EEC1-B3E39D6B04D8}"/>
              </a:ext>
            </a:extLst>
          </p:cNvPr>
          <p:cNvSpPr/>
          <p:nvPr/>
        </p:nvSpPr>
        <p:spPr bwMode="auto">
          <a:xfrm>
            <a:off x="4093797" y="4844220"/>
            <a:ext cx="720077" cy="396797"/>
          </a:xfrm>
          <a:prstGeom prst="rect">
            <a:avLst/>
          </a:prstGeom>
          <a:solidFill>
            <a:srgbClr val="B2D5FF"/>
          </a:solidFill>
          <a:ln>
            <a:solidFill>
              <a:srgbClr val="6583CD"/>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7" name="Rectangle 16">
            <a:extLst>
              <a:ext uri="{FF2B5EF4-FFF2-40B4-BE49-F238E27FC236}">
                <a16:creationId xmlns:a16="http://schemas.microsoft.com/office/drawing/2014/main" id="{8AC5506A-2C6B-998E-1534-2CF9D59DEB5F}"/>
              </a:ext>
            </a:extLst>
          </p:cNvPr>
          <p:cNvSpPr/>
          <p:nvPr/>
        </p:nvSpPr>
        <p:spPr bwMode="auto">
          <a:xfrm>
            <a:off x="4835009" y="3927576"/>
            <a:ext cx="468109" cy="1307960"/>
          </a:xfrm>
          <a:prstGeom prst="rect">
            <a:avLst/>
          </a:prstGeom>
          <a:solidFill>
            <a:schemeClr val="tx2">
              <a:lumMod val="40000"/>
              <a:lumOff val="60000"/>
            </a:schemeClr>
          </a:solidFill>
          <a:ln>
            <a:solidFill>
              <a:schemeClr val="accent6">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10" name="Straight Arrow Connector 9">
            <a:extLst>
              <a:ext uri="{FF2B5EF4-FFF2-40B4-BE49-F238E27FC236}">
                <a16:creationId xmlns:a16="http://schemas.microsoft.com/office/drawing/2014/main" id="{6280585C-C0EE-3929-F00B-23BADAA86D17}"/>
              </a:ext>
            </a:extLst>
          </p:cNvPr>
          <p:cNvCxnSpPr/>
          <p:nvPr/>
        </p:nvCxnSpPr>
        <p:spPr bwMode="auto">
          <a:xfrm>
            <a:off x="2819326" y="5261604"/>
            <a:ext cx="5220096" cy="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Rectangle 6">
            <a:extLst>
              <a:ext uri="{FF2B5EF4-FFF2-40B4-BE49-F238E27FC236}">
                <a16:creationId xmlns:a16="http://schemas.microsoft.com/office/drawing/2014/main" id="{27895469-D821-2047-0DA1-82512A17EC32}"/>
              </a:ext>
            </a:extLst>
          </p:cNvPr>
          <p:cNvSpPr/>
          <p:nvPr/>
        </p:nvSpPr>
        <p:spPr bwMode="auto">
          <a:xfrm>
            <a:off x="5317933" y="3580462"/>
            <a:ext cx="849281" cy="1653390"/>
          </a:xfrm>
          <a:prstGeom prst="rect">
            <a:avLst/>
          </a:prstGeom>
          <a:solidFill>
            <a:schemeClr val="accent3">
              <a:lumMod val="40000"/>
              <a:lumOff val="60000"/>
            </a:schemeClr>
          </a:solidFill>
          <a:ln>
            <a:solidFill>
              <a:schemeClr val="accent3">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11" name="Straight Connector 10">
            <a:extLst>
              <a:ext uri="{FF2B5EF4-FFF2-40B4-BE49-F238E27FC236}">
                <a16:creationId xmlns:a16="http://schemas.microsoft.com/office/drawing/2014/main" id="{48F6FFA7-10D4-4F3D-F487-CCA3C400A439}"/>
              </a:ext>
            </a:extLst>
          </p:cNvPr>
          <p:cNvCxnSpPr>
            <a:cxnSpLocks/>
          </p:cNvCxnSpPr>
          <p:nvPr/>
        </p:nvCxnSpPr>
        <p:spPr bwMode="auto">
          <a:xfrm>
            <a:off x="5519142" y="2132856"/>
            <a:ext cx="0" cy="3128748"/>
          </a:xfrm>
          <a:prstGeom prst="line">
            <a:avLst/>
          </a:prstGeom>
          <a:ln w="3810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9B3BC7CE-F345-B84A-973C-F844A4104D41}"/>
              </a:ext>
            </a:extLst>
          </p:cNvPr>
          <p:cNvCxnSpPr>
            <a:cxnSpLocks/>
          </p:cNvCxnSpPr>
          <p:nvPr/>
        </p:nvCxnSpPr>
        <p:spPr bwMode="auto">
          <a:xfrm>
            <a:off x="5519142" y="2132856"/>
            <a:ext cx="0" cy="3128748"/>
          </a:xfrm>
          <a:prstGeom prst="line">
            <a:avLst/>
          </a:prstGeom>
          <a:ln w="3810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3C9DF788-3BC7-D84C-FEAD-C42B3EF10E3A}"/>
              </a:ext>
            </a:extLst>
          </p:cNvPr>
          <p:cNvSpPr txBox="1"/>
          <p:nvPr/>
        </p:nvSpPr>
        <p:spPr>
          <a:xfrm>
            <a:off x="5131505" y="1798455"/>
            <a:ext cx="1152128" cy="246221"/>
          </a:xfrm>
          <a:prstGeom prst="rect">
            <a:avLst/>
          </a:prstGeom>
          <a:noFill/>
        </p:spPr>
        <p:txBody>
          <a:bodyPr wrap="square" lIns="0" tIns="0" rIns="0" bIns="0" rtlCol="0">
            <a:spAutoFit/>
          </a:bodyPr>
          <a:lstStyle/>
          <a:p>
            <a:pPr algn="l">
              <a:spcBef>
                <a:spcPts val="432"/>
              </a:spcBef>
            </a:pPr>
            <a:r>
              <a:rPr lang="en-DK" dirty="0">
                <a:latin typeface="+mn-lt"/>
              </a:rPr>
              <a:t>Demand</a:t>
            </a:r>
          </a:p>
        </p:txBody>
      </p:sp>
      <p:cxnSp>
        <p:nvCxnSpPr>
          <p:cNvPr id="8" name="Straight Connector 7">
            <a:extLst>
              <a:ext uri="{FF2B5EF4-FFF2-40B4-BE49-F238E27FC236}">
                <a16:creationId xmlns:a16="http://schemas.microsoft.com/office/drawing/2014/main" id="{28D58F9E-B9B0-65C6-5B30-872D9F4FA04A}"/>
              </a:ext>
            </a:extLst>
          </p:cNvPr>
          <p:cNvCxnSpPr/>
          <p:nvPr/>
        </p:nvCxnSpPr>
        <p:spPr bwMode="auto">
          <a:xfrm>
            <a:off x="5317933" y="4400648"/>
            <a:ext cx="849281" cy="0"/>
          </a:xfrm>
          <a:prstGeom prst="line">
            <a:avLst/>
          </a:prstGeom>
          <a:solidFill>
            <a:schemeClr val="accent1"/>
          </a:solidFill>
          <a:ln w="28575" cap="flat" cmpd="sng" algn="ctr">
            <a:solidFill>
              <a:schemeClr val="accent3">
                <a:lumMod val="75000"/>
              </a:schemeClr>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Rectangle 53">
            <a:extLst>
              <a:ext uri="{FF2B5EF4-FFF2-40B4-BE49-F238E27FC236}">
                <a16:creationId xmlns:a16="http://schemas.microsoft.com/office/drawing/2014/main" id="{72723BA6-015A-578F-FC7B-7D534B5BD67B}"/>
              </a:ext>
            </a:extLst>
          </p:cNvPr>
          <p:cNvSpPr/>
          <p:nvPr/>
        </p:nvSpPr>
        <p:spPr bwMode="auto">
          <a:xfrm>
            <a:off x="6187517" y="2996954"/>
            <a:ext cx="468109" cy="2245628"/>
          </a:xfrm>
          <a:prstGeom prst="rect">
            <a:avLst/>
          </a:prstGeom>
          <a:solidFill>
            <a:schemeClr val="tx1">
              <a:lumMod val="65000"/>
              <a:lumOff val="35000"/>
            </a:schemeClr>
          </a:solidFill>
          <a:ln>
            <a:solidFill>
              <a:schemeClr val="tx1">
                <a:lumMod val="85000"/>
                <a:lumOff val="1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grpSp>
        <p:nvGrpSpPr>
          <p:cNvPr id="62" name="Group 61">
            <a:extLst>
              <a:ext uri="{FF2B5EF4-FFF2-40B4-BE49-F238E27FC236}">
                <a16:creationId xmlns:a16="http://schemas.microsoft.com/office/drawing/2014/main" id="{5620E6A4-8B58-A471-50CD-F7CAEF5C25F8}"/>
              </a:ext>
            </a:extLst>
          </p:cNvPr>
          <p:cNvGrpSpPr/>
          <p:nvPr/>
        </p:nvGrpSpPr>
        <p:grpSpPr>
          <a:xfrm>
            <a:off x="5524095" y="2983135"/>
            <a:ext cx="1131531" cy="2252401"/>
            <a:chOff x="5524095" y="2983135"/>
            <a:chExt cx="1131531" cy="2252401"/>
          </a:xfrm>
        </p:grpSpPr>
        <p:sp>
          <p:nvSpPr>
            <p:cNvPr id="58" name="Rectangle 57">
              <a:extLst>
                <a:ext uri="{FF2B5EF4-FFF2-40B4-BE49-F238E27FC236}">
                  <a16:creationId xmlns:a16="http://schemas.microsoft.com/office/drawing/2014/main" id="{7DAF6525-4FA2-B8E2-D727-5E15D4AE249A}"/>
                </a:ext>
              </a:extLst>
            </p:cNvPr>
            <p:cNvSpPr/>
            <p:nvPr/>
          </p:nvSpPr>
          <p:spPr bwMode="auto">
            <a:xfrm>
              <a:off x="6187517" y="2983135"/>
              <a:ext cx="468109" cy="2245628"/>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61" name="Rectangle 60">
              <a:extLst>
                <a:ext uri="{FF2B5EF4-FFF2-40B4-BE49-F238E27FC236}">
                  <a16:creationId xmlns:a16="http://schemas.microsoft.com/office/drawing/2014/main" id="{CFCE8AE0-C07F-6720-A888-DA26B657F1CF}"/>
                </a:ext>
              </a:extLst>
            </p:cNvPr>
            <p:cNvSpPr/>
            <p:nvPr/>
          </p:nvSpPr>
          <p:spPr bwMode="auto">
            <a:xfrm>
              <a:off x="5524095" y="3582147"/>
              <a:ext cx="657934" cy="1653389"/>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grpSp>
    </p:spTree>
    <p:extLst>
      <p:ext uri="{BB962C8B-B14F-4D97-AF65-F5344CB8AC3E}">
        <p14:creationId xmlns:p14="http://schemas.microsoft.com/office/powerpoint/2010/main" val="72391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3521F-17C1-2A7D-25B5-D83499FF7F82}"/>
            </a:ext>
          </a:extLst>
        </p:cNvPr>
        <p:cNvGrpSpPr/>
        <p:nvPr/>
      </p:nvGrpSpPr>
      <p:grpSpPr>
        <a:xfrm>
          <a:off x="0" y="0"/>
          <a:ext cx="0" cy="0"/>
          <a:chOff x="0" y="0"/>
          <a:chExt cx="0" cy="0"/>
        </a:xfrm>
      </p:grpSpPr>
      <p:sp>
        <p:nvSpPr>
          <p:cNvPr id="22" name="Title 21">
            <a:extLst>
              <a:ext uri="{FF2B5EF4-FFF2-40B4-BE49-F238E27FC236}">
                <a16:creationId xmlns:a16="http://schemas.microsoft.com/office/drawing/2014/main" id="{66B7D095-22C9-79ED-151A-1D0EFB3042A3}"/>
              </a:ext>
            </a:extLst>
          </p:cNvPr>
          <p:cNvSpPr>
            <a:spLocks noGrp="1"/>
          </p:cNvSpPr>
          <p:nvPr>
            <p:ph type="ctrTitle"/>
          </p:nvPr>
        </p:nvSpPr>
        <p:spPr>
          <a:xfrm>
            <a:off x="262558" y="1772816"/>
            <a:ext cx="10840028" cy="2822575"/>
          </a:xfrm>
        </p:spPr>
        <p:txBody>
          <a:bodyPr/>
          <a:lstStyle/>
          <a:p>
            <a:r>
              <a:rPr lang="en-GB" sz="5400" dirty="0"/>
              <a:t>Stop thinking about your money – think of our money!</a:t>
            </a:r>
          </a:p>
        </p:txBody>
      </p:sp>
      <p:pic>
        <p:nvPicPr>
          <p:cNvPr id="3" name="Picture 2">
            <a:extLst>
              <a:ext uri="{FF2B5EF4-FFF2-40B4-BE49-F238E27FC236}">
                <a16:creationId xmlns:a16="http://schemas.microsoft.com/office/drawing/2014/main" id="{9893333F-3113-5B8F-E492-0E390C2D8DA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39622" y="188640"/>
            <a:ext cx="2148855" cy="1432570"/>
          </a:xfrm>
          <a:prstGeom prst="rect">
            <a:avLst/>
          </a:prstGeom>
        </p:spPr>
      </p:pic>
    </p:spTree>
    <p:custDataLst>
      <p:custData r:id="rId1"/>
      <p:custData r:id="rId2"/>
    </p:custDataLst>
    <p:extLst>
      <p:ext uri="{BB962C8B-B14F-4D97-AF65-F5344CB8AC3E}">
        <p14:creationId xmlns:p14="http://schemas.microsoft.com/office/powerpoint/2010/main" val="2812872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E8029-63A2-DBC0-1C32-E8693B2F3476}"/>
            </a:ext>
          </a:extLst>
        </p:cNvPr>
        <p:cNvGrpSpPr/>
        <p:nvPr/>
      </p:nvGrpSpPr>
      <p:grpSpPr>
        <a:xfrm>
          <a:off x="0" y="0"/>
          <a:ext cx="0" cy="0"/>
          <a:chOff x="0" y="0"/>
          <a:chExt cx="0" cy="0"/>
        </a:xfrm>
      </p:grpSpPr>
      <p:sp>
        <p:nvSpPr>
          <p:cNvPr id="22" name="Title 21">
            <a:extLst>
              <a:ext uri="{FF2B5EF4-FFF2-40B4-BE49-F238E27FC236}">
                <a16:creationId xmlns:a16="http://schemas.microsoft.com/office/drawing/2014/main" id="{293D6592-72F5-08CC-EB5A-28AF88CDCBAC}"/>
              </a:ext>
            </a:extLst>
          </p:cNvPr>
          <p:cNvSpPr>
            <a:spLocks noGrp="1"/>
          </p:cNvSpPr>
          <p:nvPr>
            <p:ph type="ctrTitle"/>
          </p:nvPr>
        </p:nvSpPr>
        <p:spPr>
          <a:xfrm>
            <a:off x="262558" y="1772816"/>
            <a:ext cx="10840028" cy="2822575"/>
          </a:xfrm>
        </p:spPr>
        <p:txBody>
          <a:bodyPr/>
          <a:lstStyle/>
          <a:p>
            <a:r>
              <a:rPr lang="en-GB" sz="5400" dirty="0"/>
              <a:t>High prices are not the problem</a:t>
            </a:r>
          </a:p>
        </p:txBody>
      </p:sp>
      <p:grpSp>
        <p:nvGrpSpPr>
          <p:cNvPr id="8" name="Group 7">
            <a:extLst>
              <a:ext uri="{FF2B5EF4-FFF2-40B4-BE49-F238E27FC236}">
                <a16:creationId xmlns:a16="http://schemas.microsoft.com/office/drawing/2014/main" id="{C36EDD97-3670-00C8-0DA5-1E99FBF353AE}"/>
              </a:ext>
            </a:extLst>
          </p:cNvPr>
          <p:cNvGrpSpPr/>
          <p:nvPr/>
        </p:nvGrpSpPr>
        <p:grpSpPr>
          <a:xfrm>
            <a:off x="548640" y="3726180"/>
            <a:ext cx="11064240" cy="2583180"/>
            <a:chOff x="548640" y="3726180"/>
            <a:chExt cx="11064240" cy="2583180"/>
          </a:xfrm>
        </p:grpSpPr>
        <p:grpSp>
          <p:nvGrpSpPr>
            <p:cNvPr id="7" name="Group 6">
              <a:extLst>
                <a:ext uri="{FF2B5EF4-FFF2-40B4-BE49-F238E27FC236}">
                  <a16:creationId xmlns:a16="http://schemas.microsoft.com/office/drawing/2014/main" id="{01A64B2B-6E5C-5BF1-AA6F-53FBCF45C5C7}"/>
                </a:ext>
              </a:extLst>
            </p:cNvPr>
            <p:cNvGrpSpPr/>
            <p:nvPr/>
          </p:nvGrpSpPr>
          <p:grpSpPr>
            <a:xfrm>
              <a:off x="1783080" y="3726180"/>
              <a:ext cx="8503919" cy="1988820"/>
              <a:chOff x="1783080" y="3726180"/>
              <a:chExt cx="8503919" cy="1988820"/>
            </a:xfrm>
          </p:grpSpPr>
          <p:sp>
            <p:nvSpPr>
              <p:cNvPr id="26" name="TextBox 25">
                <a:extLst>
                  <a:ext uri="{FF2B5EF4-FFF2-40B4-BE49-F238E27FC236}">
                    <a16:creationId xmlns:a16="http://schemas.microsoft.com/office/drawing/2014/main" id="{077455B6-17DC-9A14-390E-A52E594F6D0A}"/>
                  </a:ext>
                </a:extLst>
              </p:cNvPr>
              <p:cNvSpPr txBox="1"/>
              <p:nvPr/>
            </p:nvSpPr>
            <p:spPr>
              <a:xfrm>
                <a:off x="1783080" y="5349240"/>
                <a:ext cx="2560320" cy="365760"/>
              </a:xfrm>
              <a:prstGeom prst="rect">
                <a:avLst/>
              </a:prstGeom>
              <a:noFill/>
            </p:spPr>
            <p:txBody>
              <a:bodyPr wrap="square">
                <a:spAutoFit/>
              </a:bodyPr>
              <a:lstStyle/>
              <a:p>
                <a:pPr algn="ctr"/>
                <a:r>
                  <a:rPr sz="2000" b="1">
                    <a:solidFill>
                      <a:srgbClr val="FFFFFF"/>
                    </a:solidFill>
                  </a:rPr>
                  <a:t>Consumers</a:t>
                </a:r>
              </a:p>
            </p:txBody>
          </p:sp>
          <p:grpSp>
            <p:nvGrpSpPr>
              <p:cNvPr id="6" name="Group 5">
                <a:extLst>
                  <a:ext uri="{FF2B5EF4-FFF2-40B4-BE49-F238E27FC236}">
                    <a16:creationId xmlns:a16="http://schemas.microsoft.com/office/drawing/2014/main" id="{1C2ECF8E-912D-E41D-4B5B-DF9177E32DE4}"/>
                  </a:ext>
                </a:extLst>
              </p:cNvPr>
              <p:cNvGrpSpPr/>
              <p:nvPr/>
            </p:nvGrpSpPr>
            <p:grpSpPr>
              <a:xfrm>
                <a:off x="2383703" y="3726180"/>
                <a:ext cx="7903296" cy="1988820"/>
                <a:chOff x="2383703" y="3726180"/>
                <a:chExt cx="7903296" cy="1988820"/>
              </a:xfrm>
            </p:grpSpPr>
            <p:sp>
              <p:nvSpPr>
                <p:cNvPr id="28" name="TextBox 27">
                  <a:extLst>
                    <a:ext uri="{FF2B5EF4-FFF2-40B4-BE49-F238E27FC236}">
                      <a16:creationId xmlns:a16="http://schemas.microsoft.com/office/drawing/2014/main" id="{A2B274A1-1D5C-343C-670E-10276BF03FAC}"/>
                    </a:ext>
                  </a:extLst>
                </p:cNvPr>
                <p:cNvSpPr txBox="1"/>
                <p:nvPr/>
              </p:nvSpPr>
              <p:spPr>
                <a:xfrm>
                  <a:off x="7726679" y="5349240"/>
                  <a:ext cx="2560320" cy="365760"/>
                </a:xfrm>
                <a:prstGeom prst="rect">
                  <a:avLst/>
                </a:prstGeom>
                <a:noFill/>
              </p:spPr>
              <p:txBody>
                <a:bodyPr wrap="square">
                  <a:spAutoFit/>
                </a:bodyPr>
                <a:lstStyle/>
                <a:p>
                  <a:pPr algn="ctr"/>
                  <a:r>
                    <a:rPr sz="2000" b="1">
                      <a:solidFill>
                        <a:srgbClr val="FFFFFF"/>
                      </a:solidFill>
                    </a:rPr>
                    <a:t>Generators</a:t>
                  </a:r>
                </a:p>
              </p:txBody>
            </p:sp>
            <p:grpSp>
              <p:nvGrpSpPr>
                <p:cNvPr id="5" name="Group 4">
                  <a:extLst>
                    <a:ext uri="{FF2B5EF4-FFF2-40B4-BE49-F238E27FC236}">
                      <a16:creationId xmlns:a16="http://schemas.microsoft.com/office/drawing/2014/main" id="{BC7413C5-76E8-0F54-D1F7-B22CD122C934}"/>
                    </a:ext>
                  </a:extLst>
                </p:cNvPr>
                <p:cNvGrpSpPr/>
                <p:nvPr/>
              </p:nvGrpSpPr>
              <p:grpSpPr>
                <a:xfrm>
                  <a:off x="2383703" y="3726180"/>
                  <a:ext cx="7308937" cy="1531620"/>
                  <a:chOff x="2383703" y="3726180"/>
                  <a:chExt cx="7308937" cy="1531620"/>
                </a:xfrm>
              </p:grpSpPr>
              <p:pic>
                <p:nvPicPr>
                  <p:cNvPr id="27" name="Picture 26" descr="scrooge_transparent.png">
                    <a:extLst>
                      <a:ext uri="{FF2B5EF4-FFF2-40B4-BE49-F238E27FC236}">
                        <a16:creationId xmlns:a16="http://schemas.microsoft.com/office/drawing/2014/main" id="{807EA584-9081-C9D5-42C2-5512242577D3}"/>
                      </a:ext>
                    </a:extLst>
                  </p:cNvPr>
                  <p:cNvPicPr>
                    <a:picLocks noChangeAspect="1"/>
                  </p:cNvPicPr>
                  <p:nvPr/>
                </p:nvPicPr>
                <p:blipFill>
                  <a:blip r:embed="rId4"/>
                  <a:stretch>
                    <a:fillRect/>
                  </a:stretch>
                </p:blipFill>
                <p:spPr>
                  <a:xfrm>
                    <a:off x="8321040" y="3886200"/>
                    <a:ext cx="1371600" cy="1371600"/>
                  </a:xfrm>
                  <a:prstGeom prst="rect">
                    <a:avLst/>
                  </a:prstGeom>
                </p:spPr>
              </p:pic>
              <p:grpSp>
                <p:nvGrpSpPr>
                  <p:cNvPr id="4" name="Group 3">
                    <a:extLst>
                      <a:ext uri="{FF2B5EF4-FFF2-40B4-BE49-F238E27FC236}">
                        <a16:creationId xmlns:a16="http://schemas.microsoft.com/office/drawing/2014/main" id="{714ED6FA-525B-ECD9-F123-2E82E4A25BE0}"/>
                      </a:ext>
                    </a:extLst>
                  </p:cNvPr>
                  <p:cNvGrpSpPr/>
                  <p:nvPr/>
                </p:nvGrpSpPr>
                <p:grpSpPr>
                  <a:xfrm>
                    <a:off x="2383703" y="3726180"/>
                    <a:ext cx="5799735" cy="1531620"/>
                    <a:chOff x="2383703" y="3726180"/>
                    <a:chExt cx="5799735" cy="1531620"/>
                  </a:xfrm>
                </p:grpSpPr>
                <p:grpSp>
                  <p:nvGrpSpPr>
                    <p:cNvPr id="3" name="Group 2">
                      <a:extLst>
                        <a:ext uri="{FF2B5EF4-FFF2-40B4-BE49-F238E27FC236}">
                          <a16:creationId xmlns:a16="http://schemas.microsoft.com/office/drawing/2014/main" id="{558D8EEA-587C-9830-360C-3122BABBAEAB}"/>
                        </a:ext>
                      </a:extLst>
                    </p:cNvPr>
                    <p:cNvGrpSpPr/>
                    <p:nvPr/>
                  </p:nvGrpSpPr>
                  <p:grpSpPr>
                    <a:xfrm>
                      <a:off x="2383703" y="3886200"/>
                      <a:ext cx="5617296" cy="1371600"/>
                      <a:chOff x="2383703" y="3886200"/>
                      <a:chExt cx="5617296" cy="1371600"/>
                    </a:xfrm>
                  </p:grpSpPr>
                  <p:grpSp>
                    <p:nvGrpSpPr>
                      <p:cNvPr id="2" name="Group 1">
                        <a:extLst>
                          <a:ext uri="{FF2B5EF4-FFF2-40B4-BE49-F238E27FC236}">
                            <a16:creationId xmlns:a16="http://schemas.microsoft.com/office/drawing/2014/main" id="{612AFB3F-3D41-3B07-BE8A-0B6AC9BF9DB3}"/>
                          </a:ext>
                        </a:extLst>
                      </p:cNvPr>
                      <p:cNvGrpSpPr/>
                      <p:nvPr/>
                    </p:nvGrpSpPr>
                    <p:grpSpPr>
                      <a:xfrm>
                        <a:off x="2383703" y="3886200"/>
                        <a:ext cx="1371600" cy="1371600"/>
                        <a:chOff x="2383703" y="3886200"/>
                        <a:chExt cx="1371600" cy="1371600"/>
                      </a:xfrm>
                    </p:grpSpPr>
                    <p:sp>
                      <p:nvSpPr>
                        <p:cNvPr id="24" name="Oval 23">
                          <a:extLst>
                            <a:ext uri="{FF2B5EF4-FFF2-40B4-BE49-F238E27FC236}">
                              <a16:creationId xmlns:a16="http://schemas.microsoft.com/office/drawing/2014/main" id="{4EB8D8A8-A7B3-7E18-BE0C-8C90B7748614}"/>
                            </a:ext>
                          </a:extLst>
                        </p:cNvPr>
                        <p:cNvSpPr/>
                        <p:nvPr/>
                      </p:nvSpPr>
                      <p:spPr>
                        <a:xfrm>
                          <a:off x="2383703" y="3886200"/>
                          <a:ext cx="1371600" cy="13716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consumer.png">
                          <a:extLst>
                            <a:ext uri="{FF2B5EF4-FFF2-40B4-BE49-F238E27FC236}">
                              <a16:creationId xmlns:a16="http://schemas.microsoft.com/office/drawing/2014/main" id="{A7BCCC90-ADB9-EC79-6E1A-38F323439C7F}"/>
                            </a:ext>
                          </a:extLst>
                        </p:cNvPr>
                        <p:cNvPicPr>
                          <a:picLocks noChangeAspect="1"/>
                        </p:cNvPicPr>
                        <p:nvPr/>
                      </p:nvPicPr>
                      <p:blipFill>
                        <a:blip r:embed="rId5"/>
                        <a:stretch>
                          <a:fillRect/>
                        </a:stretch>
                      </p:blipFill>
                      <p:spPr>
                        <a:xfrm>
                          <a:off x="2674620" y="4183380"/>
                          <a:ext cx="777240" cy="777240"/>
                        </a:xfrm>
                        <a:prstGeom prst="rect">
                          <a:avLst/>
                        </a:prstGeom>
                      </p:spPr>
                    </p:pic>
                  </p:grpSp>
                  <p:sp>
                    <p:nvSpPr>
                      <p:cNvPr id="29" name="Right Arrow 28">
                        <a:extLst>
                          <a:ext uri="{FF2B5EF4-FFF2-40B4-BE49-F238E27FC236}">
                            <a16:creationId xmlns:a16="http://schemas.microsoft.com/office/drawing/2014/main" id="{34653052-85E6-E42F-29E7-462DA9C7BC90}"/>
                          </a:ext>
                        </a:extLst>
                      </p:cNvPr>
                      <p:cNvSpPr/>
                      <p:nvPr/>
                    </p:nvSpPr>
                    <p:spPr>
                      <a:xfrm>
                        <a:off x="4069079" y="4183380"/>
                        <a:ext cx="3931920" cy="777240"/>
                      </a:xfrm>
                      <a:prstGeom prst="rightArrow">
                        <a:avLst>
                          <a:gd name="adj1" fmla="val 55000"/>
                          <a:gd name="adj2" fmla="val 55000"/>
                        </a:avLst>
                      </a:prstGeom>
                      <a:solidFill>
                        <a:srgbClr val="F6D04D"/>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600" b="1">
                            <a:solidFill>
                              <a:srgbClr val="990000"/>
                            </a:solidFill>
                          </a:rPr>
                          <a:t>pay more</a:t>
                        </a:r>
                      </a:p>
                    </p:txBody>
                  </p:sp>
                </p:grpSp>
                <p:sp>
                  <p:nvSpPr>
                    <p:cNvPr id="30" name="TextBox 29">
                      <a:extLst>
                        <a:ext uri="{FF2B5EF4-FFF2-40B4-BE49-F238E27FC236}">
                          <a16:creationId xmlns:a16="http://schemas.microsoft.com/office/drawing/2014/main" id="{22578ED2-46F9-2BCC-2773-C66BCE9C44EE}"/>
                        </a:ext>
                      </a:extLst>
                    </p:cNvPr>
                    <p:cNvSpPr txBox="1"/>
                    <p:nvPr/>
                  </p:nvSpPr>
                  <p:spPr>
                    <a:xfrm>
                      <a:off x="3481650" y="3726180"/>
                      <a:ext cx="4701788" cy="323165"/>
                    </a:xfrm>
                    <a:prstGeom prst="rect">
                      <a:avLst/>
                    </a:prstGeom>
                    <a:noFill/>
                  </p:spPr>
                  <p:txBody>
                    <a:bodyPr wrap="square">
                      <a:spAutoFit/>
                    </a:bodyPr>
                    <a:lstStyle/>
                    <a:p>
                      <a:pPr algn="ctr"/>
                      <a:r>
                        <a:rPr lang="en-US" sz="1500" i="1" dirty="0">
                          <a:solidFill>
                            <a:srgbClr val="FFFFFF"/>
                          </a:solidFill>
                        </a:rPr>
                        <a:t>Consumers pay more </a:t>
                      </a:r>
                      <a:r>
                        <a:rPr sz="1500" i="1" dirty="0">
                          <a:solidFill>
                            <a:srgbClr val="FFFFFF"/>
                          </a:solidFill>
                        </a:rPr>
                        <a:t>=  </a:t>
                      </a:r>
                      <a:r>
                        <a:rPr lang="en-US" sz="1500" i="1" dirty="0">
                          <a:solidFill>
                            <a:srgbClr val="FFFFFF"/>
                          </a:solidFill>
                        </a:rPr>
                        <a:t>generators e</a:t>
                      </a:r>
                      <a:r>
                        <a:rPr sz="1500" i="1" dirty="0">
                          <a:solidFill>
                            <a:srgbClr val="FFFFFF"/>
                          </a:solidFill>
                        </a:rPr>
                        <a:t>arn more</a:t>
                      </a:r>
                    </a:p>
                  </p:txBody>
                </p:sp>
              </p:grpSp>
            </p:grpSp>
          </p:grpSp>
        </p:grpSp>
        <p:sp>
          <p:nvSpPr>
            <p:cNvPr id="31" name="TextBox 30">
              <a:extLst>
                <a:ext uri="{FF2B5EF4-FFF2-40B4-BE49-F238E27FC236}">
                  <a16:creationId xmlns:a16="http://schemas.microsoft.com/office/drawing/2014/main" id="{EE23A73A-D0D9-FD1B-E928-12751633B6DA}"/>
                </a:ext>
              </a:extLst>
            </p:cNvPr>
            <p:cNvSpPr txBox="1"/>
            <p:nvPr/>
          </p:nvSpPr>
          <p:spPr>
            <a:xfrm>
              <a:off x="548640" y="5806440"/>
              <a:ext cx="11064240" cy="502920"/>
            </a:xfrm>
            <a:prstGeom prst="rect">
              <a:avLst/>
            </a:prstGeom>
            <a:noFill/>
          </p:spPr>
          <p:txBody>
            <a:bodyPr wrap="square">
              <a:spAutoFit/>
            </a:bodyPr>
            <a:lstStyle/>
            <a:p>
              <a:pPr algn="ctr"/>
              <a:r>
                <a:rPr sz="2600" b="1" i="1">
                  <a:solidFill>
                    <a:srgbClr val="FFFFFF"/>
                  </a:solidFill>
                </a:rPr>
                <a:t>For society the price does not matter</a:t>
              </a:r>
            </a:p>
          </p:txBody>
        </p:sp>
      </p:grpSp>
      <p:sp>
        <p:nvSpPr>
          <p:cNvPr id="10" name="Oval 9">
            <a:extLst>
              <a:ext uri="{FF2B5EF4-FFF2-40B4-BE49-F238E27FC236}">
                <a16:creationId xmlns:a16="http://schemas.microsoft.com/office/drawing/2014/main" id="{E38FAAA7-308B-F13C-740E-45AC946902FC}"/>
              </a:ext>
            </a:extLst>
          </p:cNvPr>
          <p:cNvSpPr/>
          <p:nvPr/>
        </p:nvSpPr>
        <p:spPr>
          <a:xfrm>
            <a:off x="8291250" y="3909591"/>
            <a:ext cx="1371600" cy="13716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scrooge_transparent.png">
            <a:extLst>
              <a:ext uri="{FF2B5EF4-FFF2-40B4-BE49-F238E27FC236}">
                <a16:creationId xmlns:a16="http://schemas.microsoft.com/office/drawing/2014/main" id="{00C0C59E-15DC-CB06-0381-5C304A27700E}"/>
              </a:ext>
            </a:extLst>
          </p:cNvPr>
          <p:cNvPicPr>
            <a:picLocks noChangeAspect="1"/>
          </p:cNvPicPr>
          <p:nvPr/>
        </p:nvPicPr>
        <p:blipFill>
          <a:blip r:embed="rId4"/>
          <a:stretch>
            <a:fillRect/>
          </a:stretch>
        </p:blipFill>
        <p:spPr>
          <a:xfrm>
            <a:off x="8321040" y="3862809"/>
            <a:ext cx="1371600" cy="1371600"/>
          </a:xfrm>
          <a:prstGeom prst="rect">
            <a:avLst/>
          </a:prstGeom>
        </p:spPr>
      </p:pic>
      <p:sp>
        <p:nvSpPr>
          <p:cNvPr id="11" name="TextBox 10">
            <a:extLst>
              <a:ext uri="{FF2B5EF4-FFF2-40B4-BE49-F238E27FC236}">
                <a16:creationId xmlns:a16="http://schemas.microsoft.com/office/drawing/2014/main" id="{D1B3565F-1099-02B6-904C-37EF086247D0}"/>
              </a:ext>
            </a:extLst>
          </p:cNvPr>
          <p:cNvSpPr txBox="1"/>
          <p:nvPr/>
        </p:nvSpPr>
        <p:spPr>
          <a:xfrm>
            <a:off x="9335566" y="6381328"/>
            <a:ext cx="10009111" cy="266740"/>
          </a:xfrm>
          <a:prstGeom prst="rect">
            <a:avLst/>
          </a:prstGeom>
          <a:noFill/>
        </p:spPr>
        <p:txBody>
          <a:bodyPr wrap="square" lIns="0" tIns="0" rIns="0" bIns="0" rtlCol="0">
            <a:spAutoFit/>
          </a:bodyPr>
          <a:lstStyle/>
          <a:p>
            <a:pPr>
              <a:spcBef>
                <a:spcPts val="432"/>
              </a:spcBef>
            </a:pPr>
            <a:r>
              <a:rPr lang="en-GB" sz="700" dirty="0" err="1">
                <a:solidFill>
                  <a:schemeClr val="tx1">
                    <a:lumMod val="50000"/>
                    <a:lumOff val="50000"/>
                  </a:schemeClr>
                </a:solidFill>
                <a:latin typeface="+mn-lt"/>
              </a:rPr>
              <a:t>Imag</a:t>
            </a:r>
            <a:r>
              <a:rPr lang="en-GB" sz="700" dirty="0">
                <a:solidFill>
                  <a:schemeClr val="tx1">
                    <a:lumMod val="50000"/>
                    <a:lumOff val="50000"/>
                  </a:schemeClr>
                </a:solidFill>
                <a:latin typeface="+mn-lt"/>
              </a:rPr>
              <a:t> from: https://www.lustiges-taschenbuch.de/</a:t>
            </a:r>
            <a:endParaRPr lang="en-DK" sz="700" dirty="0">
              <a:solidFill>
                <a:schemeClr val="tx1">
                  <a:lumMod val="50000"/>
                  <a:lumOff val="50000"/>
                </a:schemeClr>
              </a:solidFill>
              <a:latin typeface="+mn-lt"/>
            </a:endParaRPr>
          </a:p>
          <a:p>
            <a:pPr algn="l">
              <a:spcBef>
                <a:spcPts val="432"/>
              </a:spcBef>
            </a:pPr>
            <a:endParaRPr lang="en-DK" sz="700" dirty="0" err="1">
              <a:solidFill>
                <a:schemeClr val="tx1">
                  <a:lumMod val="50000"/>
                  <a:lumOff val="50000"/>
                </a:schemeClr>
              </a:solidFill>
              <a:latin typeface="+mn-lt"/>
            </a:endParaRPr>
          </a:p>
        </p:txBody>
      </p:sp>
      <p:pic>
        <p:nvPicPr>
          <p:cNvPr id="13" name="Picture 12">
            <a:extLst>
              <a:ext uri="{FF2B5EF4-FFF2-40B4-BE49-F238E27FC236}">
                <a16:creationId xmlns:a16="http://schemas.microsoft.com/office/drawing/2014/main" id="{E26A8D40-8EDC-C542-1C00-1A202617A6B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87694" y="209932"/>
            <a:ext cx="1428750" cy="1428750"/>
          </a:xfrm>
          <a:prstGeom prst="rect">
            <a:avLst/>
          </a:prstGeom>
        </p:spPr>
      </p:pic>
    </p:spTree>
    <p:custDataLst>
      <p:custData r:id="rId1"/>
      <p:custData r:id="rId2"/>
    </p:custDataLst>
    <p:extLst>
      <p:ext uri="{BB962C8B-B14F-4D97-AF65-F5344CB8AC3E}">
        <p14:creationId xmlns:p14="http://schemas.microsoft.com/office/powerpoint/2010/main" val="3548849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6695F-B3AD-0855-20D7-67A6F290F581}"/>
              </a:ext>
            </a:extLst>
          </p:cNvPr>
          <p:cNvSpPr>
            <a:spLocks noGrp="1"/>
          </p:cNvSpPr>
          <p:nvPr>
            <p:ph type="title"/>
          </p:nvPr>
        </p:nvSpPr>
        <p:spPr>
          <a:xfrm>
            <a:off x="1774801" y="-128015"/>
            <a:ext cx="9312374" cy="972716"/>
          </a:xfrm>
        </p:spPr>
        <p:txBody>
          <a:bodyPr/>
          <a:lstStyle/>
          <a:p>
            <a:r>
              <a:rPr lang="en-US" dirty="0"/>
              <a:t>The real problem</a:t>
            </a:r>
          </a:p>
        </p:txBody>
      </p:sp>
      <p:sp>
        <p:nvSpPr>
          <p:cNvPr id="3" name="Content Placeholder 2">
            <a:extLst>
              <a:ext uri="{FF2B5EF4-FFF2-40B4-BE49-F238E27FC236}">
                <a16:creationId xmlns:a16="http://schemas.microsoft.com/office/drawing/2014/main" id="{C1CF5D0C-3592-8004-3AC0-6227C5B3213E}"/>
              </a:ext>
            </a:extLst>
          </p:cNvPr>
          <p:cNvSpPr>
            <a:spLocks noGrp="1"/>
          </p:cNvSpPr>
          <p:nvPr>
            <p:ph idx="1"/>
          </p:nvPr>
        </p:nvSpPr>
        <p:spPr>
          <a:xfrm flipH="1">
            <a:off x="2186338" y="5566710"/>
            <a:ext cx="8109506" cy="630756"/>
          </a:xfrm>
        </p:spPr>
        <p:txBody>
          <a:bodyPr/>
          <a:lstStyle/>
          <a:p>
            <a:pPr marL="0" indent="0">
              <a:buNone/>
            </a:pPr>
            <a:r>
              <a:rPr lang="en-US" dirty="0"/>
              <a:t>We might use fossil fuels although we do not need to!</a:t>
            </a:r>
          </a:p>
        </p:txBody>
      </p:sp>
      <p:sp>
        <p:nvSpPr>
          <p:cNvPr id="4" name="Date Placeholder 3">
            <a:extLst>
              <a:ext uri="{FF2B5EF4-FFF2-40B4-BE49-F238E27FC236}">
                <a16:creationId xmlns:a16="http://schemas.microsoft.com/office/drawing/2014/main" id="{55340E40-901D-0DE7-F5A3-7DABB31D7B1D}"/>
              </a:ext>
            </a:extLst>
          </p:cNvPr>
          <p:cNvSpPr>
            <a:spLocks noGrp="1"/>
          </p:cNvSpPr>
          <p:nvPr>
            <p:ph type="dt" sz="half" idx="10"/>
          </p:nvPr>
        </p:nvSpPr>
        <p:spPr/>
        <p:txBody>
          <a:bodyPr/>
          <a:lstStyle/>
          <a:p>
            <a:fld id="{D2D6505D-A48A-4C10-92D0-3EA20E493778}" type="datetime1">
              <a:rPr lang="da-DK" smtClean="0"/>
              <a:t>03-09-2026</a:t>
            </a:fld>
            <a:endParaRPr lang="en-GB"/>
          </a:p>
        </p:txBody>
      </p:sp>
      <p:sp>
        <p:nvSpPr>
          <p:cNvPr id="5" name="Footer Placeholder 4">
            <a:extLst>
              <a:ext uri="{FF2B5EF4-FFF2-40B4-BE49-F238E27FC236}">
                <a16:creationId xmlns:a16="http://schemas.microsoft.com/office/drawing/2014/main" id="{4AA87F4D-4545-80ED-B592-3F3433CA5DC8}"/>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73A5B2CD-85C8-E682-081F-F0A93FCE2256}"/>
              </a:ext>
            </a:extLst>
          </p:cNvPr>
          <p:cNvSpPr>
            <a:spLocks noGrp="1"/>
          </p:cNvSpPr>
          <p:nvPr>
            <p:ph type="sldNum" sz="quarter" idx="12"/>
          </p:nvPr>
        </p:nvSpPr>
        <p:spPr/>
        <p:txBody>
          <a:bodyPr/>
          <a:lstStyle/>
          <a:p>
            <a:fld id="{103EA872-A674-449B-A120-B97244F8E91D}" type="slidenum">
              <a:rPr lang="da-DK" smtClean="0"/>
              <a:pPr/>
              <a:t>11</a:t>
            </a:fld>
            <a:endParaRPr lang="da-DK" dirty="0"/>
          </a:p>
        </p:txBody>
      </p:sp>
      <p:grpSp>
        <p:nvGrpSpPr>
          <p:cNvPr id="148" name="Group 147">
            <a:extLst>
              <a:ext uri="{FF2B5EF4-FFF2-40B4-BE49-F238E27FC236}">
                <a16:creationId xmlns:a16="http://schemas.microsoft.com/office/drawing/2014/main" id="{20C04462-2887-8A3D-A046-6EB644098719}"/>
              </a:ext>
            </a:extLst>
          </p:cNvPr>
          <p:cNvGrpSpPr/>
          <p:nvPr/>
        </p:nvGrpSpPr>
        <p:grpSpPr>
          <a:xfrm>
            <a:off x="978694" y="2857844"/>
            <a:ext cx="5116511" cy="2502871"/>
            <a:chOff x="803341" y="1288115"/>
            <a:chExt cx="8864442" cy="4336266"/>
          </a:xfrm>
        </p:grpSpPr>
        <p:cxnSp>
          <p:nvCxnSpPr>
            <p:cNvPr id="149" name="Straight Arrow Connector 148">
              <a:extLst>
                <a:ext uri="{FF2B5EF4-FFF2-40B4-BE49-F238E27FC236}">
                  <a16:creationId xmlns:a16="http://schemas.microsoft.com/office/drawing/2014/main" id="{187F72D1-381E-7F6C-B732-C0740B7FD22E}"/>
                </a:ext>
              </a:extLst>
            </p:cNvPr>
            <p:cNvCxnSpPr/>
            <p:nvPr/>
          </p:nvCxnSpPr>
          <p:spPr bwMode="auto">
            <a:xfrm flipV="1">
              <a:off x="2824725" y="1661604"/>
              <a:ext cx="0" cy="360000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0" name="Rectangle 149">
              <a:extLst>
                <a:ext uri="{FF2B5EF4-FFF2-40B4-BE49-F238E27FC236}">
                  <a16:creationId xmlns:a16="http://schemas.microsoft.com/office/drawing/2014/main" id="{22C0EB81-C223-7BF7-CA93-67FD60C2A71D}"/>
                </a:ext>
              </a:extLst>
            </p:cNvPr>
            <p:cNvSpPr/>
            <p:nvPr/>
          </p:nvSpPr>
          <p:spPr bwMode="auto">
            <a:xfrm>
              <a:off x="2854846" y="5085184"/>
              <a:ext cx="1224136" cy="156557"/>
            </a:xfrm>
            <a:prstGeom prst="rect">
              <a:avLst/>
            </a:prstGeom>
            <a:solidFill>
              <a:schemeClr val="accent5">
                <a:lumMod val="40000"/>
                <a:lumOff val="60000"/>
                <a:alpha val="67059"/>
              </a:schemeClr>
            </a:solidFill>
            <a:ln>
              <a:solidFill>
                <a:schemeClr val="accent5"/>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51" name="Rectangle 150">
              <a:extLst>
                <a:ext uri="{FF2B5EF4-FFF2-40B4-BE49-F238E27FC236}">
                  <a16:creationId xmlns:a16="http://schemas.microsoft.com/office/drawing/2014/main" id="{D0A99CAD-7FEB-020B-9CD5-A89B25C9F6D6}"/>
                </a:ext>
              </a:extLst>
            </p:cNvPr>
            <p:cNvSpPr/>
            <p:nvPr/>
          </p:nvSpPr>
          <p:spPr bwMode="auto">
            <a:xfrm>
              <a:off x="4093797" y="4844220"/>
              <a:ext cx="720077" cy="396797"/>
            </a:xfrm>
            <a:prstGeom prst="rect">
              <a:avLst/>
            </a:prstGeom>
            <a:solidFill>
              <a:srgbClr val="B2D5FF"/>
            </a:solidFill>
            <a:ln>
              <a:solidFill>
                <a:srgbClr val="6583CD"/>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52" name="Rectangle 151">
              <a:extLst>
                <a:ext uri="{FF2B5EF4-FFF2-40B4-BE49-F238E27FC236}">
                  <a16:creationId xmlns:a16="http://schemas.microsoft.com/office/drawing/2014/main" id="{0E4491DC-5F52-6439-D07B-0446711E0510}"/>
                </a:ext>
              </a:extLst>
            </p:cNvPr>
            <p:cNvSpPr/>
            <p:nvPr/>
          </p:nvSpPr>
          <p:spPr bwMode="auto">
            <a:xfrm>
              <a:off x="4828689" y="4400648"/>
              <a:ext cx="849281" cy="840369"/>
            </a:xfrm>
            <a:prstGeom prst="rect">
              <a:avLst/>
            </a:prstGeom>
            <a:solidFill>
              <a:schemeClr val="accent3">
                <a:lumMod val="40000"/>
                <a:lumOff val="60000"/>
              </a:schemeClr>
            </a:solidFill>
            <a:ln>
              <a:solidFill>
                <a:schemeClr val="accent3">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53" name="Rectangle 152">
              <a:extLst>
                <a:ext uri="{FF2B5EF4-FFF2-40B4-BE49-F238E27FC236}">
                  <a16:creationId xmlns:a16="http://schemas.microsoft.com/office/drawing/2014/main" id="{C82ED796-FC36-744F-E998-0CF8659A60E8}"/>
                </a:ext>
              </a:extLst>
            </p:cNvPr>
            <p:cNvSpPr/>
            <p:nvPr/>
          </p:nvSpPr>
          <p:spPr bwMode="auto">
            <a:xfrm>
              <a:off x="5703255" y="3927576"/>
              <a:ext cx="468109" cy="1307960"/>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54" name="TextBox 153">
              <a:extLst>
                <a:ext uri="{FF2B5EF4-FFF2-40B4-BE49-F238E27FC236}">
                  <a16:creationId xmlns:a16="http://schemas.microsoft.com/office/drawing/2014/main" id="{9A03D42A-AC15-A0F5-2B66-AFA6FB5230A7}"/>
                </a:ext>
              </a:extLst>
            </p:cNvPr>
            <p:cNvSpPr txBox="1"/>
            <p:nvPr/>
          </p:nvSpPr>
          <p:spPr>
            <a:xfrm>
              <a:off x="8155614" y="5138493"/>
              <a:ext cx="1512169" cy="384806"/>
            </a:xfrm>
            <a:prstGeom prst="rect">
              <a:avLst/>
            </a:prstGeom>
            <a:noFill/>
          </p:spPr>
          <p:txBody>
            <a:bodyPr wrap="square" lIns="0" tIns="0" rIns="0" bIns="0" rtlCol="0">
              <a:spAutoFit/>
            </a:bodyPr>
            <a:lstStyle/>
            <a:p>
              <a:pPr algn="l">
                <a:spcBef>
                  <a:spcPts val="432"/>
                </a:spcBef>
              </a:pPr>
              <a:endParaRPr lang="en-DK" dirty="0">
                <a:latin typeface="+mn-lt"/>
              </a:endParaRPr>
            </a:p>
          </p:txBody>
        </p:sp>
        <p:cxnSp>
          <p:nvCxnSpPr>
            <p:cNvPr id="155" name="Straight Arrow Connector 154">
              <a:extLst>
                <a:ext uri="{FF2B5EF4-FFF2-40B4-BE49-F238E27FC236}">
                  <a16:creationId xmlns:a16="http://schemas.microsoft.com/office/drawing/2014/main" id="{91BA1CC9-13F4-E3BE-CCF5-E34FE251B520}"/>
                </a:ext>
              </a:extLst>
            </p:cNvPr>
            <p:cNvCxnSpPr/>
            <p:nvPr/>
          </p:nvCxnSpPr>
          <p:spPr bwMode="auto">
            <a:xfrm>
              <a:off x="2819326" y="5261604"/>
              <a:ext cx="5220096" cy="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6" name="TextBox 155">
              <a:extLst>
                <a:ext uri="{FF2B5EF4-FFF2-40B4-BE49-F238E27FC236}">
                  <a16:creationId xmlns:a16="http://schemas.microsoft.com/office/drawing/2014/main" id="{A3BEA4AE-BF48-01CF-0586-36FEBEA51F5D}"/>
                </a:ext>
              </a:extLst>
            </p:cNvPr>
            <p:cNvSpPr txBox="1"/>
            <p:nvPr/>
          </p:nvSpPr>
          <p:spPr>
            <a:xfrm>
              <a:off x="2098761" y="1288115"/>
              <a:ext cx="1512169" cy="384806"/>
            </a:xfrm>
            <a:prstGeom prst="rect">
              <a:avLst/>
            </a:prstGeom>
            <a:noFill/>
          </p:spPr>
          <p:txBody>
            <a:bodyPr wrap="square" lIns="0" tIns="0" rIns="0" bIns="0" rtlCol="0">
              <a:spAutoFit/>
            </a:bodyPr>
            <a:lstStyle/>
            <a:p>
              <a:pPr algn="l">
                <a:spcBef>
                  <a:spcPts val="432"/>
                </a:spcBef>
              </a:pPr>
              <a:endParaRPr lang="en-DK" dirty="0">
                <a:latin typeface="+mn-lt"/>
              </a:endParaRPr>
            </a:p>
          </p:txBody>
        </p:sp>
        <p:sp>
          <p:nvSpPr>
            <p:cNvPr id="158" name="TextBox 157">
              <a:extLst>
                <a:ext uri="{FF2B5EF4-FFF2-40B4-BE49-F238E27FC236}">
                  <a16:creationId xmlns:a16="http://schemas.microsoft.com/office/drawing/2014/main" id="{17241399-7DE6-F8EA-4DD6-7555F627FFB4}"/>
                </a:ext>
              </a:extLst>
            </p:cNvPr>
            <p:cNvSpPr txBox="1"/>
            <p:nvPr/>
          </p:nvSpPr>
          <p:spPr>
            <a:xfrm>
              <a:off x="803341" y="4259418"/>
              <a:ext cx="2279531" cy="384806"/>
            </a:xfrm>
            <a:prstGeom prst="rect">
              <a:avLst/>
            </a:prstGeom>
            <a:noFill/>
          </p:spPr>
          <p:txBody>
            <a:bodyPr wrap="square" lIns="0" tIns="0" rIns="0" bIns="0" rtlCol="0">
              <a:spAutoFit/>
            </a:bodyPr>
            <a:lstStyle/>
            <a:p>
              <a:pPr algn="l">
                <a:spcBef>
                  <a:spcPts val="432"/>
                </a:spcBef>
              </a:pPr>
              <a:endParaRPr lang="en-DK" dirty="0">
                <a:latin typeface="+mn-lt"/>
              </a:endParaRPr>
            </a:p>
          </p:txBody>
        </p:sp>
        <p:sp>
          <p:nvSpPr>
            <p:cNvPr id="159" name="TextBox 158">
              <a:extLst>
                <a:ext uri="{FF2B5EF4-FFF2-40B4-BE49-F238E27FC236}">
                  <a16:creationId xmlns:a16="http://schemas.microsoft.com/office/drawing/2014/main" id="{9E39AF5A-2A49-20DC-C07C-143AA670FADD}"/>
                </a:ext>
              </a:extLst>
            </p:cNvPr>
            <p:cNvSpPr txBox="1"/>
            <p:nvPr/>
          </p:nvSpPr>
          <p:spPr>
            <a:xfrm>
              <a:off x="3358902" y="5335776"/>
              <a:ext cx="309224" cy="288605"/>
            </a:xfrm>
            <a:prstGeom prst="rect">
              <a:avLst/>
            </a:prstGeom>
            <a:noFill/>
          </p:spPr>
          <p:txBody>
            <a:bodyPr wrap="square" lIns="0" tIns="0" rIns="0" bIns="0" rtlCol="0">
              <a:spAutoFit/>
            </a:bodyPr>
            <a:lstStyle/>
            <a:p>
              <a:pPr algn="l">
                <a:spcBef>
                  <a:spcPts val="432"/>
                </a:spcBef>
              </a:pPr>
              <a:endParaRPr lang="en-DK" sz="1200" b="1" dirty="0">
                <a:latin typeface="+mn-lt"/>
              </a:endParaRPr>
            </a:p>
          </p:txBody>
        </p:sp>
        <p:sp>
          <p:nvSpPr>
            <p:cNvPr id="160" name="TextBox 159">
              <a:extLst>
                <a:ext uri="{FF2B5EF4-FFF2-40B4-BE49-F238E27FC236}">
                  <a16:creationId xmlns:a16="http://schemas.microsoft.com/office/drawing/2014/main" id="{4E449042-32A5-2237-2443-23D2B70C3D4F}"/>
                </a:ext>
              </a:extLst>
            </p:cNvPr>
            <p:cNvSpPr txBox="1"/>
            <p:nvPr/>
          </p:nvSpPr>
          <p:spPr>
            <a:xfrm>
              <a:off x="4299223" y="5335776"/>
              <a:ext cx="309224" cy="288605"/>
            </a:xfrm>
            <a:prstGeom prst="rect">
              <a:avLst/>
            </a:prstGeom>
            <a:noFill/>
          </p:spPr>
          <p:txBody>
            <a:bodyPr wrap="square" lIns="0" tIns="0" rIns="0" bIns="0" rtlCol="0">
              <a:spAutoFit/>
            </a:bodyPr>
            <a:lstStyle/>
            <a:p>
              <a:pPr algn="l">
                <a:spcBef>
                  <a:spcPts val="432"/>
                </a:spcBef>
              </a:pPr>
              <a:endParaRPr lang="en-DK" sz="1200" b="1" dirty="0">
                <a:latin typeface="+mn-lt"/>
              </a:endParaRPr>
            </a:p>
          </p:txBody>
        </p:sp>
        <p:sp>
          <p:nvSpPr>
            <p:cNvPr id="161" name="TextBox 160">
              <a:extLst>
                <a:ext uri="{FF2B5EF4-FFF2-40B4-BE49-F238E27FC236}">
                  <a16:creationId xmlns:a16="http://schemas.microsoft.com/office/drawing/2014/main" id="{5666B646-EC04-A5B4-BBA9-74C34819C534}"/>
                </a:ext>
              </a:extLst>
            </p:cNvPr>
            <p:cNvSpPr txBox="1"/>
            <p:nvPr/>
          </p:nvSpPr>
          <p:spPr>
            <a:xfrm>
              <a:off x="5131505" y="5332002"/>
              <a:ext cx="309224" cy="288605"/>
            </a:xfrm>
            <a:prstGeom prst="rect">
              <a:avLst/>
            </a:prstGeom>
            <a:noFill/>
          </p:spPr>
          <p:txBody>
            <a:bodyPr wrap="square" lIns="0" tIns="0" rIns="0" bIns="0" rtlCol="0">
              <a:spAutoFit/>
            </a:bodyPr>
            <a:lstStyle/>
            <a:p>
              <a:pPr algn="l">
                <a:spcBef>
                  <a:spcPts val="432"/>
                </a:spcBef>
              </a:pPr>
              <a:endParaRPr lang="en-DK" sz="1200" b="1" dirty="0">
                <a:latin typeface="+mn-lt"/>
              </a:endParaRPr>
            </a:p>
          </p:txBody>
        </p:sp>
        <p:sp>
          <p:nvSpPr>
            <p:cNvPr id="162" name="TextBox 161">
              <a:extLst>
                <a:ext uri="{FF2B5EF4-FFF2-40B4-BE49-F238E27FC236}">
                  <a16:creationId xmlns:a16="http://schemas.microsoft.com/office/drawing/2014/main" id="{98CC4C69-438D-3A4F-79B3-DB06EBE22750}"/>
                </a:ext>
              </a:extLst>
            </p:cNvPr>
            <p:cNvSpPr txBox="1"/>
            <p:nvPr/>
          </p:nvSpPr>
          <p:spPr>
            <a:xfrm>
              <a:off x="5818521" y="5332002"/>
              <a:ext cx="309224" cy="288605"/>
            </a:xfrm>
            <a:prstGeom prst="rect">
              <a:avLst/>
            </a:prstGeom>
            <a:noFill/>
          </p:spPr>
          <p:txBody>
            <a:bodyPr wrap="square" lIns="0" tIns="0" rIns="0" bIns="0" rtlCol="0">
              <a:spAutoFit/>
            </a:bodyPr>
            <a:lstStyle/>
            <a:p>
              <a:pPr algn="l">
                <a:spcBef>
                  <a:spcPts val="432"/>
                </a:spcBef>
              </a:pPr>
              <a:endParaRPr lang="en-DK" sz="1200" b="1" dirty="0">
                <a:latin typeface="+mn-lt"/>
              </a:endParaRPr>
            </a:p>
          </p:txBody>
        </p:sp>
        <p:sp>
          <p:nvSpPr>
            <p:cNvPr id="163" name="TextBox 162">
              <a:extLst>
                <a:ext uri="{FF2B5EF4-FFF2-40B4-BE49-F238E27FC236}">
                  <a16:creationId xmlns:a16="http://schemas.microsoft.com/office/drawing/2014/main" id="{E08C2D43-27EB-5C59-AE30-6C526232E2FB}"/>
                </a:ext>
              </a:extLst>
            </p:cNvPr>
            <p:cNvSpPr txBox="1"/>
            <p:nvPr/>
          </p:nvSpPr>
          <p:spPr>
            <a:xfrm>
              <a:off x="6313005" y="5329143"/>
              <a:ext cx="309224" cy="288605"/>
            </a:xfrm>
            <a:prstGeom prst="rect">
              <a:avLst/>
            </a:prstGeom>
            <a:noFill/>
          </p:spPr>
          <p:txBody>
            <a:bodyPr wrap="square" lIns="0" tIns="0" rIns="0" bIns="0" rtlCol="0">
              <a:spAutoFit/>
            </a:bodyPr>
            <a:lstStyle/>
            <a:p>
              <a:pPr algn="l">
                <a:spcBef>
                  <a:spcPts val="432"/>
                </a:spcBef>
              </a:pPr>
              <a:endParaRPr lang="en-DK" sz="1200" b="1" dirty="0">
                <a:latin typeface="+mn-lt"/>
              </a:endParaRPr>
            </a:p>
          </p:txBody>
        </p:sp>
        <p:sp>
          <p:nvSpPr>
            <p:cNvPr id="164" name="Rectangle 163">
              <a:extLst>
                <a:ext uri="{FF2B5EF4-FFF2-40B4-BE49-F238E27FC236}">
                  <a16:creationId xmlns:a16="http://schemas.microsoft.com/office/drawing/2014/main" id="{BF180D11-968C-B73D-F009-B7C1AB948970}"/>
                </a:ext>
              </a:extLst>
            </p:cNvPr>
            <p:cNvSpPr/>
            <p:nvPr/>
          </p:nvSpPr>
          <p:spPr bwMode="auto">
            <a:xfrm>
              <a:off x="5519142" y="4400648"/>
              <a:ext cx="158828" cy="834888"/>
            </a:xfrm>
            <a:prstGeom prst="rect">
              <a:avLst/>
            </a:prstGeom>
            <a:solidFill>
              <a:schemeClr val="bg1">
                <a:lumMod val="85000"/>
              </a:schemeClr>
            </a:solidFill>
            <a:ln w="28575" cap="flat" cmpd="sng" algn="ctr">
              <a:solidFill>
                <a:schemeClr val="bg1">
                  <a:lumMod val="50000"/>
                </a:schemeClr>
              </a:solid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165" name="Straight Connector 164">
              <a:extLst>
                <a:ext uri="{FF2B5EF4-FFF2-40B4-BE49-F238E27FC236}">
                  <a16:creationId xmlns:a16="http://schemas.microsoft.com/office/drawing/2014/main" id="{AC89CDAE-4801-2F6F-981F-48D2A9339C76}"/>
                </a:ext>
              </a:extLst>
            </p:cNvPr>
            <p:cNvCxnSpPr>
              <a:cxnSpLocks/>
            </p:cNvCxnSpPr>
            <p:nvPr/>
          </p:nvCxnSpPr>
          <p:spPr bwMode="auto">
            <a:xfrm>
              <a:off x="5519142" y="2132856"/>
              <a:ext cx="0" cy="3128748"/>
            </a:xfrm>
            <a:prstGeom prst="line">
              <a:avLst/>
            </a:prstGeom>
            <a:ln w="3810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66" name="TextBox 165">
              <a:extLst>
                <a:ext uri="{FF2B5EF4-FFF2-40B4-BE49-F238E27FC236}">
                  <a16:creationId xmlns:a16="http://schemas.microsoft.com/office/drawing/2014/main" id="{E29A056B-4CD8-E920-B08F-73A7D5CC24F1}"/>
                </a:ext>
              </a:extLst>
            </p:cNvPr>
            <p:cNvSpPr txBox="1"/>
            <p:nvPr/>
          </p:nvSpPr>
          <p:spPr>
            <a:xfrm>
              <a:off x="5131505" y="1798455"/>
              <a:ext cx="1152127" cy="384806"/>
            </a:xfrm>
            <a:prstGeom prst="rect">
              <a:avLst/>
            </a:prstGeom>
            <a:noFill/>
          </p:spPr>
          <p:txBody>
            <a:bodyPr wrap="square" lIns="0" tIns="0" rIns="0" bIns="0" rtlCol="0">
              <a:spAutoFit/>
            </a:bodyPr>
            <a:lstStyle/>
            <a:p>
              <a:pPr algn="l">
                <a:spcBef>
                  <a:spcPts val="432"/>
                </a:spcBef>
              </a:pPr>
              <a:endParaRPr lang="en-DK" dirty="0">
                <a:latin typeface="+mn-lt"/>
              </a:endParaRPr>
            </a:p>
          </p:txBody>
        </p:sp>
        <p:sp>
          <p:nvSpPr>
            <p:cNvPr id="167" name="Rectangle 166">
              <a:extLst>
                <a:ext uri="{FF2B5EF4-FFF2-40B4-BE49-F238E27FC236}">
                  <a16:creationId xmlns:a16="http://schemas.microsoft.com/office/drawing/2014/main" id="{AD4628AB-F1B8-2BD6-07B0-6DCAB11DBBA0}"/>
                </a:ext>
              </a:extLst>
            </p:cNvPr>
            <p:cNvSpPr/>
            <p:nvPr/>
          </p:nvSpPr>
          <p:spPr bwMode="auto">
            <a:xfrm>
              <a:off x="6187517" y="2996954"/>
              <a:ext cx="468109" cy="2245628"/>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grpSp>
      <p:grpSp>
        <p:nvGrpSpPr>
          <p:cNvPr id="168" name="Group 167">
            <a:extLst>
              <a:ext uri="{FF2B5EF4-FFF2-40B4-BE49-F238E27FC236}">
                <a16:creationId xmlns:a16="http://schemas.microsoft.com/office/drawing/2014/main" id="{3D81DD51-63BC-F76E-10A6-FF7AEF0DACE1}"/>
              </a:ext>
            </a:extLst>
          </p:cNvPr>
          <p:cNvGrpSpPr/>
          <p:nvPr/>
        </p:nvGrpSpPr>
        <p:grpSpPr>
          <a:xfrm>
            <a:off x="6881572" y="3140562"/>
            <a:ext cx="2915656" cy="2010760"/>
            <a:chOff x="2819326" y="1661604"/>
            <a:chExt cx="5220096" cy="3600000"/>
          </a:xfrm>
        </p:grpSpPr>
        <p:cxnSp>
          <p:nvCxnSpPr>
            <p:cNvPr id="169" name="Straight Arrow Connector 168">
              <a:extLst>
                <a:ext uri="{FF2B5EF4-FFF2-40B4-BE49-F238E27FC236}">
                  <a16:creationId xmlns:a16="http://schemas.microsoft.com/office/drawing/2014/main" id="{F7BEC4C8-5603-F83E-02D3-6FD41FDD8545}"/>
                </a:ext>
              </a:extLst>
            </p:cNvPr>
            <p:cNvCxnSpPr/>
            <p:nvPr/>
          </p:nvCxnSpPr>
          <p:spPr bwMode="auto">
            <a:xfrm flipV="1">
              <a:off x="2824725" y="1661604"/>
              <a:ext cx="0" cy="360000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0" name="Rectangle 169">
              <a:extLst>
                <a:ext uri="{FF2B5EF4-FFF2-40B4-BE49-F238E27FC236}">
                  <a16:creationId xmlns:a16="http://schemas.microsoft.com/office/drawing/2014/main" id="{FBC28115-B883-43D6-EFBC-919F2076F486}"/>
                </a:ext>
              </a:extLst>
            </p:cNvPr>
            <p:cNvSpPr/>
            <p:nvPr/>
          </p:nvSpPr>
          <p:spPr bwMode="auto">
            <a:xfrm>
              <a:off x="2854846" y="5085184"/>
              <a:ext cx="1224136" cy="156557"/>
            </a:xfrm>
            <a:prstGeom prst="rect">
              <a:avLst/>
            </a:prstGeom>
            <a:solidFill>
              <a:schemeClr val="accent5">
                <a:lumMod val="40000"/>
                <a:lumOff val="60000"/>
                <a:alpha val="67059"/>
              </a:schemeClr>
            </a:solidFill>
            <a:ln>
              <a:solidFill>
                <a:schemeClr val="accent5"/>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71" name="Rectangle 170">
              <a:extLst>
                <a:ext uri="{FF2B5EF4-FFF2-40B4-BE49-F238E27FC236}">
                  <a16:creationId xmlns:a16="http://schemas.microsoft.com/office/drawing/2014/main" id="{ED41F9CC-B81F-6FA1-4E6E-D7DEEAAB9463}"/>
                </a:ext>
              </a:extLst>
            </p:cNvPr>
            <p:cNvSpPr/>
            <p:nvPr/>
          </p:nvSpPr>
          <p:spPr bwMode="auto">
            <a:xfrm>
              <a:off x="4093797" y="4844220"/>
              <a:ext cx="720077" cy="396797"/>
            </a:xfrm>
            <a:prstGeom prst="rect">
              <a:avLst/>
            </a:prstGeom>
            <a:solidFill>
              <a:srgbClr val="B2D5FF"/>
            </a:solidFill>
            <a:ln>
              <a:solidFill>
                <a:srgbClr val="6583CD"/>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72" name="Rectangle 171">
              <a:extLst>
                <a:ext uri="{FF2B5EF4-FFF2-40B4-BE49-F238E27FC236}">
                  <a16:creationId xmlns:a16="http://schemas.microsoft.com/office/drawing/2014/main" id="{238D96DB-020C-1C06-9170-F85C44B0B0AA}"/>
                </a:ext>
              </a:extLst>
            </p:cNvPr>
            <p:cNvSpPr/>
            <p:nvPr/>
          </p:nvSpPr>
          <p:spPr bwMode="auto">
            <a:xfrm>
              <a:off x="4835009" y="3927576"/>
              <a:ext cx="468109" cy="1307960"/>
            </a:xfrm>
            <a:prstGeom prst="rect">
              <a:avLst/>
            </a:prstGeom>
            <a:solidFill>
              <a:schemeClr val="tx2">
                <a:lumMod val="40000"/>
                <a:lumOff val="60000"/>
              </a:schemeClr>
            </a:solidFill>
            <a:ln>
              <a:solidFill>
                <a:schemeClr val="accent6">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173" name="Straight Arrow Connector 172">
              <a:extLst>
                <a:ext uri="{FF2B5EF4-FFF2-40B4-BE49-F238E27FC236}">
                  <a16:creationId xmlns:a16="http://schemas.microsoft.com/office/drawing/2014/main" id="{93492B33-F436-A8D8-8799-584BD0E47839}"/>
                </a:ext>
              </a:extLst>
            </p:cNvPr>
            <p:cNvCxnSpPr/>
            <p:nvPr/>
          </p:nvCxnSpPr>
          <p:spPr bwMode="auto">
            <a:xfrm>
              <a:off x="2819326" y="5261604"/>
              <a:ext cx="5220096" cy="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 name="Rectangle 173">
              <a:extLst>
                <a:ext uri="{FF2B5EF4-FFF2-40B4-BE49-F238E27FC236}">
                  <a16:creationId xmlns:a16="http://schemas.microsoft.com/office/drawing/2014/main" id="{83C9084E-363A-E20F-2472-CA60CB4DEB27}"/>
                </a:ext>
              </a:extLst>
            </p:cNvPr>
            <p:cNvSpPr/>
            <p:nvPr/>
          </p:nvSpPr>
          <p:spPr bwMode="auto">
            <a:xfrm>
              <a:off x="5317933" y="3580462"/>
              <a:ext cx="849281" cy="1653390"/>
            </a:xfrm>
            <a:prstGeom prst="rect">
              <a:avLst/>
            </a:prstGeom>
            <a:solidFill>
              <a:schemeClr val="accent3">
                <a:lumMod val="40000"/>
                <a:lumOff val="60000"/>
              </a:schemeClr>
            </a:solidFill>
            <a:ln>
              <a:solidFill>
                <a:schemeClr val="accent3">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175" name="Straight Connector 174">
              <a:extLst>
                <a:ext uri="{FF2B5EF4-FFF2-40B4-BE49-F238E27FC236}">
                  <a16:creationId xmlns:a16="http://schemas.microsoft.com/office/drawing/2014/main" id="{A54CDCDE-E876-1E1C-E0D2-5823E442176E}"/>
                </a:ext>
              </a:extLst>
            </p:cNvPr>
            <p:cNvCxnSpPr>
              <a:cxnSpLocks/>
            </p:cNvCxnSpPr>
            <p:nvPr/>
          </p:nvCxnSpPr>
          <p:spPr bwMode="auto">
            <a:xfrm>
              <a:off x="5519142" y="2132856"/>
              <a:ext cx="0" cy="3128748"/>
            </a:xfrm>
            <a:prstGeom prst="line">
              <a:avLst/>
            </a:prstGeom>
            <a:ln w="3810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77" name="TextBox 176">
              <a:extLst>
                <a:ext uri="{FF2B5EF4-FFF2-40B4-BE49-F238E27FC236}">
                  <a16:creationId xmlns:a16="http://schemas.microsoft.com/office/drawing/2014/main" id="{30A2FF95-AB34-6D43-5A39-043C774F4662}"/>
                </a:ext>
              </a:extLst>
            </p:cNvPr>
            <p:cNvSpPr txBox="1"/>
            <p:nvPr/>
          </p:nvSpPr>
          <p:spPr>
            <a:xfrm>
              <a:off x="5131505" y="1798454"/>
              <a:ext cx="1152128" cy="440826"/>
            </a:xfrm>
            <a:prstGeom prst="rect">
              <a:avLst/>
            </a:prstGeom>
            <a:noFill/>
          </p:spPr>
          <p:txBody>
            <a:bodyPr wrap="square" lIns="0" tIns="0" rIns="0" bIns="0" rtlCol="0">
              <a:spAutoFit/>
            </a:bodyPr>
            <a:lstStyle/>
            <a:p>
              <a:pPr algn="l">
                <a:spcBef>
                  <a:spcPts val="432"/>
                </a:spcBef>
              </a:pPr>
              <a:endParaRPr lang="en-DK" dirty="0">
                <a:latin typeface="+mn-lt"/>
              </a:endParaRPr>
            </a:p>
          </p:txBody>
        </p:sp>
        <p:cxnSp>
          <p:nvCxnSpPr>
            <p:cNvPr id="178" name="Straight Connector 177">
              <a:extLst>
                <a:ext uri="{FF2B5EF4-FFF2-40B4-BE49-F238E27FC236}">
                  <a16:creationId xmlns:a16="http://schemas.microsoft.com/office/drawing/2014/main" id="{8E2AD3C3-9E7F-804E-02F8-8B0D922EB9F5}"/>
                </a:ext>
              </a:extLst>
            </p:cNvPr>
            <p:cNvCxnSpPr/>
            <p:nvPr/>
          </p:nvCxnSpPr>
          <p:spPr bwMode="auto">
            <a:xfrm>
              <a:off x="5317933" y="4400648"/>
              <a:ext cx="849281" cy="0"/>
            </a:xfrm>
            <a:prstGeom prst="line">
              <a:avLst/>
            </a:prstGeom>
            <a:solidFill>
              <a:schemeClr val="accent1"/>
            </a:solidFill>
            <a:ln w="28575" cap="flat" cmpd="sng" algn="ctr">
              <a:solidFill>
                <a:schemeClr val="accent3">
                  <a:lumMod val="75000"/>
                </a:schemeClr>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9" name="Rectangle 178">
              <a:extLst>
                <a:ext uri="{FF2B5EF4-FFF2-40B4-BE49-F238E27FC236}">
                  <a16:creationId xmlns:a16="http://schemas.microsoft.com/office/drawing/2014/main" id="{0209504C-DDAC-AD70-88CE-BD739CA2BBCD}"/>
                </a:ext>
              </a:extLst>
            </p:cNvPr>
            <p:cNvSpPr/>
            <p:nvPr/>
          </p:nvSpPr>
          <p:spPr bwMode="auto">
            <a:xfrm>
              <a:off x="6187517" y="2996954"/>
              <a:ext cx="468109" cy="2245628"/>
            </a:xfrm>
            <a:prstGeom prst="rect">
              <a:avLst/>
            </a:prstGeom>
            <a:solidFill>
              <a:schemeClr val="tx1">
                <a:lumMod val="65000"/>
                <a:lumOff val="35000"/>
              </a:schemeClr>
            </a:solidFill>
            <a:ln>
              <a:solidFill>
                <a:schemeClr val="tx1">
                  <a:lumMod val="85000"/>
                  <a:lumOff val="1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80" name="Rectangle 179">
              <a:extLst>
                <a:ext uri="{FF2B5EF4-FFF2-40B4-BE49-F238E27FC236}">
                  <a16:creationId xmlns:a16="http://schemas.microsoft.com/office/drawing/2014/main" id="{6DB6E78E-8EF4-14E1-936A-9B3E5617F94A}"/>
                </a:ext>
              </a:extLst>
            </p:cNvPr>
            <p:cNvSpPr/>
            <p:nvPr/>
          </p:nvSpPr>
          <p:spPr bwMode="auto">
            <a:xfrm>
              <a:off x="6187517" y="2983135"/>
              <a:ext cx="468109" cy="2245628"/>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grpSp>
      <p:sp>
        <p:nvSpPr>
          <p:cNvPr id="185" name="Oval 184">
            <a:extLst>
              <a:ext uri="{FF2B5EF4-FFF2-40B4-BE49-F238E27FC236}">
                <a16:creationId xmlns:a16="http://schemas.microsoft.com/office/drawing/2014/main" id="{25B99A15-8458-7504-AFBF-1FEE71212058}"/>
              </a:ext>
            </a:extLst>
          </p:cNvPr>
          <p:cNvSpPr/>
          <p:nvPr/>
        </p:nvSpPr>
        <p:spPr>
          <a:xfrm>
            <a:off x="2546823" y="1239039"/>
            <a:ext cx="827890" cy="827890"/>
          </a:xfrm>
          <a:prstGeom prst="ellipse">
            <a:avLst/>
          </a:prstGeom>
          <a:solidFill>
            <a:schemeClr val="tx1">
              <a:lumMod val="65000"/>
              <a:lumOff val="35000"/>
            </a:schemeClr>
          </a:solidFill>
          <a:ln>
            <a:solidFill>
              <a:schemeClr val="tx1">
                <a:lumMod val="85000"/>
                <a:lumOff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7" name="Picture 186" descr="coal.png">
            <a:extLst>
              <a:ext uri="{FF2B5EF4-FFF2-40B4-BE49-F238E27FC236}">
                <a16:creationId xmlns:a16="http://schemas.microsoft.com/office/drawing/2014/main" id="{870D6847-62B1-6752-3456-3B58541B02E4}"/>
              </a:ext>
            </a:extLst>
          </p:cNvPr>
          <p:cNvPicPr>
            <a:picLocks noChangeAspect="1"/>
          </p:cNvPicPr>
          <p:nvPr/>
        </p:nvPicPr>
        <p:blipFill>
          <a:blip r:embed="rId2"/>
          <a:stretch>
            <a:fillRect/>
          </a:stretch>
        </p:blipFill>
        <p:spPr>
          <a:xfrm>
            <a:off x="2735582" y="1427798"/>
            <a:ext cx="450372" cy="450372"/>
          </a:xfrm>
          <a:prstGeom prst="rect">
            <a:avLst/>
          </a:prstGeom>
        </p:spPr>
      </p:pic>
      <p:sp>
        <p:nvSpPr>
          <p:cNvPr id="189" name="Rounded Rectangle 6">
            <a:extLst>
              <a:ext uri="{FF2B5EF4-FFF2-40B4-BE49-F238E27FC236}">
                <a16:creationId xmlns:a16="http://schemas.microsoft.com/office/drawing/2014/main" id="{1C6D535F-7A6B-E0B6-C1D3-5C58EBDAF307}"/>
              </a:ext>
            </a:extLst>
          </p:cNvPr>
          <p:cNvSpPr/>
          <p:nvPr/>
        </p:nvSpPr>
        <p:spPr>
          <a:xfrm>
            <a:off x="2369050" y="2199391"/>
            <a:ext cx="1183436" cy="629196"/>
          </a:xfrm>
          <a:prstGeom prst="roundRect">
            <a:avLst>
              <a:gd name="adj" fmla="val 12000"/>
            </a:avLst>
          </a:prstGeom>
          <a:solidFill>
            <a:srgbClr val="F2F2F2"/>
          </a:solidFill>
          <a:ln w="15875">
            <a:solidFill>
              <a:srgbClr val="171748"/>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lang="en-US" sz="1400" dirty="0">
                <a:solidFill>
                  <a:srgbClr val="1A1A1A"/>
                </a:solidFill>
              </a:rPr>
              <a:t>30</a:t>
            </a:r>
            <a:r>
              <a:rPr sz="1400" b="0" dirty="0">
                <a:solidFill>
                  <a:srgbClr val="1A1A1A"/>
                </a:solidFill>
              </a:rPr>
              <a:t> MWh at </a:t>
            </a:r>
            <a:r>
              <a:rPr lang="en-US" sz="1400" b="0" dirty="0">
                <a:solidFill>
                  <a:srgbClr val="1A1A1A"/>
                </a:solidFill>
              </a:rPr>
              <a:t>55</a:t>
            </a:r>
            <a:r>
              <a:rPr sz="1400" b="0" dirty="0">
                <a:solidFill>
                  <a:srgbClr val="1A1A1A"/>
                </a:solidFill>
              </a:rPr>
              <a:t>$/</a:t>
            </a:r>
            <a:r>
              <a:rPr lang="en-US" sz="1400" b="0" dirty="0">
                <a:solidFill>
                  <a:srgbClr val="1A1A1A"/>
                </a:solidFill>
              </a:rPr>
              <a:t>MWh</a:t>
            </a:r>
            <a:endParaRPr sz="1400" b="0" dirty="0">
              <a:solidFill>
                <a:srgbClr val="1A1A1A"/>
              </a:solidFill>
            </a:endParaRPr>
          </a:p>
        </p:txBody>
      </p:sp>
      <p:sp>
        <p:nvSpPr>
          <p:cNvPr id="193" name="Oval 192">
            <a:extLst>
              <a:ext uri="{FF2B5EF4-FFF2-40B4-BE49-F238E27FC236}">
                <a16:creationId xmlns:a16="http://schemas.microsoft.com/office/drawing/2014/main" id="{F440E8B0-9CB1-58AA-A5D4-35016C919267}"/>
              </a:ext>
            </a:extLst>
          </p:cNvPr>
          <p:cNvSpPr/>
          <p:nvPr/>
        </p:nvSpPr>
        <p:spPr>
          <a:xfrm>
            <a:off x="3895838" y="1239039"/>
            <a:ext cx="827890" cy="827890"/>
          </a:xfrm>
          <a:prstGeom prst="ellipse">
            <a:avLst/>
          </a:prstGeom>
          <a:solidFill>
            <a:schemeClr val="accent1">
              <a:lumMod val="40000"/>
              <a:lumOff val="60000"/>
            </a:schemeClr>
          </a:solidFill>
          <a:ln>
            <a:solidFill>
              <a:schemeClr val="accent6">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5" name="Picture 194" descr="gas.png">
            <a:extLst>
              <a:ext uri="{FF2B5EF4-FFF2-40B4-BE49-F238E27FC236}">
                <a16:creationId xmlns:a16="http://schemas.microsoft.com/office/drawing/2014/main" id="{5E991683-6E3A-C05D-10CB-30C2A7C15DE2}"/>
              </a:ext>
            </a:extLst>
          </p:cNvPr>
          <p:cNvPicPr>
            <a:picLocks noChangeAspect="1"/>
          </p:cNvPicPr>
          <p:nvPr/>
        </p:nvPicPr>
        <p:blipFill>
          <a:blip r:embed="rId3"/>
          <a:stretch>
            <a:fillRect/>
          </a:stretch>
        </p:blipFill>
        <p:spPr>
          <a:xfrm>
            <a:off x="4084596" y="1427798"/>
            <a:ext cx="450372" cy="450372"/>
          </a:xfrm>
          <a:prstGeom prst="rect">
            <a:avLst/>
          </a:prstGeom>
        </p:spPr>
      </p:pic>
      <p:sp>
        <p:nvSpPr>
          <p:cNvPr id="197" name="Rounded Rectangle 10">
            <a:extLst>
              <a:ext uri="{FF2B5EF4-FFF2-40B4-BE49-F238E27FC236}">
                <a16:creationId xmlns:a16="http://schemas.microsoft.com/office/drawing/2014/main" id="{37974C93-EA1E-E6E3-FBD6-0CB667B200AE}"/>
              </a:ext>
            </a:extLst>
          </p:cNvPr>
          <p:cNvSpPr/>
          <p:nvPr/>
        </p:nvSpPr>
        <p:spPr>
          <a:xfrm>
            <a:off x="3718064" y="2199391"/>
            <a:ext cx="1183436" cy="629196"/>
          </a:xfrm>
          <a:prstGeom prst="roundRect">
            <a:avLst>
              <a:gd name="adj" fmla="val 12000"/>
            </a:avLst>
          </a:prstGeom>
          <a:solidFill>
            <a:srgbClr val="F2F2F2"/>
          </a:solidFill>
          <a:ln w="15875">
            <a:solidFill>
              <a:schemeClr val="accent6">
                <a:lumMod val="75000"/>
              </a:schemeClr>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lang="en-US" sz="1400" dirty="0">
                <a:solidFill>
                  <a:srgbClr val="1A1A1A"/>
                </a:solidFill>
              </a:rPr>
              <a:t>30</a:t>
            </a:r>
            <a:r>
              <a:rPr sz="1400" b="0" dirty="0">
                <a:solidFill>
                  <a:srgbClr val="1A1A1A"/>
                </a:solidFill>
              </a:rPr>
              <a:t> MWh at </a:t>
            </a:r>
            <a:r>
              <a:rPr lang="en-US" sz="1400" b="0" dirty="0">
                <a:solidFill>
                  <a:srgbClr val="1A1A1A"/>
                </a:solidFill>
              </a:rPr>
              <a:t>40</a:t>
            </a:r>
            <a:r>
              <a:rPr sz="1400" b="0" dirty="0">
                <a:solidFill>
                  <a:srgbClr val="1A1A1A"/>
                </a:solidFill>
              </a:rPr>
              <a:t>$/</a:t>
            </a:r>
            <a:r>
              <a:rPr lang="en-US" sz="1400" b="0" dirty="0">
                <a:solidFill>
                  <a:srgbClr val="1A1A1A"/>
                </a:solidFill>
              </a:rPr>
              <a:t>MWh</a:t>
            </a:r>
            <a:endParaRPr sz="1400" b="0" dirty="0">
              <a:solidFill>
                <a:srgbClr val="1A1A1A"/>
              </a:solidFill>
            </a:endParaRPr>
          </a:p>
        </p:txBody>
      </p:sp>
      <p:sp>
        <p:nvSpPr>
          <p:cNvPr id="201" name="Oval 200">
            <a:extLst>
              <a:ext uri="{FF2B5EF4-FFF2-40B4-BE49-F238E27FC236}">
                <a16:creationId xmlns:a16="http://schemas.microsoft.com/office/drawing/2014/main" id="{61E4B638-0C00-E691-28A7-AD9EFA2AB43C}"/>
              </a:ext>
            </a:extLst>
          </p:cNvPr>
          <p:cNvSpPr/>
          <p:nvPr/>
        </p:nvSpPr>
        <p:spPr>
          <a:xfrm>
            <a:off x="5244851" y="1239039"/>
            <a:ext cx="827890" cy="827890"/>
          </a:xfrm>
          <a:prstGeom prst="ellipse">
            <a:avLst/>
          </a:prstGeom>
          <a:solidFill>
            <a:srgbClr val="B2D5FF"/>
          </a:solid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3" name="Picture 202" descr="wind.png">
            <a:extLst>
              <a:ext uri="{FF2B5EF4-FFF2-40B4-BE49-F238E27FC236}">
                <a16:creationId xmlns:a16="http://schemas.microsoft.com/office/drawing/2014/main" id="{ABC6BC55-16CA-5A6A-10E5-CA98B8C64C41}"/>
              </a:ext>
            </a:extLst>
          </p:cNvPr>
          <p:cNvPicPr>
            <a:picLocks noChangeAspect="1"/>
          </p:cNvPicPr>
          <p:nvPr/>
        </p:nvPicPr>
        <p:blipFill>
          <a:blip r:embed="rId4"/>
          <a:stretch>
            <a:fillRect/>
          </a:stretch>
        </p:blipFill>
        <p:spPr>
          <a:xfrm>
            <a:off x="5433610" y="1427798"/>
            <a:ext cx="450372" cy="450372"/>
          </a:xfrm>
          <a:prstGeom prst="rect">
            <a:avLst/>
          </a:prstGeom>
        </p:spPr>
      </p:pic>
      <p:sp>
        <p:nvSpPr>
          <p:cNvPr id="205" name="Rounded Rectangle 14">
            <a:extLst>
              <a:ext uri="{FF2B5EF4-FFF2-40B4-BE49-F238E27FC236}">
                <a16:creationId xmlns:a16="http://schemas.microsoft.com/office/drawing/2014/main" id="{DDB6386B-3593-2A0E-3471-1720C9A80009}"/>
              </a:ext>
            </a:extLst>
          </p:cNvPr>
          <p:cNvSpPr/>
          <p:nvPr/>
        </p:nvSpPr>
        <p:spPr>
          <a:xfrm>
            <a:off x="5067078" y="2199391"/>
            <a:ext cx="1183436" cy="629196"/>
          </a:xfrm>
          <a:prstGeom prst="roundRect">
            <a:avLst>
              <a:gd name="adj" fmla="val 12000"/>
            </a:avLst>
          </a:prstGeom>
          <a:solidFill>
            <a:srgbClr val="F2F2F2"/>
          </a:solidFill>
          <a:ln w="15875">
            <a:solidFill>
              <a:srgbClr val="2F3EEA"/>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lang="en-US" sz="1400" dirty="0">
                <a:solidFill>
                  <a:srgbClr val="1A1A1A"/>
                </a:solidFill>
              </a:rPr>
              <a:t>40</a:t>
            </a:r>
            <a:r>
              <a:rPr sz="1400" b="0" dirty="0">
                <a:solidFill>
                  <a:srgbClr val="1A1A1A"/>
                </a:solidFill>
              </a:rPr>
              <a:t> MWh at </a:t>
            </a:r>
            <a:r>
              <a:rPr lang="en-US" sz="1400" b="0" dirty="0">
                <a:solidFill>
                  <a:srgbClr val="1A1A1A"/>
                </a:solidFill>
              </a:rPr>
              <a:t>12.5</a:t>
            </a:r>
            <a:r>
              <a:rPr sz="1400" b="0" dirty="0">
                <a:solidFill>
                  <a:srgbClr val="1A1A1A"/>
                </a:solidFill>
              </a:rPr>
              <a:t>$/</a:t>
            </a:r>
            <a:r>
              <a:rPr lang="en-US" sz="1400" b="0" dirty="0">
                <a:solidFill>
                  <a:srgbClr val="1A1A1A"/>
                </a:solidFill>
              </a:rPr>
              <a:t>MWh</a:t>
            </a:r>
            <a:endParaRPr sz="1400" b="0" dirty="0">
              <a:solidFill>
                <a:srgbClr val="1A1A1A"/>
              </a:solidFill>
            </a:endParaRPr>
          </a:p>
        </p:txBody>
      </p:sp>
      <p:sp>
        <p:nvSpPr>
          <p:cNvPr id="209" name="Oval 208">
            <a:extLst>
              <a:ext uri="{FF2B5EF4-FFF2-40B4-BE49-F238E27FC236}">
                <a16:creationId xmlns:a16="http://schemas.microsoft.com/office/drawing/2014/main" id="{3BDBE922-9E01-EAAE-5EA8-AA3D5CB4AED6}"/>
              </a:ext>
            </a:extLst>
          </p:cNvPr>
          <p:cNvSpPr/>
          <p:nvPr/>
        </p:nvSpPr>
        <p:spPr>
          <a:xfrm>
            <a:off x="6593866" y="1239039"/>
            <a:ext cx="827890" cy="827890"/>
          </a:xfrm>
          <a:prstGeom prst="ellipse">
            <a:avLst/>
          </a:prstGeom>
          <a:solidFill>
            <a:schemeClr val="accent5">
              <a:lumMod val="40000"/>
              <a:lumOff val="60000"/>
            </a:schemeClr>
          </a:solidFill>
          <a:ln>
            <a:solidFill>
              <a:srgbClr val="FFCC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1" name="Picture 210" descr="solar_dark.png">
            <a:extLst>
              <a:ext uri="{FF2B5EF4-FFF2-40B4-BE49-F238E27FC236}">
                <a16:creationId xmlns:a16="http://schemas.microsoft.com/office/drawing/2014/main" id="{6A74C447-CB91-936A-9EC3-9F84EEC99063}"/>
              </a:ext>
            </a:extLst>
          </p:cNvPr>
          <p:cNvPicPr>
            <a:picLocks noChangeAspect="1"/>
          </p:cNvPicPr>
          <p:nvPr/>
        </p:nvPicPr>
        <p:blipFill>
          <a:blip r:embed="rId5"/>
          <a:stretch>
            <a:fillRect/>
          </a:stretch>
        </p:blipFill>
        <p:spPr>
          <a:xfrm>
            <a:off x="6782625" y="1427798"/>
            <a:ext cx="450372" cy="450372"/>
          </a:xfrm>
          <a:prstGeom prst="rect">
            <a:avLst/>
          </a:prstGeom>
        </p:spPr>
      </p:pic>
      <p:sp>
        <p:nvSpPr>
          <p:cNvPr id="213" name="Rounded Rectangle 18">
            <a:extLst>
              <a:ext uri="{FF2B5EF4-FFF2-40B4-BE49-F238E27FC236}">
                <a16:creationId xmlns:a16="http://schemas.microsoft.com/office/drawing/2014/main" id="{E5851EC6-E636-83A3-D5EE-4597C8A0E1D3}"/>
              </a:ext>
            </a:extLst>
          </p:cNvPr>
          <p:cNvSpPr/>
          <p:nvPr/>
        </p:nvSpPr>
        <p:spPr>
          <a:xfrm>
            <a:off x="6416093" y="2199391"/>
            <a:ext cx="1183436" cy="629196"/>
          </a:xfrm>
          <a:prstGeom prst="roundRect">
            <a:avLst>
              <a:gd name="adj" fmla="val 12000"/>
            </a:avLst>
          </a:prstGeom>
          <a:solidFill>
            <a:srgbClr val="F2F2F2"/>
          </a:solidFill>
          <a:ln w="15875">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lang="en-US" sz="1400" dirty="0">
                <a:solidFill>
                  <a:srgbClr val="1A1A1A"/>
                </a:solidFill>
              </a:rPr>
              <a:t>100</a:t>
            </a:r>
            <a:r>
              <a:rPr sz="1400" b="0" dirty="0">
                <a:solidFill>
                  <a:srgbClr val="1A1A1A"/>
                </a:solidFill>
              </a:rPr>
              <a:t> MWh at </a:t>
            </a:r>
            <a:r>
              <a:rPr lang="en-US" sz="1400" b="0" dirty="0">
                <a:solidFill>
                  <a:srgbClr val="1A1A1A"/>
                </a:solidFill>
              </a:rPr>
              <a:t>5</a:t>
            </a:r>
            <a:r>
              <a:rPr sz="1400" b="0" dirty="0">
                <a:solidFill>
                  <a:srgbClr val="1A1A1A"/>
                </a:solidFill>
              </a:rPr>
              <a:t>$/</a:t>
            </a:r>
            <a:r>
              <a:rPr lang="en-US" sz="1400" b="0" dirty="0">
                <a:solidFill>
                  <a:srgbClr val="1A1A1A"/>
                </a:solidFill>
              </a:rPr>
              <a:t>MWh</a:t>
            </a:r>
            <a:endParaRPr sz="1400" b="0" dirty="0">
              <a:solidFill>
                <a:srgbClr val="1A1A1A"/>
              </a:solidFill>
            </a:endParaRPr>
          </a:p>
        </p:txBody>
      </p:sp>
      <p:grpSp>
        <p:nvGrpSpPr>
          <p:cNvPr id="223" name="Group 222">
            <a:extLst>
              <a:ext uri="{FF2B5EF4-FFF2-40B4-BE49-F238E27FC236}">
                <a16:creationId xmlns:a16="http://schemas.microsoft.com/office/drawing/2014/main" id="{A86ADA4B-5AAC-CA0A-EB9D-22DD490292EF}"/>
              </a:ext>
            </a:extLst>
          </p:cNvPr>
          <p:cNvGrpSpPr/>
          <p:nvPr/>
        </p:nvGrpSpPr>
        <p:grpSpPr>
          <a:xfrm>
            <a:off x="2335934" y="966458"/>
            <a:ext cx="6612609" cy="222927"/>
            <a:chOff x="2352492" y="1007230"/>
            <a:chExt cx="6612609" cy="222927"/>
          </a:xfrm>
        </p:grpSpPr>
        <p:sp>
          <p:nvSpPr>
            <p:cNvPr id="183" name="TextBox 182">
              <a:extLst>
                <a:ext uri="{FF2B5EF4-FFF2-40B4-BE49-F238E27FC236}">
                  <a16:creationId xmlns:a16="http://schemas.microsoft.com/office/drawing/2014/main" id="{8BD0F829-41AB-8F35-9B45-08866EFD2A93}"/>
                </a:ext>
              </a:extLst>
            </p:cNvPr>
            <p:cNvSpPr txBox="1"/>
            <p:nvPr/>
          </p:nvSpPr>
          <p:spPr>
            <a:xfrm>
              <a:off x="2352492" y="1007230"/>
              <a:ext cx="1216551" cy="198693"/>
            </a:xfrm>
            <a:prstGeom prst="rect">
              <a:avLst/>
            </a:prstGeom>
            <a:noFill/>
          </p:spPr>
          <p:txBody>
            <a:bodyPr wrap="square">
              <a:spAutoFit/>
            </a:bodyPr>
            <a:lstStyle/>
            <a:p>
              <a:pPr algn="ctr"/>
              <a:r>
                <a:rPr sz="1400" b="1" dirty="0">
                  <a:solidFill>
                    <a:srgbClr val="000000"/>
                  </a:solidFill>
                </a:rPr>
                <a:t>Coal</a:t>
              </a:r>
            </a:p>
          </p:txBody>
        </p:sp>
        <p:sp>
          <p:nvSpPr>
            <p:cNvPr id="191" name="TextBox 190">
              <a:extLst>
                <a:ext uri="{FF2B5EF4-FFF2-40B4-BE49-F238E27FC236}">
                  <a16:creationId xmlns:a16="http://schemas.microsoft.com/office/drawing/2014/main" id="{1BF5F541-B678-1496-DA7C-5979445C25C8}"/>
                </a:ext>
              </a:extLst>
            </p:cNvPr>
            <p:cNvSpPr txBox="1"/>
            <p:nvPr/>
          </p:nvSpPr>
          <p:spPr>
            <a:xfrm>
              <a:off x="3701506" y="1007230"/>
              <a:ext cx="1216551" cy="198693"/>
            </a:xfrm>
            <a:prstGeom prst="rect">
              <a:avLst/>
            </a:prstGeom>
            <a:noFill/>
          </p:spPr>
          <p:txBody>
            <a:bodyPr wrap="square">
              <a:spAutoFit/>
            </a:bodyPr>
            <a:lstStyle/>
            <a:p>
              <a:pPr algn="ctr"/>
              <a:r>
                <a:rPr sz="1400" b="1" dirty="0">
                  <a:solidFill>
                    <a:srgbClr val="000000"/>
                  </a:solidFill>
                </a:rPr>
                <a:t>Gas</a:t>
              </a:r>
            </a:p>
          </p:txBody>
        </p:sp>
        <p:sp>
          <p:nvSpPr>
            <p:cNvPr id="199" name="TextBox 198">
              <a:extLst>
                <a:ext uri="{FF2B5EF4-FFF2-40B4-BE49-F238E27FC236}">
                  <a16:creationId xmlns:a16="http://schemas.microsoft.com/office/drawing/2014/main" id="{D87A6451-B3CD-FCBB-AEA3-8BDEAA6D0593}"/>
                </a:ext>
              </a:extLst>
            </p:cNvPr>
            <p:cNvSpPr txBox="1"/>
            <p:nvPr/>
          </p:nvSpPr>
          <p:spPr>
            <a:xfrm>
              <a:off x="5050520" y="1007230"/>
              <a:ext cx="1216551" cy="222927"/>
            </a:xfrm>
            <a:prstGeom prst="rect">
              <a:avLst/>
            </a:prstGeom>
            <a:noFill/>
          </p:spPr>
          <p:txBody>
            <a:bodyPr wrap="square">
              <a:spAutoFit/>
            </a:bodyPr>
            <a:lstStyle/>
            <a:p>
              <a:pPr algn="ctr"/>
              <a:r>
                <a:rPr lang="en-US" sz="1400" b="1" dirty="0">
                  <a:solidFill>
                    <a:srgbClr val="000000"/>
                  </a:solidFill>
                </a:rPr>
                <a:t>Offshore</a:t>
              </a:r>
              <a:endParaRPr sz="1400" b="1" dirty="0">
                <a:solidFill>
                  <a:srgbClr val="000000"/>
                </a:solidFill>
              </a:endParaRPr>
            </a:p>
          </p:txBody>
        </p:sp>
        <p:sp>
          <p:nvSpPr>
            <p:cNvPr id="207" name="TextBox 206">
              <a:extLst>
                <a:ext uri="{FF2B5EF4-FFF2-40B4-BE49-F238E27FC236}">
                  <a16:creationId xmlns:a16="http://schemas.microsoft.com/office/drawing/2014/main" id="{F2A550BC-44D8-04DA-6FBA-E6CA42FCDE80}"/>
                </a:ext>
              </a:extLst>
            </p:cNvPr>
            <p:cNvSpPr txBox="1"/>
            <p:nvPr/>
          </p:nvSpPr>
          <p:spPr>
            <a:xfrm>
              <a:off x="6399535" y="1007230"/>
              <a:ext cx="1216551" cy="198693"/>
            </a:xfrm>
            <a:prstGeom prst="rect">
              <a:avLst/>
            </a:prstGeom>
            <a:noFill/>
          </p:spPr>
          <p:txBody>
            <a:bodyPr wrap="square">
              <a:spAutoFit/>
            </a:bodyPr>
            <a:lstStyle/>
            <a:p>
              <a:pPr algn="ctr"/>
              <a:r>
                <a:rPr sz="1400" b="1">
                  <a:solidFill>
                    <a:srgbClr val="000000"/>
                  </a:solidFill>
                </a:rPr>
                <a:t>Solar</a:t>
              </a:r>
            </a:p>
          </p:txBody>
        </p:sp>
        <p:sp>
          <p:nvSpPr>
            <p:cNvPr id="215" name="TextBox 214">
              <a:extLst>
                <a:ext uri="{FF2B5EF4-FFF2-40B4-BE49-F238E27FC236}">
                  <a16:creationId xmlns:a16="http://schemas.microsoft.com/office/drawing/2014/main" id="{6863379A-4F35-1B67-3FEF-C828DBE71EEA}"/>
                </a:ext>
              </a:extLst>
            </p:cNvPr>
            <p:cNvSpPr txBox="1"/>
            <p:nvPr/>
          </p:nvSpPr>
          <p:spPr>
            <a:xfrm>
              <a:off x="7748550" y="1007230"/>
              <a:ext cx="1216551" cy="222927"/>
            </a:xfrm>
            <a:prstGeom prst="rect">
              <a:avLst/>
            </a:prstGeom>
            <a:noFill/>
          </p:spPr>
          <p:txBody>
            <a:bodyPr wrap="square">
              <a:spAutoFit/>
            </a:bodyPr>
            <a:lstStyle/>
            <a:p>
              <a:pPr algn="ctr"/>
              <a:r>
                <a:rPr lang="en-US" sz="1400" b="1" dirty="0">
                  <a:solidFill>
                    <a:srgbClr val="000000"/>
                  </a:solidFill>
                </a:rPr>
                <a:t>Onshore</a:t>
              </a:r>
              <a:endParaRPr sz="1400" b="1" dirty="0">
                <a:solidFill>
                  <a:srgbClr val="000000"/>
                </a:solidFill>
              </a:endParaRPr>
            </a:p>
          </p:txBody>
        </p:sp>
      </p:grpSp>
      <p:sp>
        <p:nvSpPr>
          <p:cNvPr id="217" name="Oval 216">
            <a:extLst>
              <a:ext uri="{FF2B5EF4-FFF2-40B4-BE49-F238E27FC236}">
                <a16:creationId xmlns:a16="http://schemas.microsoft.com/office/drawing/2014/main" id="{56FAFC99-6C11-F590-559E-0F4CB098B04B}"/>
              </a:ext>
            </a:extLst>
          </p:cNvPr>
          <p:cNvSpPr/>
          <p:nvPr/>
        </p:nvSpPr>
        <p:spPr>
          <a:xfrm>
            <a:off x="7942880" y="1239039"/>
            <a:ext cx="827890" cy="827890"/>
          </a:xfrm>
          <a:prstGeom prst="ellipse">
            <a:avLst/>
          </a:prstGeom>
          <a:solidFill>
            <a:schemeClr val="accent3">
              <a:lumMod val="40000"/>
              <a:lumOff val="60000"/>
            </a:schemeClr>
          </a:solidFill>
          <a:ln>
            <a:solidFill>
              <a:schemeClr val="accent3">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Rounded Rectangle 22">
            <a:extLst>
              <a:ext uri="{FF2B5EF4-FFF2-40B4-BE49-F238E27FC236}">
                <a16:creationId xmlns:a16="http://schemas.microsoft.com/office/drawing/2014/main" id="{3B5A1274-61C1-5AB3-A580-DE2E3B7DFD16}"/>
              </a:ext>
            </a:extLst>
          </p:cNvPr>
          <p:cNvSpPr/>
          <p:nvPr/>
        </p:nvSpPr>
        <p:spPr>
          <a:xfrm>
            <a:off x="7765107" y="2199391"/>
            <a:ext cx="1183436" cy="629196"/>
          </a:xfrm>
          <a:prstGeom prst="roundRect">
            <a:avLst>
              <a:gd name="adj" fmla="val 12000"/>
            </a:avLst>
          </a:prstGeom>
          <a:solidFill>
            <a:srgbClr val="F2F2F2"/>
          </a:solidFill>
          <a:ln w="15875">
            <a:solidFill>
              <a:schemeClr val="accent3">
                <a:lumMod val="75000"/>
              </a:schemeClr>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lang="en-US" sz="1400" dirty="0">
                <a:solidFill>
                  <a:srgbClr val="1A1A1A"/>
                </a:solidFill>
              </a:rPr>
              <a:t>50</a:t>
            </a:r>
            <a:r>
              <a:rPr sz="1400" b="0" dirty="0">
                <a:solidFill>
                  <a:srgbClr val="1A1A1A"/>
                </a:solidFill>
              </a:rPr>
              <a:t> MWh at </a:t>
            </a:r>
            <a:r>
              <a:rPr lang="en-US" sz="1400" b="0" dirty="0">
                <a:solidFill>
                  <a:srgbClr val="1A1A1A"/>
                </a:solidFill>
              </a:rPr>
              <a:t>25</a:t>
            </a:r>
            <a:r>
              <a:rPr sz="1400" b="0" dirty="0">
                <a:solidFill>
                  <a:srgbClr val="1A1A1A"/>
                </a:solidFill>
              </a:rPr>
              <a:t>$/</a:t>
            </a:r>
            <a:r>
              <a:rPr lang="en-US" sz="1400" b="0" dirty="0">
                <a:solidFill>
                  <a:srgbClr val="1A1A1A"/>
                </a:solidFill>
              </a:rPr>
              <a:t>MWh</a:t>
            </a:r>
            <a:endParaRPr sz="1400" b="0" dirty="0">
              <a:solidFill>
                <a:srgbClr val="1A1A1A"/>
              </a:solidFill>
            </a:endParaRPr>
          </a:p>
        </p:txBody>
      </p:sp>
      <p:pic>
        <p:nvPicPr>
          <p:cNvPr id="221" name="Picture 220" descr="wind.png">
            <a:extLst>
              <a:ext uri="{FF2B5EF4-FFF2-40B4-BE49-F238E27FC236}">
                <a16:creationId xmlns:a16="http://schemas.microsoft.com/office/drawing/2014/main" id="{20209153-DBEE-7DF9-A419-494ADB3078C3}"/>
              </a:ext>
            </a:extLst>
          </p:cNvPr>
          <p:cNvPicPr>
            <a:picLocks noChangeAspect="1"/>
          </p:cNvPicPr>
          <p:nvPr/>
        </p:nvPicPr>
        <p:blipFill>
          <a:blip r:embed="rId4"/>
          <a:stretch>
            <a:fillRect/>
          </a:stretch>
        </p:blipFill>
        <p:spPr>
          <a:xfrm>
            <a:off x="8131639" y="1426145"/>
            <a:ext cx="450372" cy="450372"/>
          </a:xfrm>
          <a:prstGeom prst="rect">
            <a:avLst/>
          </a:prstGeom>
        </p:spPr>
      </p:pic>
      <p:sp>
        <p:nvSpPr>
          <p:cNvPr id="225" name="Rectangle 224">
            <a:extLst>
              <a:ext uri="{FF2B5EF4-FFF2-40B4-BE49-F238E27FC236}">
                <a16:creationId xmlns:a16="http://schemas.microsoft.com/office/drawing/2014/main" id="{ABE5588F-DC61-CF87-E0B1-769102CE5045}"/>
              </a:ext>
            </a:extLst>
          </p:cNvPr>
          <p:cNvSpPr/>
          <p:nvPr/>
        </p:nvSpPr>
        <p:spPr bwMode="auto">
          <a:xfrm>
            <a:off x="8417473" y="4212330"/>
            <a:ext cx="342317" cy="920650"/>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Tree>
    <p:extLst>
      <p:ext uri="{BB962C8B-B14F-4D97-AF65-F5344CB8AC3E}">
        <p14:creationId xmlns:p14="http://schemas.microsoft.com/office/powerpoint/2010/main" val="495591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FAC4E-E628-5A6C-1074-869891F737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931145-FDB5-BEBE-ECEB-580633D313FC}"/>
              </a:ext>
            </a:extLst>
          </p:cNvPr>
          <p:cNvSpPr>
            <a:spLocks noGrp="1"/>
          </p:cNvSpPr>
          <p:nvPr>
            <p:ph type="title"/>
          </p:nvPr>
        </p:nvSpPr>
        <p:spPr>
          <a:xfrm>
            <a:off x="1414686" y="260648"/>
            <a:ext cx="9312374" cy="540000"/>
          </a:xfrm>
        </p:spPr>
        <p:txBody>
          <a:bodyPr/>
          <a:lstStyle/>
          <a:p>
            <a:r>
              <a:rPr lang="en-US" dirty="0"/>
              <a:t>Let’s formalize that</a:t>
            </a:r>
            <a:endParaRPr lang="en-DK" dirty="0"/>
          </a:p>
        </p:txBody>
      </p:sp>
      <p:sp>
        <p:nvSpPr>
          <p:cNvPr id="3" name="Content Placeholder 2">
            <a:extLst>
              <a:ext uri="{FF2B5EF4-FFF2-40B4-BE49-F238E27FC236}">
                <a16:creationId xmlns:a16="http://schemas.microsoft.com/office/drawing/2014/main" id="{FD6958A7-3D51-16B1-3884-05E961ED423F}"/>
              </a:ext>
            </a:extLst>
          </p:cNvPr>
          <p:cNvSpPr>
            <a:spLocks noGrp="1"/>
          </p:cNvSpPr>
          <p:nvPr>
            <p:ph idx="1"/>
          </p:nvPr>
        </p:nvSpPr>
        <p:spPr>
          <a:xfrm>
            <a:off x="1439019" y="1124744"/>
            <a:ext cx="9312374" cy="4839202"/>
          </a:xfrm>
        </p:spPr>
        <p:txBody>
          <a:bodyPr/>
          <a:lstStyle/>
          <a:p>
            <a:pPr marL="0" indent="0">
              <a:buNone/>
            </a:pPr>
            <a:r>
              <a:rPr lang="en-DK" b="1" dirty="0">
                <a:solidFill>
                  <a:schemeClr val="bg1"/>
                </a:solidFill>
              </a:rPr>
              <a:t>.</a:t>
            </a:r>
          </a:p>
        </p:txBody>
      </p:sp>
      <p:sp>
        <p:nvSpPr>
          <p:cNvPr id="4" name="Date Placeholder 3">
            <a:extLst>
              <a:ext uri="{FF2B5EF4-FFF2-40B4-BE49-F238E27FC236}">
                <a16:creationId xmlns:a16="http://schemas.microsoft.com/office/drawing/2014/main" id="{B86FB44F-85E1-8FD1-C366-52EBE897240E}"/>
              </a:ext>
            </a:extLst>
          </p:cNvPr>
          <p:cNvSpPr>
            <a:spLocks noGrp="1"/>
          </p:cNvSpPr>
          <p:nvPr>
            <p:ph type="dt" sz="half" idx="10"/>
          </p:nvPr>
        </p:nvSpPr>
        <p:spPr/>
        <p:txBody>
          <a:bodyPr/>
          <a:lstStyle/>
          <a:p>
            <a:fld id="{C1D2C187-E238-451B-B9B8-823408BE2229}" type="datetime1">
              <a:rPr lang="da-DK" smtClean="0"/>
              <a:t>03-09-2026</a:t>
            </a:fld>
            <a:endParaRPr lang="en-GB"/>
          </a:p>
        </p:txBody>
      </p:sp>
      <p:sp>
        <p:nvSpPr>
          <p:cNvPr id="5" name="Footer Placeholder 4">
            <a:extLst>
              <a:ext uri="{FF2B5EF4-FFF2-40B4-BE49-F238E27FC236}">
                <a16:creationId xmlns:a16="http://schemas.microsoft.com/office/drawing/2014/main" id="{33EA10D0-5983-1310-F363-F8CDF09AE935}"/>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48A1A354-DFFC-0986-F6A6-703227F11E18}"/>
              </a:ext>
            </a:extLst>
          </p:cNvPr>
          <p:cNvSpPr>
            <a:spLocks noGrp="1"/>
          </p:cNvSpPr>
          <p:nvPr>
            <p:ph type="sldNum" sz="quarter" idx="12"/>
          </p:nvPr>
        </p:nvSpPr>
        <p:spPr/>
        <p:txBody>
          <a:bodyPr/>
          <a:lstStyle/>
          <a:p>
            <a:fld id="{103EA872-A674-449B-A120-B97244F8E91D}" type="slidenum">
              <a:rPr lang="da-DK" smtClean="0"/>
              <a:pPr/>
              <a:t>12</a:t>
            </a:fld>
            <a:endParaRPr lang="da-DK" dirty="0"/>
          </a:p>
        </p:txBody>
      </p:sp>
      <p:cxnSp>
        <p:nvCxnSpPr>
          <p:cNvPr id="9" name="Straight Arrow Connector 8">
            <a:extLst>
              <a:ext uri="{FF2B5EF4-FFF2-40B4-BE49-F238E27FC236}">
                <a16:creationId xmlns:a16="http://schemas.microsoft.com/office/drawing/2014/main" id="{D987187C-715B-80D6-FED5-4388B304AAEF}"/>
              </a:ext>
            </a:extLst>
          </p:cNvPr>
          <p:cNvCxnSpPr/>
          <p:nvPr/>
        </p:nvCxnSpPr>
        <p:spPr bwMode="auto">
          <a:xfrm flipV="1">
            <a:off x="2824725" y="1661604"/>
            <a:ext cx="0" cy="360000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ectangle 13">
            <a:extLst>
              <a:ext uri="{FF2B5EF4-FFF2-40B4-BE49-F238E27FC236}">
                <a16:creationId xmlns:a16="http://schemas.microsoft.com/office/drawing/2014/main" id="{7D345A84-2CE8-31B1-7536-800152E9DACC}"/>
              </a:ext>
            </a:extLst>
          </p:cNvPr>
          <p:cNvSpPr/>
          <p:nvPr/>
        </p:nvSpPr>
        <p:spPr bwMode="auto">
          <a:xfrm>
            <a:off x="2854846" y="5085184"/>
            <a:ext cx="1224136" cy="156557"/>
          </a:xfrm>
          <a:prstGeom prst="rect">
            <a:avLst/>
          </a:prstGeom>
          <a:solidFill>
            <a:schemeClr val="accent5">
              <a:lumMod val="40000"/>
              <a:lumOff val="60000"/>
              <a:alpha val="67059"/>
            </a:schemeClr>
          </a:solidFill>
          <a:ln>
            <a:solidFill>
              <a:schemeClr val="accent5"/>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5" name="Rectangle 14">
            <a:extLst>
              <a:ext uri="{FF2B5EF4-FFF2-40B4-BE49-F238E27FC236}">
                <a16:creationId xmlns:a16="http://schemas.microsoft.com/office/drawing/2014/main" id="{22DFCBB5-4A57-9598-0383-8CA84B3B8D8C}"/>
              </a:ext>
            </a:extLst>
          </p:cNvPr>
          <p:cNvSpPr/>
          <p:nvPr/>
        </p:nvSpPr>
        <p:spPr bwMode="auto">
          <a:xfrm>
            <a:off x="4093797" y="4844220"/>
            <a:ext cx="720077" cy="396797"/>
          </a:xfrm>
          <a:prstGeom prst="rect">
            <a:avLst/>
          </a:prstGeom>
          <a:solidFill>
            <a:srgbClr val="B2D5FF"/>
          </a:solidFill>
          <a:ln>
            <a:solidFill>
              <a:srgbClr val="6583CD"/>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6" name="Rectangle 15">
            <a:extLst>
              <a:ext uri="{FF2B5EF4-FFF2-40B4-BE49-F238E27FC236}">
                <a16:creationId xmlns:a16="http://schemas.microsoft.com/office/drawing/2014/main" id="{DC4BCFC0-4D74-FF13-DFE4-00B97FFBD7AF}"/>
              </a:ext>
            </a:extLst>
          </p:cNvPr>
          <p:cNvSpPr/>
          <p:nvPr/>
        </p:nvSpPr>
        <p:spPr bwMode="auto">
          <a:xfrm>
            <a:off x="4828689" y="4400648"/>
            <a:ext cx="849281" cy="840369"/>
          </a:xfrm>
          <a:prstGeom prst="rect">
            <a:avLst/>
          </a:prstGeom>
          <a:solidFill>
            <a:schemeClr val="accent3">
              <a:lumMod val="40000"/>
              <a:lumOff val="60000"/>
            </a:schemeClr>
          </a:solidFill>
          <a:ln>
            <a:solidFill>
              <a:schemeClr val="accent3">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7" name="Rectangle 16">
            <a:extLst>
              <a:ext uri="{FF2B5EF4-FFF2-40B4-BE49-F238E27FC236}">
                <a16:creationId xmlns:a16="http://schemas.microsoft.com/office/drawing/2014/main" id="{599396D9-8120-6C3C-7106-89F81D625C71}"/>
              </a:ext>
            </a:extLst>
          </p:cNvPr>
          <p:cNvSpPr/>
          <p:nvPr/>
        </p:nvSpPr>
        <p:spPr bwMode="auto">
          <a:xfrm>
            <a:off x="5703255" y="3927576"/>
            <a:ext cx="468109" cy="1307960"/>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25" name="TextBox 24">
            <a:extLst>
              <a:ext uri="{FF2B5EF4-FFF2-40B4-BE49-F238E27FC236}">
                <a16:creationId xmlns:a16="http://schemas.microsoft.com/office/drawing/2014/main" id="{15A679A4-071C-AE6A-5FC6-7F7804CDEF62}"/>
              </a:ext>
            </a:extLst>
          </p:cNvPr>
          <p:cNvSpPr txBox="1"/>
          <p:nvPr/>
        </p:nvSpPr>
        <p:spPr>
          <a:xfrm>
            <a:off x="8155615" y="5138493"/>
            <a:ext cx="1512168" cy="246221"/>
          </a:xfrm>
          <a:prstGeom prst="rect">
            <a:avLst/>
          </a:prstGeom>
          <a:noFill/>
        </p:spPr>
        <p:txBody>
          <a:bodyPr wrap="square" lIns="0" tIns="0" rIns="0" bIns="0" rtlCol="0">
            <a:spAutoFit/>
          </a:bodyPr>
          <a:lstStyle/>
          <a:p>
            <a:pPr algn="l">
              <a:spcBef>
                <a:spcPts val="432"/>
              </a:spcBef>
            </a:pPr>
            <a:r>
              <a:rPr lang="en-DK" dirty="0">
                <a:latin typeface="+mn-lt"/>
              </a:rPr>
              <a:t>Quantity (MWh)</a:t>
            </a:r>
          </a:p>
        </p:txBody>
      </p:sp>
      <p:cxnSp>
        <p:nvCxnSpPr>
          <p:cNvPr id="10" name="Straight Arrow Connector 9">
            <a:extLst>
              <a:ext uri="{FF2B5EF4-FFF2-40B4-BE49-F238E27FC236}">
                <a16:creationId xmlns:a16="http://schemas.microsoft.com/office/drawing/2014/main" id="{7C3F5B47-836B-DDB5-4395-9EE6E9FCCB02}"/>
              </a:ext>
            </a:extLst>
          </p:cNvPr>
          <p:cNvCxnSpPr/>
          <p:nvPr/>
        </p:nvCxnSpPr>
        <p:spPr bwMode="auto">
          <a:xfrm>
            <a:off x="2819326" y="5261604"/>
            <a:ext cx="5220096" cy="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a:extLst>
              <a:ext uri="{FF2B5EF4-FFF2-40B4-BE49-F238E27FC236}">
                <a16:creationId xmlns:a16="http://schemas.microsoft.com/office/drawing/2014/main" id="{2E1A9B00-4A18-5F72-4F52-AE7EA5D4E109}"/>
              </a:ext>
            </a:extLst>
          </p:cNvPr>
          <p:cNvSpPr txBox="1"/>
          <p:nvPr/>
        </p:nvSpPr>
        <p:spPr>
          <a:xfrm>
            <a:off x="2098762" y="1288115"/>
            <a:ext cx="1512168" cy="246221"/>
          </a:xfrm>
          <a:prstGeom prst="rect">
            <a:avLst/>
          </a:prstGeom>
          <a:noFill/>
        </p:spPr>
        <p:txBody>
          <a:bodyPr wrap="square" lIns="0" tIns="0" rIns="0" bIns="0" rtlCol="0">
            <a:spAutoFit/>
          </a:bodyPr>
          <a:lstStyle/>
          <a:p>
            <a:pPr algn="l">
              <a:spcBef>
                <a:spcPts val="432"/>
              </a:spcBef>
            </a:pPr>
            <a:r>
              <a:rPr lang="en-DK" dirty="0">
                <a:latin typeface="+mn-lt"/>
              </a:rPr>
              <a:t>Price (€/MWh)</a:t>
            </a:r>
          </a:p>
        </p:txBody>
      </p:sp>
      <p:cxnSp>
        <p:nvCxnSpPr>
          <p:cNvPr id="28" name="Straight Connector 27">
            <a:extLst>
              <a:ext uri="{FF2B5EF4-FFF2-40B4-BE49-F238E27FC236}">
                <a16:creationId xmlns:a16="http://schemas.microsoft.com/office/drawing/2014/main" id="{3E4D1EAA-2917-373C-206E-2628122D3EF4}"/>
              </a:ext>
            </a:extLst>
          </p:cNvPr>
          <p:cNvCxnSpPr/>
          <p:nvPr/>
        </p:nvCxnSpPr>
        <p:spPr bwMode="auto">
          <a:xfrm>
            <a:off x="2854846" y="4400648"/>
            <a:ext cx="2574528" cy="0"/>
          </a:xfrm>
          <a:prstGeom prst="line">
            <a:avLst/>
          </a:prstGeom>
          <a:solidFill>
            <a:schemeClr val="accent1"/>
          </a:solidFill>
          <a:ln w="38100" cap="flat" cmpd="sng" algn="ctr">
            <a:solidFill>
              <a:schemeClr val="tx1"/>
            </a:solidFill>
            <a:prstDash val="sysDot"/>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Box 30">
            <a:extLst>
              <a:ext uri="{FF2B5EF4-FFF2-40B4-BE49-F238E27FC236}">
                <a16:creationId xmlns:a16="http://schemas.microsoft.com/office/drawing/2014/main" id="{650916D6-BFE1-96BF-086F-D3ECF52F2D28}"/>
              </a:ext>
            </a:extLst>
          </p:cNvPr>
          <p:cNvSpPr txBox="1"/>
          <p:nvPr/>
        </p:nvSpPr>
        <p:spPr>
          <a:xfrm>
            <a:off x="803341" y="4259419"/>
            <a:ext cx="2279530" cy="246221"/>
          </a:xfrm>
          <a:prstGeom prst="rect">
            <a:avLst/>
          </a:prstGeom>
          <a:noFill/>
        </p:spPr>
        <p:txBody>
          <a:bodyPr wrap="square" lIns="0" tIns="0" rIns="0" bIns="0" rtlCol="0">
            <a:spAutoFit/>
          </a:bodyPr>
          <a:lstStyle/>
          <a:p>
            <a:pPr algn="l">
              <a:spcBef>
                <a:spcPts val="432"/>
              </a:spcBef>
            </a:pPr>
            <a:r>
              <a:rPr lang="en-DK" dirty="0">
                <a:latin typeface="+mn-lt"/>
              </a:rPr>
              <a:t>Market clearing price</a:t>
            </a:r>
          </a:p>
        </p:txBody>
      </p:sp>
      <p:sp>
        <p:nvSpPr>
          <p:cNvPr id="35" name="TextBox 34">
            <a:extLst>
              <a:ext uri="{FF2B5EF4-FFF2-40B4-BE49-F238E27FC236}">
                <a16:creationId xmlns:a16="http://schemas.microsoft.com/office/drawing/2014/main" id="{41CCC5D9-5FEA-9F6B-810B-96ED2A87BF14}"/>
              </a:ext>
            </a:extLst>
          </p:cNvPr>
          <p:cNvSpPr txBox="1"/>
          <p:nvPr/>
        </p:nvSpPr>
        <p:spPr>
          <a:xfrm>
            <a:off x="3358902" y="5335776"/>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G1</a:t>
            </a:r>
          </a:p>
        </p:txBody>
      </p:sp>
      <p:sp>
        <p:nvSpPr>
          <p:cNvPr id="36" name="TextBox 35">
            <a:extLst>
              <a:ext uri="{FF2B5EF4-FFF2-40B4-BE49-F238E27FC236}">
                <a16:creationId xmlns:a16="http://schemas.microsoft.com/office/drawing/2014/main" id="{2F2C3670-68B1-3222-BF84-3A1B48E0A3D0}"/>
              </a:ext>
            </a:extLst>
          </p:cNvPr>
          <p:cNvSpPr txBox="1"/>
          <p:nvPr/>
        </p:nvSpPr>
        <p:spPr>
          <a:xfrm>
            <a:off x="4299223" y="5335776"/>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G2</a:t>
            </a:r>
          </a:p>
        </p:txBody>
      </p:sp>
      <p:sp>
        <p:nvSpPr>
          <p:cNvPr id="37" name="TextBox 36">
            <a:extLst>
              <a:ext uri="{FF2B5EF4-FFF2-40B4-BE49-F238E27FC236}">
                <a16:creationId xmlns:a16="http://schemas.microsoft.com/office/drawing/2014/main" id="{CBAB0624-E63B-BACF-BC25-8E66F9C71F8F}"/>
              </a:ext>
            </a:extLst>
          </p:cNvPr>
          <p:cNvSpPr txBox="1"/>
          <p:nvPr/>
        </p:nvSpPr>
        <p:spPr>
          <a:xfrm>
            <a:off x="5131505" y="5332001"/>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G3</a:t>
            </a:r>
          </a:p>
        </p:txBody>
      </p:sp>
      <p:sp>
        <p:nvSpPr>
          <p:cNvPr id="38" name="TextBox 37">
            <a:extLst>
              <a:ext uri="{FF2B5EF4-FFF2-40B4-BE49-F238E27FC236}">
                <a16:creationId xmlns:a16="http://schemas.microsoft.com/office/drawing/2014/main" id="{10199200-6FBA-4D11-8FE6-971BB640B892}"/>
              </a:ext>
            </a:extLst>
          </p:cNvPr>
          <p:cNvSpPr txBox="1"/>
          <p:nvPr/>
        </p:nvSpPr>
        <p:spPr>
          <a:xfrm>
            <a:off x="5818521" y="5332001"/>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G4</a:t>
            </a:r>
          </a:p>
        </p:txBody>
      </p:sp>
      <p:sp>
        <p:nvSpPr>
          <p:cNvPr id="39" name="TextBox 38">
            <a:extLst>
              <a:ext uri="{FF2B5EF4-FFF2-40B4-BE49-F238E27FC236}">
                <a16:creationId xmlns:a16="http://schemas.microsoft.com/office/drawing/2014/main" id="{F44EDA19-B7B5-A110-9369-D33E7A6A439F}"/>
              </a:ext>
            </a:extLst>
          </p:cNvPr>
          <p:cNvSpPr txBox="1"/>
          <p:nvPr/>
        </p:nvSpPr>
        <p:spPr>
          <a:xfrm>
            <a:off x="6313005" y="5329144"/>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G5</a:t>
            </a:r>
          </a:p>
        </p:txBody>
      </p:sp>
      <p:sp>
        <p:nvSpPr>
          <p:cNvPr id="7" name="Rectangle 6">
            <a:extLst>
              <a:ext uri="{FF2B5EF4-FFF2-40B4-BE49-F238E27FC236}">
                <a16:creationId xmlns:a16="http://schemas.microsoft.com/office/drawing/2014/main" id="{40041FA4-243F-AFA9-7E9C-95A335515A6A}"/>
              </a:ext>
            </a:extLst>
          </p:cNvPr>
          <p:cNvSpPr/>
          <p:nvPr/>
        </p:nvSpPr>
        <p:spPr bwMode="auto">
          <a:xfrm>
            <a:off x="5519142" y="4400648"/>
            <a:ext cx="158828" cy="834888"/>
          </a:xfrm>
          <a:prstGeom prst="rect">
            <a:avLst/>
          </a:prstGeom>
          <a:solidFill>
            <a:schemeClr val="bg1">
              <a:lumMod val="85000"/>
            </a:schemeClr>
          </a:solidFill>
          <a:ln w="28575" cap="flat" cmpd="sng" algn="ctr">
            <a:solidFill>
              <a:schemeClr val="bg1">
                <a:lumMod val="50000"/>
              </a:schemeClr>
            </a:solid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1" name="Right Brace 10">
            <a:extLst>
              <a:ext uri="{FF2B5EF4-FFF2-40B4-BE49-F238E27FC236}">
                <a16:creationId xmlns:a16="http://schemas.microsoft.com/office/drawing/2014/main" id="{64EA9C96-256C-9B7B-E51F-A3B805848752}"/>
              </a:ext>
            </a:extLst>
          </p:cNvPr>
          <p:cNvSpPr/>
          <p:nvPr/>
        </p:nvSpPr>
        <p:spPr bwMode="auto">
          <a:xfrm rot="5400000">
            <a:off x="4002723" y="4410615"/>
            <a:ext cx="252000" cy="2601303"/>
          </a:xfrm>
          <a:prstGeom prst="rightBrace">
            <a:avLst>
              <a:gd name="adj1" fmla="val 69983"/>
              <a:gd name="adj2" fmla="val 50000"/>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DK"/>
          </a:p>
        </p:txBody>
      </p:sp>
      <p:sp>
        <p:nvSpPr>
          <p:cNvPr id="12" name="Right Brace 11">
            <a:extLst>
              <a:ext uri="{FF2B5EF4-FFF2-40B4-BE49-F238E27FC236}">
                <a16:creationId xmlns:a16="http://schemas.microsoft.com/office/drawing/2014/main" id="{1C435C0A-5B63-05D8-8738-89007DCD9871}"/>
              </a:ext>
            </a:extLst>
          </p:cNvPr>
          <p:cNvSpPr/>
          <p:nvPr/>
        </p:nvSpPr>
        <p:spPr bwMode="auto">
          <a:xfrm rot="5400000">
            <a:off x="5922177" y="5115094"/>
            <a:ext cx="252000" cy="1214898"/>
          </a:xfrm>
          <a:prstGeom prst="rightBrace">
            <a:avLst>
              <a:gd name="adj1" fmla="val 69983"/>
              <a:gd name="adj2" fmla="val 50000"/>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DK"/>
          </a:p>
        </p:txBody>
      </p:sp>
      <p:sp>
        <p:nvSpPr>
          <p:cNvPr id="13" name="TextBox 12">
            <a:extLst>
              <a:ext uri="{FF2B5EF4-FFF2-40B4-BE49-F238E27FC236}">
                <a16:creationId xmlns:a16="http://schemas.microsoft.com/office/drawing/2014/main" id="{4BDA0073-0300-E2F0-6BE5-ABD4E83C5A37}"/>
              </a:ext>
            </a:extLst>
          </p:cNvPr>
          <p:cNvSpPr txBox="1"/>
          <p:nvPr/>
        </p:nvSpPr>
        <p:spPr>
          <a:xfrm>
            <a:off x="3358902" y="5917510"/>
            <a:ext cx="1660401" cy="246221"/>
          </a:xfrm>
          <a:prstGeom prst="rect">
            <a:avLst/>
          </a:prstGeom>
          <a:noFill/>
        </p:spPr>
        <p:txBody>
          <a:bodyPr wrap="square" lIns="0" tIns="0" rIns="0" bIns="0" rtlCol="0">
            <a:spAutoFit/>
          </a:bodyPr>
          <a:lstStyle/>
          <a:p>
            <a:pPr algn="l">
              <a:spcBef>
                <a:spcPts val="432"/>
              </a:spcBef>
            </a:pPr>
            <a:r>
              <a:rPr lang="en-DK" dirty="0">
                <a:latin typeface="+mn-lt"/>
              </a:rPr>
              <a:t>Generating power</a:t>
            </a:r>
          </a:p>
        </p:txBody>
      </p:sp>
      <p:sp>
        <p:nvSpPr>
          <p:cNvPr id="19" name="TextBox 18">
            <a:extLst>
              <a:ext uri="{FF2B5EF4-FFF2-40B4-BE49-F238E27FC236}">
                <a16:creationId xmlns:a16="http://schemas.microsoft.com/office/drawing/2014/main" id="{96E1FD59-7CCF-EA03-482E-907D91B01659}"/>
              </a:ext>
            </a:extLst>
          </p:cNvPr>
          <p:cNvSpPr txBox="1"/>
          <p:nvPr/>
        </p:nvSpPr>
        <p:spPr>
          <a:xfrm>
            <a:off x="6313005" y="5937259"/>
            <a:ext cx="540805" cy="246221"/>
          </a:xfrm>
          <a:prstGeom prst="rect">
            <a:avLst/>
          </a:prstGeom>
          <a:noFill/>
        </p:spPr>
        <p:txBody>
          <a:bodyPr wrap="square" lIns="0" tIns="0" rIns="0" bIns="0" rtlCol="0">
            <a:spAutoFit/>
          </a:bodyPr>
          <a:lstStyle/>
          <a:p>
            <a:pPr algn="l">
              <a:spcBef>
                <a:spcPts val="432"/>
              </a:spcBef>
            </a:pPr>
            <a:r>
              <a:rPr lang="en-DK" dirty="0">
                <a:latin typeface="+mn-lt"/>
              </a:rPr>
              <a:t>Off</a:t>
            </a:r>
          </a:p>
        </p:txBody>
      </p:sp>
      <p:cxnSp>
        <p:nvCxnSpPr>
          <p:cNvPr id="22" name="Straight Connector 21">
            <a:extLst>
              <a:ext uri="{FF2B5EF4-FFF2-40B4-BE49-F238E27FC236}">
                <a16:creationId xmlns:a16="http://schemas.microsoft.com/office/drawing/2014/main" id="{67BB801F-FEC0-42F1-5BBE-0CDDEC3B169B}"/>
              </a:ext>
            </a:extLst>
          </p:cNvPr>
          <p:cNvCxnSpPr>
            <a:cxnSpLocks/>
          </p:cNvCxnSpPr>
          <p:nvPr/>
        </p:nvCxnSpPr>
        <p:spPr bwMode="auto">
          <a:xfrm>
            <a:off x="5519142" y="2132856"/>
            <a:ext cx="0" cy="3128748"/>
          </a:xfrm>
          <a:prstGeom prst="line">
            <a:avLst/>
          </a:prstGeom>
          <a:ln w="3810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graphicFrame>
        <p:nvGraphicFramePr>
          <p:cNvPr id="23" name="Table 22">
            <a:extLst>
              <a:ext uri="{FF2B5EF4-FFF2-40B4-BE49-F238E27FC236}">
                <a16:creationId xmlns:a16="http://schemas.microsoft.com/office/drawing/2014/main" id="{023B2ED1-2EBB-0237-C8A9-C8A43FDA45BE}"/>
              </a:ext>
            </a:extLst>
          </p:cNvPr>
          <p:cNvGraphicFramePr>
            <a:graphicFrameLocks noGrp="1"/>
          </p:cNvGraphicFramePr>
          <p:nvPr>
            <p:extLst>
              <p:ext uri="{D42A27DB-BD31-4B8C-83A1-F6EECF244321}">
                <p14:modId xmlns:p14="http://schemas.microsoft.com/office/powerpoint/2010/main" val="213499990"/>
              </p:ext>
            </p:extLst>
          </p:nvPr>
        </p:nvGraphicFramePr>
        <p:xfrm>
          <a:off x="7747419" y="1558226"/>
          <a:ext cx="4264113" cy="2433320"/>
        </p:xfrm>
        <a:graphic>
          <a:graphicData uri="http://schemas.openxmlformats.org/drawingml/2006/table">
            <a:tbl>
              <a:tblPr firstRow="1" bandRow="1">
                <a:tableStyleId>{5C22544A-7EE6-4342-B048-85BDC9FD1C3A}</a:tableStyleId>
              </a:tblPr>
              <a:tblGrid>
                <a:gridCol w="1421371">
                  <a:extLst>
                    <a:ext uri="{9D8B030D-6E8A-4147-A177-3AD203B41FA5}">
                      <a16:colId xmlns:a16="http://schemas.microsoft.com/office/drawing/2014/main" val="2120270077"/>
                    </a:ext>
                  </a:extLst>
                </a:gridCol>
                <a:gridCol w="1421371">
                  <a:extLst>
                    <a:ext uri="{9D8B030D-6E8A-4147-A177-3AD203B41FA5}">
                      <a16:colId xmlns:a16="http://schemas.microsoft.com/office/drawing/2014/main" val="4249083467"/>
                    </a:ext>
                  </a:extLst>
                </a:gridCol>
                <a:gridCol w="1421371">
                  <a:extLst>
                    <a:ext uri="{9D8B030D-6E8A-4147-A177-3AD203B41FA5}">
                      <a16:colId xmlns:a16="http://schemas.microsoft.com/office/drawing/2014/main" val="2841158744"/>
                    </a:ext>
                  </a:extLst>
                </a:gridCol>
              </a:tblGrid>
              <a:tr h="370840">
                <a:tc>
                  <a:txBody>
                    <a:bodyPr/>
                    <a:lstStyle/>
                    <a:p>
                      <a:pPr algn="ctr"/>
                      <a:r>
                        <a:rPr lang="en-DK" sz="1600" dirty="0"/>
                        <a:t>Generator</a:t>
                      </a:r>
                    </a:p>
                  </a:txBody>
                  <a:tcPr anchor="ctr"/>
                </a:tc>
                <a:tc>
                  <a:txBody>
                    <a:bodyPr/>
                    <a:lstStyle/>
                    <a:p>
                      <a:pPr algn="ctr"/>
                      <a:r>
                        <a:rPr lang="en-US" sz="1600" dirty="0"/>
                        <a:t>Producing cost</a:t>
                      </a:r>
                      <a:endParaRPr lang="en-DK" sz="1600" dirty="0"/>
                    </a:p>
                  </a:txBody>
                  <a:tcPr anchor="ctr"/>
                </a:tc>
                <a:tc>
                  <a:txBody>
                    <a:bodyPr/>
                    <a:lstStyle/>
                    <a:p>
                      <a:pPr algn="ctr"/>
                      <a:r>
                        <a:rPr lang="en-DK" sz="1600" dirty="0"/>
                        <a:t>Generation</a:t>
                      </a:r>
                    </a:p>
                  </a:txBody>
                  <a:tcPr anchor="ctr"/>
                </a:tc>
                <a:extLst>
                  <a:ext uri="{0D108BD9-81ED-4DB2-BD59-A6C34878D82A}">
                    <a16:rowId xmlns:a16="http://schemas.microsoft.com/office/drawing/2014/main" val="1535084899"/>
                  </a:ext>
                </a:extLst>
              </a:tr>
              <a:tr h="370840">
                <a:tc>
                  <a:txBody>
                    <a:bodyPr/>
                    <a:lstStyle/>
                    <a:p>
                      <a:pPr algn="ctr"/>
                      <a:r>
                        <a:rPr lang="en-DK" b="1" dirty="0"/>
                        <a:t>G1</a:t>
                      </a:r>
                    </a:p>
                  </a:txBody>
                  <a:tcPr/>
                </a:tc>
                <a:tc>
                  <a:txBody>
                    <a:bodyPr/>
                    <a:lstStyle/>
                    <a:p>
                      <a:pPr algn="ctr"/>
                      <a:r>
                        <a:rPr lang="en-US" b="1" dirty="0"/>
                        <a:t>500</a:t>
                      </a:r>
                      <a:endParaRPr lang="en-DK" b="1" dirty="0"/>
                    </a:p>
                  </a:txBody>
                  <a:tcPr/>
                </a:tc>
                <a:tc>
                  <a:txBody>
                    <a:bodyPr/>
                    <a:lstStyle/>
                    <a:p>
                      <a:pPr algn="ctr"/>
                      <a:r>
                        <a:rPr lang="en-DK" b="1" dirty="0"/>
                        <a:t>100%</a:t>
                      </a:r>
                    </a:p>
                  </a:txBody>
                  <a:tcPr/>
                </a:tc>
                <a:extLst>
                  <a:ext uri="{0D108BD9-81ED-4DB2-BD59-A6C34878D82A}">
                    <a16:rowId xmlns:a16="http://schemas.microsoft.com/office/drawing/2014/main" val="1136424323"/>
                  </a:ext>
                </a:extLst>
              </a:tr>
              <a:tr h="370840">
                <a:tc>
                  <a:txBody>
                    <a:bodyPr/>
                    <a:lstStyle/>
                    <a:p>
                      <a:pPr algn="ctr"/>
                      <a:r>
                        <a:rPr lang="en-DK" b="1" dirty="0"/>
                        <a:t>G2</a:t>
                      </a:r>
                    </a:p>
                  </a:txBody>
                  <a:tcPr/>
                </a:tc>
                <a:tc>
                  <a:txBody>
                    <a:bodyPr/>
                    <a:lstStyle/>
                    <a:p>
                      <a:pPr algn="ctr"/>
                      <a:r>
                        <a:rPr lang="en-US" b="1" dirty="0"/>
                        <a:t>500</a:t>
                      </a:r>
                      <a:endParaRPr lang="en-DK" b="1" dirty="0"/>
                    </a:p>
                  </a:txBody>
                  <a:tcPr/>
                </a:tc>
                <a:tc>
                  <a:txBody>
                    <a:bodyPr/>
                    <a:lstStyle/>
                    <a:p>
                      <a:pPr algn="ctr"/>
                      <a:r>
                        <a:rPr lang="en-DK" b="1" dirty="0"/>
                        <a:t>100%</a:t>
                      </a:r>
                    </a:p>
                  </a:txBody>
                  <a:tcPr/>
                </a:tc>
                <a:extLst>
                  <a:ext uri="{0D108BD9-81ED-4DB2-BD59-A6C34878D82A}">
                    <a16:rowId xmlns:a16="http://schemas.microsoft.com/office/drawing/2014/main" val="1590719974"/>
                  </a:ext>
                </a:extLst>
              </a:tr>
              <a:tr h="370840">
                <a:tc>
                  <a:txBody>
                    <a:bodyPr/>
                    <a:lstStyle/>
                    <a:p>
                      <a:pPr algn="ctr"/>
                      <a:r>
                        <a:rPr lang="en-DK" b="1" dirty="0"/>
                        <a:t>G3</a:t>
                      </a:r>
                    </a:p>
                  </a:txBody>
                  <a:tcPr/>
                </a:tc>
                <a:tc>
                  <a:txBody>
                    <a:bodyPr/>
                    <a:lstStyle/>
                    <a:p>
                      <a:pPr algn="ctr"/>
                      <a:r>
                        <a:rPr lang="en-US" b="1" dirty="0"/>
                        <a:t>1000</a:t>
                      </a:r>
                      <a:endParaRPr lang="en-DK" b="1" dirty="0"/>
                    </a:p>
                  </a:txBody>
                  <a:tcPr/>
                </a:tc>
                <a:tc>
                  <a:txBody>
                    <a:bodyPr/>
                    <a:lstStyle/>
                    <a:p>
                      <a:pPr algn="ctr"/>
                      <a:r>
                        <a:rPr lang="en-DK" b="1" dirty="0"/>
                        <a:t>80%</a:t>
                      </a:r>
                    </a:p>
                  </a:txBody>
                  <a:tcPr/>
                </a:tc>
                <a:extLst>
                  <a:ext uri="{0D108BD9-81ED-4DB2-BD59-A6C34878D82A}">
                    <a16:rowId xmlns:a16="http://schemas.microsoft.com/office/drawing/2014/main" val="3534962959"/>
                  </a:ext>
                </a:extLst>
              </a:tr>
              <a:tr h="370840">
                <a:tc>
                  <a:txBody>
                    <a:bodyPr/>
                    <a:lstStyle/>
                    <a:p>
                      <a:pPr algn="ctr"/>
                      <a:r>
                        <a:rPr lang="en-DK" dirty="0"/>
                        <a:t>G4</a:t>
                      </a:r>
                    </a:p>
                  </a:txBody>
                  <a:tcPr/>
                </a:tc>
                <a:tc>
                  <a:txBody>
                    <a:bodyPr/>
                    <a:lstStyle/>
                    <a:p>
                      <a:pPr algn="ctr"/>
                      <a:r>
                        <a:rPr lang="en-DK" dirty="0"/>
                        <a:t>0</a:t>
                      </a:r>
                    </a:p>
                  </a:txBody>
                  <a:tcPr/>
                </a:tc>
                <a:tc>
                  <a:txBody>
                    <a:bodyPr/>
                    <a:lstStyle/>
                    <a:p>
                      <a:pPr algn="ctr"/>
                      <a:r>
                        <a:rPr lang="en-DK" dirty="0"/>
                        <a:t>0%</a:t>
                      </a:r>
                    </a:p>
                  </a:txBody>
                  <a:tcPr/>
                </a:tc>
                <a:extLst>
                  <a:ext uri="{0D108BD9-81ED-4DB2-BD59-A6C34878D82A}">
                    <a16:rowId xmlns:a16="http://schemas.microsoft.com/office/drawing/2014/main" val="626535670"/>
                  </a:ext>
                </a:extLst>
              </a:tr>
              <a:tr h="370840">
                <a:tc>
                  <a:txBody>
                    <a:bodyPr/>
                    <a:lstStyle/>
                    <a:p>
                      <a:pPr algn="ctr"/>
                      <a:r>
                        <a:rPr lang="en-DK" b="1" dirty="0"/>
                        <a:t>Total</a:t>
                      </a:r>
                    </a:p>
                  </a:txBody>
                  <a:tcPr/>
                </a:tc>
                <a:tc>
                  <a:txBody>
                    <a:bodyPr/>
                    <a:lstStyle/>
                    <a:p>
                      <a:pPr algn="ctr"/>
                      <a:r>
                        <a:rPr lang="en-US" b="1" dirty="0"/>
                        <a:t>2000</a:t>
                      </a:r>
                      <a:endParaRPr lang="en-DK" b="1" dirty="0"/>
                    </a:p>
                  </a:txBody>
                  <a:tcPr/>
                </a:tc>
                <a:tc>
                  <a:txBody>
                    <a:bodyPr/>
                    <a:lstStyle/>
                    <a:p>
                      <a:pPr algn="ctr"/>
                      <a:r>
                        <a:rPr lang="en-DK" b="1" dirty="0"/>
                        <a:t>-</a:t>
                      </a:r>
                    </a:p>
                  </a:txBody>
                  <a:tcPr/>
                </a:tc>
                <a:extLst>
                  <a:ext uri="{0D108BD9-81ED-4DB2-BD59-A6C34878D82A}">
                    <a16:rowId xmlns:a16="http://schemas.microsoft.com/office/drawing/2014/main" val="2578818775"/>
                  </a:ext>
                </a:extLst>
              </a:tr>
            </a:tbl>
          </a:graphicData>
        </a:graphic>
      </p:graphicFrame>
      <p:sp>
        <p:nvSpPr>
          <p:cNvPr id="27" name="TextBox 26">
            <a:extLst>
              <a:ext uri="{FF2B5EF4-FFF2-40B4-BE49-F238E27FC236}">
                <a16:creationId xmlns:a16="http://schemas.microsoft.com/office/drawing/2014/main" id="{A8360A31-75CC-DABA-6622-B3DED71D6227}"/>
              </a:ext>
            </a:extLst>
          </p:cNvPr>
          <p:cNvSpPr txBox="1"/>
          <p:nvPr/>
        </p:nvSpPr>
        <p:spPr>
          <a:xfrm>
            <a:off x="5131505" y="1798455"/>
            <a:ext cx="1152128" cy="246221"/>
          </a:xfrm>
          <a:prstGeom prst="rect">
            <a:avLst/>
          </a:prstGeom>
          <a:noFill/>
        </p:spPr>
        <p:txBody>
          <a:bodyPr wrap="square" lIns="0" tIns="0" rIns="0" bIns="0" rtlCol="0">
            <a:spAutoFit/>
          </a:bodyPr>
          <a:lstStyle/>
          <a:p>
            <a:pPr algn="l">
              <a:spcBef>
                <a:spcPts val="432"/>
              </a:spcBef>
            </a:pPr>
            <a:r>
              <a:rPr lang="en-DK" dirty="0">
                <a:latin typeface="+mn-lt"/>
              </a:rPr>
              <a:t>Demand</a:t>
            </a:r>
          </a:p>
        </p:txBody>
      </p:sp>
      <p:sp>
        <p:nvSpPr>
          <p:cNvPr id="24" name="Rectangle 23">
            <a:extLst>
              <a:ext uri="{FF2B5EF4-FFF2-40B4-BE49-F238E27FC236}">
                <a16:creationId xmlns:a16="http://schemas.microsoft.com/office/drawing/2014/main" id="{ABB85D39-69BA-0770-27A8-D4641BC0492C}"/>
              </a:ext>
            </a:extLst>
          </p:cNvPr>
          <p:cNvSpPr/>
          <p:nvPr/>
        </p:nvSpPr>
        <p:spPr bwMode="auto">
          <a:xfrm>
            <a:off x="6187517" y="2996954"/>
            <a:ext cx="468109" cy="2245628"/>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Tree>
    <p:extLst>
      <p:ext uri="{BB962C8B-B14F-4D97-AF65-F5344CB8AC3E}">
        <p14:creationId xmlns:p14="http://schemas.microsoft.com/office/powerpoint/2010/main" val="4293279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0311C-B7C2-7E69-DD54-D3E3F5C3C7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929F0-17F9-9D39-76A8-E80FCF550E5A}"/>
              </a:ext>
            </a:extLst>
          </p:cNvPr>
          <p:cNvSpPr>
            <a:spLocks noGrp="1"/>
          </p:cNvSpPr>
          <p:nvPr>
            <p:ph type="title"/>
          </p:nvPr>
        </p:nvSpPr>
        <p:spPr>
          <a:xfrm>
            <a:off x="1414686" y="260648"/>
            <a:ext cx="9312374" cy="540000"/>
          </a:xfrm>
        </p:spPr>
        <p:txBody>
          <a:bodyPr/>
          <a:lstStyle/>
          <a:p>
            <a:r>
              <a:rPr lang="en-US" dirty="0"/>
              <a:t>Let’s formalize that</a:t>
            </a:r>
            <a:endParaRPr lang="en-DK" dirty="0"/>
          </a:p>
        </p:txBody>
      </p:sp>
      <p:sp>
        <p:nvSpPr>
          <p:cNvPr id="3" name="Content Placeholder 2">
            <a:extLst>
              <a:ext uri="{FF2B5EF4-FFF2-40B4-BE49-F238E27FC236}">
                <a16:creationId xmlns:a16="http://schemas.microsoft.com/office/drawing/2014/main" id="{92DFBE71-E59A-0A60-311E-87F28D8F512A}"/>
              </a:ext>
            </a:extLst>
          </p:cNvPr>
          <p:cNvSpPr>
            <a:spLocks noGrp="1"/>
          </p:cNvSpPr>
          <p:nvPr>
            <p:ph idx="1"/>
          </p:nvPr>
        </p:nvSpPr>
        <p:spPr>
          <a:xfrm>
            <a:off x="1439019" y="1124744"/>
            <a:ext cx="9312374" cy="4839202"/>
          </a:xfrm>
        </p:spPr>
        <p:txBody>
          <a:bodyPr/>
          <a:lstStyle/>
          <a:p>
            <a:pPr marL="0" indent="0">
              <a:buNone/>
            </a:pPr>
            <a:r>
              <a:rPr lang="en-DK" b="1" dirty="0">
                <a:solidFill>
                  <a:schemeClr val="bg1"/>
                </a:solidFill>
              </a:rPr>
              <a:t>.</a:t>
            </a:r>
          </a:p>
        </p:txBody>
      </p:sp>
      <p:sp>
        <p:nvSpPr>
          <p:cNvPr id="4" name="Date Placeholder 3">
            <a:extLst>
              <a:ext uri="{FF2B5EF4-FFF2-40B4-BE49-F238E27FC236}">
                <a16:creationId xmlns:a16="http://schemas.microsoft.com/office/drawing/2014/main" id="{4438CC7D-FF54-D721-416F-3748FA5F951A}"/>
              </a:ext>
            </a:extLst>
          </p:cNvPr>
          <p:cNvSpPr>
            <a:spLocks noGrp="1"/>
          </p:cNvSpPr>
          <p:nvPr>
            <p:ph type="dt" sz="half" idx="10"/>
          </p:nvPr>
        </p:nvSpPr>
        <p:spPr/>
        <p:txBody>
          <a:bodyPr/>
          <a:lstStyle/>
          <a:p>
            <a:fld id="{776EDF5B-8A3E-4C28-ABC8-E2FE35CCFC18}" type="datetime1">
              <a:rPr lang="da-DK" smtClean="0"/>
              <a:t>03-09-2026</a:t>
            </a:fld>
            <a:endParaRPr lang="en-GB"/>
          </a:p>
        </p:txBody>
      </p:sp>
      <p:sp>
        <p:nvSpPr>
          <p:cNvPr id="5" name="Footer Placeholder 4">
            <a:extLst>
              <a:ext uri="{FF2B5EF4-FFF2-40B4-BE49-F238E27FC236}">
                <a16:creationId xmlns:a16="http://schemas.microsoft.com/office/drawing/2014/main" id="{3E671868-D827-81B3-6A90-82325BA7FF81}"/>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B13BD793-9816-D0DB-79E0-A931B70D81EC}"/>
              </a:ext>
            </a:extLst>
          </p:cNvPr>
          <p:cNvSpPr>
            <a:spLocks noGrp="1"/>
          </p:cNvSpPr>
          <p:nvPr>
            <p:ph type="sldNum" sz="quarter" idx="12"/>
          </p:nvPr>
        </p:nvSpPr>
        <p:spPr/>
        <p:txBody>
          <a:bodyPr/>
          <a:lstStyle/>
          <a:p>
            <a:fld id="{103EA872-A674-449B-A120-B97244F8E91D}" type="slidenum">
              <a:rPr lang="da-DK" smtClean="0"/>
              <a:pPr/>
              <a:t>13</a:t>
            </a:fld>
            <a:endParaRPr lang="da-DK" dirty="0"/>
          </a:p>
        </p:txBody>
      </p:sp>
      <p:cxnSp>
        <p:nvCxnSpPr>
          <p:cNvPr id="9" name="Straight Arrow Connector 8">
            <a:extLst>
              <a:ext uri="{FF2B5EF4-FFF2-40B4-BE49-F238E27FC236}">
                <a16:creationId xmlns:a16="http://schemas.microsoft.com/office/drawing/2014/main" id="{9C5B79CA-FB91-99DF-F353-4A984CF6D713}"/>
              </a:ext>
            </a:extLst>
          </p:cNvPr>
          <p:cNvCxnSpPr/>
          <p:nvPr/>
        </p:nvCxnSpPr>
        <p:spPr bwMode="auto">
          <a:xfrm flipV="1">
            <a:off x="2824725" y="1661604"/>
            <a:ext cx="0" cy="360000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Rectangle 14">
            <a:extLst>
              <a:ext uri="{FF2B5EF4-FFF2-40B4-BE49-F238E27FC236}">
                <a16:creationId xmlns:a16="http://schemas.microsoft.com/office/drawing/2014/main" id="{473491B4-2118-1FAA-FE69-61D47CB5B590}"/>
              </a:ext>
            </a:extLst>
          </p:cNvPr>
          <p:cNvSpPr/>
          <p:nvPr/>
        </p:nvSpPr>
        <p:spPr bwMode="auto">
          <a:xfrm>
            <a:off x="4093797" y="4844220"/>
            <a:ext cx="720077" cy="396797"/>
          </a:xfrm>
          <a:prstGeom prst="rect">
            <a:avLst/>
          </a:prstGeom>
          <a:solidFill>
            <a:srgbClr val="B2D5FF"/>
          </a:solidFill>
          <a:ln>
            <a:solidFill>
              <a:srgbClr val="6583CD"/>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7" name="Rectangle 16">
            <a:extLst>
              <a:ext uri="{FF2B5EF4-FFF2-40B4-BE49-F238E27FC236}">
                <a16:creationId xmlns:a16="http://schemas.microsoft.com/office/drawing/2014/main" id="{11016B3C-8B70-1347-DD5E-F2F29067A931}"/>
              </a:ext>
            </a:extLst>
          </p:cNvPr>
          <p:cNvSpPr/>
          <p:nvPr/>
        </p:nvSpPr>
        <p:spPr bwMode="auto">
          <a:xfrm>
            <a:off x="4835009" y="3927576"/>
            <a:ext cx="468109" cy="1307960"/>
          </a:xfrm>
          <a:prstGeom prst="rect">
            <a:avLst/>
          </a:prstGeom>
          <a:solidFill>
            <a:schemeClr val="tx2">
              <a:lumMod val="40000"/>
              <a:lumOff val="60000"/>
            </a:schemeClr>
          </a:solidFill>
          <a:ln>
            <a:solidFill>
              <a:schemeClr val="accent6">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25" name="TextBox 24">
            <a:extLst>
              <a:ext uri="{FF2B5EF4-FFF2-40B4-BE49-F238E27FC236}">
                <a16:creationId xmlns:a16="http://schemas.microsoft.com/office/drawing/2014/main" id="{84C8CA98-1FB3-BA61-AA21-269CCBC50F47}"/>
              </a:ext>
            </a:extLst>
          </p:cNvPr>
          <p:cNvSpPr txBox="1"/>
          <p:nvPr/>
        </p:nvSpPr>
        <p:spPr>
          <a:xfrm>
            <a:off x="8155615" y="5138493"/>
            <a:ext cx="1512168" cy="246221"/>
          </a:xfrm>
          <a:prstGeom prst="rect">
            <a:avLst/>
          </a:prstGeom>
          <a:noFill/>
        </p:spPr>
        <p:txBody>
          <a:bodyPr wrap="square" lIns="0" tIns="0" rIns="0" bIns="0" rtlCol="0">
            <a:spAutoFit/>
          </a:bodyPr>
          <a:lstStyle/>
          <a:p>
            <a:pPr algn="l">
              <a:spcBef>
                <a:spcPts val="432"/>
              </a:spcBef>
            </a:pPr>
            <a:r>
              <a:rPr lang="en-DK" dirty="0">
                <a:latin typeface="+mn-lt"/>
              </a:rPr>
              <a:t>Quantity (MWh)</a:t>
            </a:r>
          </a:p>
        </p:txBody>
      </p:sp>
      <p:cxnSp>
        <p:nvCxnSpPr>
          <p:cNvPr id="10" name="Straight Arrow Connector 9">
            <a:extLst>
              <a:ext uri="{FF2B5EF4-FFF2-40B4-BE49-F238E27FC236}">
                <a16:creationId xmlns:a16="http://schemas.microsoft.com/office/drawing/2014/main" id="{DF86D087-1F12-C135-B3AC-93D2A624852E}"/>
              </a:ext>
            </a:extLst>
          </p:cNvPr>
          <p:cNvCxnSpPr/>
          <p:nvPr/>
        </p:nvCxnSpPr>
        <p:spPr bwMode="auto">
          <a:xfrm>
            <a:off x="2819326" y="5261604"/>
            <a:ext cx="5220096" cy="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a:extLst>
              <a:ext uri="{FF2B5EF4-FFF2-40B4-BE49-F238E27FC236}">
                <a16:creationId xmlns:a16="http://schemas.microsoft.com/office/drawing/2014/main" id="{0ED55F1D-FF4A-F273-F655-387050C34332}"/>
              </a:ext>
            </a:extLst>
          </p:cNvPr>
          <p:cNvSpPr txBox="1"/>
          <p:nvPr/>
        </p:nvSpPr>
        <p:spPr>
          <a:xfrm>
            <a:off x="2098762" y="1288115"/>
            <a:ext cx="1512168" cy="246221"/>
          </a:xfrm>
          <a:prstGeom prst="rect">
            <a:avLst/>
          </a:prstGeom>
          <a:noFill/>
        </p:spPr>
        <p:txBody>
          <a:bodyPr wrap="square" lIns="0" tIns="0" rIns="0" bIns="0" rtlCol="0">
            <a:spAutoFit/>
          </a:bodyPr>
          <a:lstStyle/>
          <a:p>
            <a:pPr algn="l">
              <a:spcBef>
                <a:spcPts val="432"/>
              </a:spcBef>
            </a:pPr>
            <a:r>
              <a:rPr lang="en-DK" dirty="0">
                <a:latin typeface="+mn-lt"/>
              </a:rPr>
              <a:t>Price (€/MWh)</a:t>
            </a:r>
          </a:p>
        </p:txBody>
      </p:sp>
      <p:sp>
        <p:nvSpPr>
          <p:cNvPr id="35" name="TextBox 34">
            <a:extLst>
              <a:ext uri="{FF2B5EF4-FFF2-40B4-BE49-F238E27FC236}">
                <a16:creationId xmlns:a16="http://schemas.microsoft.com/office/drawing/2014/main" id="{30601F05-7B0C-57E5-4E77-FE0EC2AEC723}"/>
              </a:ext>
            </a:extLst>
          </p:cNvPr>
          <p:cNvSpPr txBox="1"/>
          <p:nvPr/>
        </p:nvSpPr>
        <p:spPr>
          <a:xfrm>
            <a:off x="3358902" y="5335776"/>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G1</a:t>
            </a:r>
          </a:p>
        </p:txBody>
      </p:sp>
      <p:sp>
        <p:nvSpPr>
          <p:cNvPr id="36" name="TextBox 35">
            <a:extLst>
              <a:ext uri="{FF2B5EF4-FFF2-40B4-BE49-F238E27FC236}">
                <a16:creationId xmlns:a16="http://schemas.microsoft.com/office/drawing/2014/main" id="{1EF6D5B7-BB63-EEB3-A702-60A18CB1CBED}"/>
              </a:ext>
            </a:extLst>
          </p:cNvPr>
          <p:cNvSpPr txBox="1"/>
          <p:nvPr/>
        </p:nvSpPr>
        <p:spPr>
          <a:xfrm>
            <a:off x="4299223" y="5335776"/>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G2</a:t>
            </a:r>
          </a:p>
        </p:txBody>
      </p:sp>
      <p:sp>
        <p:nvSpPr>
          <p:cNvPr id="37" name="TextBox 36">
            <a:extLst>
              <a:ext uri="{FF2B5EF4-FFF2-40B4-BE49-F238E27FC236}">
                <a16:creationId xmlns:a16="http://schemas.microsoft.com/office/drawing/2014/main" id="{1E7726FF-2BCE-2DFB-DA6F-93654C72354D}"/>
              </a:ext>
            </a:extLst>
          </p:cNvPr>
          <p:cNvSpPr txBox="1"/>
          <p:nvPr/>
        </p:nvSpPr>
        <p:spPr>
          <a:xfrm>
            <a:off x="5664763" y="5335776"/>
            <a:ext cx="405521" cy="184666"/>
          </a:xfrm>
          <a:prstGeom prst="rect">
            <a:avLst/>
          </a:prstGeom>
          <a:noFill/>
        </p:spPr>
        <p:txBody>
          <a:bodyPr wrap="square" lIns="0" tIns="0" rIns="0" bIns="0" rtlCol="0">
            <a:spAutoFit/>
          </a:bodyPr>
          <a:lstStyle/>
          <a:p>
            <a:pPr algn="l">
              <a:spcBef>
                <a:spcPts val="432"/>
              </a:spcBef>
            </a:pPr>
            <a:r>
              <a:rPr lang="en-DK" sz="1200" b="1" dirty="0">
                <a:latin typeface="+mn-lt"/>
              </a:rPr>
              <a:t>G3</a:t>
            </a:r>
          </a:p>
        </p:txBody>
      </p:sp>
      <p:sp>
        <p:nvSpPr>
          <p:cNvPr id="38" name="TextBox 37">
            <a:extLst>
              <a:ext uri="{FF2B5EF4-FFF2-40B4-BE49-F238E27FC236}">
                <a16:creationId xmlns:a16="http://schemas.microsoft.com/office/drawing/2014/main" id="{4FFDE89A-6BAE-4EBC-621D-9407E12E3890}"/>
              </a:ext>
            </a:extLst>
          </p:cNvPr>
          <p:cNvSpPr txBox="1"/>
          <p:nvPr/>
        </p:nvSpPr>
        <p:spPr>
          <a:xfrm>
            <a:off x="4998751" y="5329144"/>
            <a:ext cx="405521" cy="184666"/>
          </a:xfrm>
          <a:prstGeom prst="rect">
            <a:avLst/>
          </a:prstGeom>
          <a:noFill/>
        </p:spPr>
        <p:txBody>
          <a:bodyPr wrap="square" lIns="0" tIns="0" rIns="0" bIns="0" rtlCol="0">
            <a:spAutoFit/>
          </a:bodyPr>
          <a:lstStyle/>
          <a:p>
            <a:pPr algn="l">
              <a:spcBef>
                <a:spcPts val="432"/>
              </a:spcBef>
            </a:pPr>
            <a:r>
              <a:rPr lang="en-DK" sz="1200" b="1" dirty="0">
                <a:latin typeface="+mn-lt"/>
              </a:rPr>
              <a:t>G4</a:t>
            </a:r>
          </a:p>
        </p:txBody>
      </p:sp>
      <p:sp>
        <p:nvSpPr>
          <p:cNvPr id="39" name="TextBox 38">
            <a:extLst>
              <a:ext uri="{FF2B5EF4-FFF2-40B4-BE49-F238E27FC236}">
                <a16:creationId xmlns:a16="http://schemas.microsoft.com/office/drawing/2014/main" id="{06E5D0CB-3FDB-72A8-859D-1CCD2F22C05D}"/>
              </a:ext>
            </a:extLst>
          </p:cNvPr>
          <p:cNvSpPr txBox="1"/>
          <p:nvPr/>
        </p:nvSpPr>
        <p:spPr>
          <a:xfrm>
            <a:off x="6313005" y="5329144"/>
            <a:ext cx="309223" cy="184666"/>
          </a:xfrm>
          <a:prstGeom prst="rect">
            <a:avLst/>
          </a:prstGeom>
          <a:noFill/>
        </p:spPr>
        <p:txBody>
          <a:bodyPr wrap="square" lIns="0" tIns="0" rIns="0" bIns="0" rtlCol="0">
            <a:spAutoFit/>
          </a:bodyPr>
          <a:lstStyle/>
          <a:p>
            <a:pPr algn="l">
              <a:spcBef>
                <a:spcPts val="432"/>
              </a:spcBef>
            </a:pPr>
            <a:r>
              <a:rPr lang="en-DK" sz="1200" b="1" dirty="0">
                <a:latin typeface="+mn-lt"/>
              </a:rPr>
              <a:t>G5</a:t>
            </a:r>
          </a:p>
        </p:txBody>
      </p:sp>
      <p:sp>
        <p:nvSpPr>
          <p:cNvPr id="7" name="Rectangle 6">
            <a:extLst>
              <a:ext uri="{FF2B5EF4-FFF2-40B4-BE49-F238E27FC236}">
                <a16:creationId xmlns:a16="http://schemas.microsoft.com/office/drawing/2014/main" id="{BDB561FE-2FD3-079B-A54F-04480CEB0A60}"/>
              </a:ext>
            </a:extLst>
          </p:cNvPr>
          <p:cNvSpPr/>
          <p:nvPr/>
        </p:nvSpPr>
        <p:spPr bwMode="auto">
          <a:xfrm>
            <a:off x="5317933" y="3580462"/>
            <a:ext cx="849281" cy="1653390"/>
          </a:xfrm>
          <a:prstGeom prst="rect">
            <a:avLst/>
          </a:prstGeom>
          <a:solidFill>
            <a:schemeClr val="accent3">
              <a:lumMod val="40000"/>
              <a:lumOff val="60000"/>
            </a:schemeClr>
          </a:solidFill>
          <a:ln>
            <a:solidFill>
              <a:schemeClr val="accent3">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11" name="Straight Connector 10">
            <a:extLst>
              <a:ext uri="{FF2B5EF4-FFF2-40B4-BE49-F238E27FC236}">
                <a16:creationId xmlns:a16="http://schemas.microsoft.com/office/drawing/2014/main" id="{CF423C26-EE7E-EAFA-6173-11AED8874CA1}"/>
              </a:ext>
            </a:extLst>
          </p:cNvPr>
          <p:cNvCxnSpPr>
            <a:cxnSpLocks/>
          </p:cNvCxnSpPr>
          <p:nvPr/>
        </p:nvCxnSpPr>
        <p:spPr bwMode="auto">
          <a:xfrm>
            <a:off x="5519142" y="2132856"/>
            <a:ext cx="0" cy="3128748"/>
          </a:xfrm>
          <a:prstGeom prst="line">
            <a:avLst/>
          </a:prstGeom>
          <a:ln w="3810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25B2F7AE-D599-B817-CCA6-348AD1182D22}"/>
              </a:ext>
            </a:extLst>
          </p:cNvPr>
          <p:cNvSpPr txBox="1"/>
          <p:nvPr/>
        </p:nvSpPr>
        <p:spPr>
          <a:xfrm>
            <a:off x="5131505" y="1798455"/>
            <a:ext cx="1152128" cy="246221"/>
          </a:xfrm>
          <a:prstGeom prst="rect">
            <a:avLst/>
          </a:prstGeom>
          <a:noFill/>
        </p:spPr>
        <p:txBody>
          <a:bodyPr wrap="square" lIns="0" tIns="0" rIns="0" bIns="0" rtlCol="0">
            <a:spAutoFit/>
          </a:bodyPr>
          <a:lstStyle/>
          <a:p>
            <a:pPr algn="l">
              <a:spcBef>
                <a:spcPts val="432"/>
              </a:spcBef>
            </a:pPr>
            <a:r>
              <a:rPr lang="en-DK" dirty="0">
                <a:latin typeface="+mn-lt"/>
              </a:rPr>
              <a:t>Demand</a:t>
            </a:r>
          </a:p>
        </p:txBody>
      </p:sp>
      <p:cxnSp>
        <p:nvCxnSpPr>
          <p:cNvPr id="16" name="Straight Connector 15">
            <a:extLst>
              <a:ext uri="{FF2B5EF4-FFF2-40B4-BE49-F238E27FC236}">
                <a16:creationId xmlns:a16="http://schemas.microsoft.com/office/drawing/2014/main" id="{4FF14143-84B0-367D-7B16-DC0ED403B21F}"/>
              </a:ext>
            </a:extLst>
          </p:cNvPr>
          <p:cNvCxnSpPr>
            <a:cxnSpLocks/>
          </p:cNvCxnSpPr>
          <p:nvPr/>
        </p:nvCxnSpPr>
        <p:spPr bwMode="auto">
          <a:xfrm>
            <a:off x="2869619" y="3575805"/>
            <a:ext cx="2649523" cy="0"/>
          </a:xfrm>
          <a:prstGeom prst="line">
            <a:avLst/>
          </a:prstGeom>
          <a:solidFill>
            <a:schemeClr val="accent1"/>
          </a:solidFill>
          <a:ln w="38100" cap="flat" cmpd="sng" algn="ctr">
            <a:solidFill>
              <a:schemeClr val="tx1"/>
            </a:solidFill>
            <a:prstDash val="sysDot"/>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TextBox 20">
            <a:extLst>
              <a:ext uri="{FF2B5EF4-FFF2-40B4-BE49-F238E27FC236}">
                <a16:creationId xmlns:a16="http://schemas.microsoft.com/office/drawing/2014/main" id="{AF391257-C0E3-193C-C273-DB0DC0B46957}"/>
              </a:ext>
            </a:extLst>
          </p:cNvPr>
          <p:cNvSpPr txBox="1"/>
          <p:nvPr/>
        </p:nvSpPr>
        <p:spPr>
          <a:xfrm>
            <a:off x="818114" y="3434576"/>
            <a:ext cx="2279530" cy="246221"/>
          </a:xfrm>
          <a:prstGeom prst="rect">
            <a:avLst/>
          </a:prstGeom>
          <a:noFill/>
        </p:spPr>
        <p:txBody>
          <a:bodyPr wrap="square" lIns="0" tIns="0" rIns="0" bIns="0" rtlCol="0">
            <a:spAutoFit/>
          </a:bodyPr>
          <a:lstStyle/>
          <a:p>
            <a:pPr algn="l">
              <a:spcBef>
                <a:spcPts val="432"/>
              </a:spcBef>
            </a:pPr>
            <a:r>
              <a:rPr lang="en-DK" dirty="0">
                <a:latin typeface="+mn-lt"/>
              </a:rPr>
              <a:t>Market clearing price</a:t>
            </a:r>
          </a:p>
        </p:txBody>
      </p:sp>
      <p:graphicFrame>
        <p:nvGraphicFramePr>
          <p:cNvPr id="27" name="Table 26">
            <a:extLst>
              <a:ext uri="{FF2B5EF4-FFF2-40B4-BE49-F238E27FC236}">
                <a16:creationId xmlns:a16="http://schemas.microsoft.com/office/drawing/2014/main" id="{6A33A140-1150-C858-F6BA-995DF135B8FC}"/>
              </a:ext>
            </a:extLst>
          </p:cNvPr>
          <p:cNvGraphicFramePr>
            <a:graphicFrameLocks noGrp="1"/>
          </p:cNvGraphicFramePr>
          <p:nvPr>
            <p:extLst>
              <p:ext uri="{D42A27DB-BD31-4B8C-83A1-F6EECF244321}">
                <p14:modId xmlns:p14="http://schemas.microsoft.com/office/powerpoint/2010/main" val="114339589"/>
              </p:ext>
            </p:extLst>
          </p:nvPr>
        </p:nvGraphicFramePr>
        <p:xfrm>
          <a:off x="7747419" y="1558226"/>
          <a:ext cx="4264113" cy="2433320"/>
        </p:xfrm>
        <a:graphic>
          <a:graphicData uri="http://schemas.openxmlformats.org/drawingml/2006/table">
            <a:tbl>
              <a:tblPr firstRow="1" bandRow="1">
                <a:tableStyleId>{5C22544A-7EE6-4342-B048-85BDC9FD1C3A}</a:tableStyleId>
              </a:tblPr>
              <a:tblGrid>
                <a:gridCol w="1421371">
                  <a:extLst>
                    <a:ext uri="{9D8B030D-6E8A-4147-A177-3AD203B41FA5}">
                      <a16:colId xmlns:a16="http://schemas.microsoft.com/office/drawing/2014/main" val="2120270077"/>
                    </a:ext>
                  </a:extLst>
                </a:gridCol>
                <a:gridCol w="1421371">
                  <a:extLst>
                    <a:ext uri="{9D8B030D-6E8A-4147-A177-3AD203B41FA5}">
                      <a16:colId xmlns:a16="http://schemas.microsoft.com/office/drawing/2014/main" val="4249083467"/>
                    </a:ext>
                  </a:extLst>
                </a:gridCol>
                <a:gridCol w="1421371">
                  <a:extLst>
                    <a:ext uri="{9D8B030D-6E8A-4147-A177-3AD203B41FA5}">
                      <a16:colId xmlns:a16="http://schemas.microsoft.com/office/drawing/2014/main" val="2841158744"/>
                    </a:ext>
                  </a:extLst>
                </a:gridCol>
              </a:tblGrid>
              <a:tr h="370840">
                <a:tc>
                  <a:txBody>
                    <a:bodyPr/>
                    <a:lstStyle/>
                    <a:p>
                      <a:pPr algn="ctr"/>
                      <a:r>
                        <a:rPr lang="en-DK" sz="1600" dirty="0"/>
                        <a:t>Generator</a:t>
                      </a:r>
                    </a:p>
                  </a:txBody>
                  <a:tcPr anchor="ctr"/>
                </a:tc>
                <a:tc>
                  <a:txBody>
                    <a:bodyPr/>
                    <a:lstStyle/>
                    <a:p>
                      <a:pPr algn="ctr"/>
                      <a:r>
                        <a:rPr lang="en-US" sz="1600" dirty="0"/>
                        <a:t>Producing cost</a:t>
                      </a:r>
                      <a:endParaRPr lang="en-DK" sz="1600" dirty="0"/>
                    </a:p>
                  </a:txBody>
                  <a:tcPr anchor="ctr"/>
                </a:tc>
                <a:tc>
                  <a:txBody>
                    <a:bodyPr/>
                    <a:lstStyle/>
                    <a:p>
                      <a:pPr algn="ctr"/>
                      <a:r>
                        <a:rPr lang="en-DK" sz="1600" dirty="0"/>
                        <a:t>Generation</a:t>
                      </a:r>
                    </a:p>
                  </a:txBody>
                  <a:tcPr anchor="ctr"/>
                </a:tc>
                <a:extLst>
                  <a:ext uri="{0D108BD9-81ED-4DB2-BD59-A6C34878D82A}">
                    <a16:rowId xmlns:a16="http://schemas.microsoft.com/office/drawing/2014/main" val="1535084899"/>
                  </a:ext>
                </a:extLst>
              </a:tr>
              <a:tr h="370840">
                <a:tc>
                  <a:txBody>
                    <a:bodyPr/>
                    <a:lstStyle/>
                    <a:p>
                      <a:pPr algn="ctr"/>
                      <a:r>
                        <a:rPr lang="en-DK" b="1" dirty="0"/>
                        <a:t>G1</a:t>
                      </a:r>
                    </a:p>
                  </a:txBody>
                  <a:tcPr/>
                </a:tc>
                <a:tc>
                  <a:txBody>
                    <a:bodyPr/>
                    <a:lstStyle/>
                    <a:p>
                      <a:pPr algn="ctr"/>
                      <a:r>
                        <a:rPr lang="en-US" b="1" dirty="0"/>
                        <a:t>500</a:t>
                      </a:r>
                      <a:endParaRPr lang="en-DK" b="1" dirty="0"/>
                    </a:p>
                  </a:txBody>
                  <a:tcPr/>
                </a:tc>
                <a:tc>
                  <a:txBody>
                    <a:bodyPr/>
                    <a:lstStyle/>
                    <a:p>
                      <a:pPr algn="ctr"/>
                      <a:r>
                        <a:rPr lang="en-DK" b="1" dirty="0"/>
                        <a:t>100%</a:t>
                      </a:r>
                    </a:p>
                  </a:txBody>
                  <a:tcPr/>
                </a:tc>
                <a:extLst>
                  <a:ext uri="{0D108BD9-81ED-4DB2-BD59-A6C34878D82A}">
                    <a16:rowId xmlns:a16="http://schemas.microsoft.com/office/drawing/2014/main" val="1136424323"/>
                  </a:ext>
                </a:extLst>
              </a:tr>
              <a:tr h="370840">
                <a:tc>
                  <a:txBody>
                    <a:bodyPr/>
                    <a:lstStyle/>
                    <a:p>
                      <a:pPr algn="ctr"/>
                      <a:r>
                        <a:rPr lang="en-DK" b="1" dirty="0"/>
                        <a:t>G2</a:t>
                      </a:r>
                    </a:p>
                  </a:txBody>
                  <a:tcPr/>
                </a:tc>
                <a:tc>
                  <a:txBody>
                    <a:bodyPr/>
                    <a:lstStyle/>
                    <a:p>
                      <a:pPr algn="ctr"/>
                      <a:r>
                        <a:rPr lang="en-US" b="1" dirty="0"/>
                        <a:t>500</a:t>
                      </a:r>
                      <a:endParaRPr lang="en-DK" b="1" dirty="0"/>
                    </a:p>
                  </a:txBody>
                  <a:tcPr/>
                </a:tc>
                <a:tc>
                  <a:txBody>
                    <a:bodyPr/>
                    <a:lstStyle/>
                    <a:p>
                      <a:pPr algn="ctr"/>
                      <a:r>
                        <a:rPr lang="en-DK" b="1" dirty="0"/>
                        <a:t>100%</a:t>
                      </a:r>
                    </a:p>
                  </a:txBody>
                  <a:tcPr/>
                </a:tc>
                <a:extLst>
                  <a:ext uri="{0D108BD9-81ED-4DB2-BD59-A6C34878D82A}">
                    <a16:rowId xmlns:a16="http://schemas.microsoft.com/office/drawing/2014/main" val="1590719974"/>
                  </a:ext>
                </a:extLst>
              </a:tr>
              <a:tr h="370840">
                <a:tc>
                  <a:txBody>
                    <a:bodyPr/>
                    <a:lstStyle/>
                    <a:p>
                      <a:pPr algn="ctr"/>
                      <a:r>
                        <a:rPr lang="en-DK" b="1" dirty="0"/>
                        <a:t>G3</a:t>
                      </a:r>
                    </a:p>
                  </a:txBody>
                  <a:tcPr/>
                </a:tc>
                <a:tc>
                  <a:txBody>
                    <a:bodyPr/>
                    <a:lstStyle/>
                    <a:p>
                      <a:pPr algn="ctr"/>
                      <a:r>
                        <a:rPr lang="en-US" b="1" dirty="0"/>
                        <a:t>250</a:t>
                      </a:r>
                      <a:endParaRPr lang="en-DK" b="1" dirty="0"/>
                    </a:p>
                  </a:txBody>
                  <a:tcPr/>
                </a:tc>
                <a:tc>
                  <a:txBody>
                    <a:bodyPr/>
                    <a:lstStyle/>
                    <a:p>
                      <a:pPr algn="ctr"/>
                      <a:r>
                        <a:rPr lang="en-DK" b="1" dirty="0"/>
                        <a:t>20%</a:t>
                      </a:r>
                    </a:p>
                  </a:txBody>
                  <a:tcPr/>
                </a:tc>
                <a:extLst>
                  <a:ext uri="{0D108BD9-81ED-4DB2-BD59-A6C34878D82A}">
                    <a16:rowId xmlns:a16="http://schemas.microsoft.com/office/drawing/2014/main" val="3534962959"/>
                  </a:ext>
                </a:extLst>
              </a:tr>
              <a:tr h="370840">
                <a:tc>
                  <a:txBody>
                    <a:bodyPr/>
                    <a:lstStyle/>
                    <a:p>
                      <a:pPr algn="ctr"/>
                      <a:r>
                        <a:rPr lang="en-DK" b="1" dirty="0"/>
                        <a:t>G4</a:t>
                      </a:r>
                    </a:p>
                  </a:txBody>
                  <a:tcPr/>
                </a:tc>
                <a:tc>
                  <a:txBody>
                    <a:bodyPr/>
                    <a:lstStyle/>
                    <a:p>
                      <a:pPr algn="ctr"/>
                      <a:r>
                        <a:rPr lang="en-US" b="1" dirty="0"/>
                        <a:t>1200</a:t>
                      </a:r>
                      <a:endParaRPr lang="en-DK" b="1" dirty="0"/>
                    </a:p>
                  </a:txBody>
                  <a:tcPr/>
                </a:tc>
                <a:tc>
                  <a:txBody>
                    <a:bodyPr/>
                    <a:lstStyle/>
                    <a:p>
                      <a:pPr algn="ctr"/>
                      <a:r>
                        <a:rPr lang="en-DK" b="1" dirty="0"/>
                        <a:t>100%</a:t>
                      </a:r>
                    </a:p>
                  </a:txBody>
                  <a:tcPr/>
                </a:tc>
                <a:extLst>
                  <a:ext uri="{0D108BD9-81ED-4DB2-BD59-A6C34878D82A}">
                    <a16:rowId xmlns:a16="http://schemas.microsoft.com/office/drawing/2014/main" val="626535670"/>
                  </a:ext>
                </a:extLst>
              </a:tr>
              <a:tr h="370840">
                <a:tc>
                  <a:txBody>
                    <a:bodyPr/>
                    <a:lstStyle/>
                    <a:p>
                      <a:pPr algn="ctr"/>
                      <a:r>
                        <a:rPr lang="en-DK" b="1" dirty="0"/>
                        <a:t>Total</a:t>
                      </a:r>
                    </a:p>
                  </a:txBody>
                  <a:tcPr/>
                </a:tc>
                <a:tc>
                  <a:txBody>
                    <a:bodyPr/>
                    <a:lstStyle/>
                    <a:p>
                      <a:pPr algn="ctr"/>
                      <a:r>
                        <a:rPr lang="en-US" b="1" dirty="0">
                          <a:solidFill>
                            <a:srgbClr val="FF0000"/>
                          </a:solidFill>
                        </a:rPr>
                        <a:t>2450</a:t>
                      </a:r>
                      <a:endParaRPr lang="en-DK" b="1" dirty="0">
                        <a:solidFill>
                          <a:srgbClr val="FF0000"/>
                        </a:solidFill>
                      </a:endParaRPr>
                    </a:p>
                  </a:txBody>
                  <a:tcPr/>
                </a:tc>
                <a:tc>
                  <a:txBody>
                    <a:bodyPr/>
                    <a:lstStyle/>
                    <a:p>
                      <a:pPr algn="ctr"/>
                      <a:r>
                        <a:rPr lang="en-DK" b="1" dirty="0"/>
                        <a:t>-</a:t>
                      </a:r>
                    </a:p>
                  </a:txBody>
                  <a:tcPr/>
                </a:tc>
                <a:extLst>
                  <a:ext uri="{0D108BD9-81ED-4DB2-BD59-A6C34878D82A}">
                    <a16:rowId xmlns:a16="http://schemas.microsoft.com/office/drawing/2014/main" val="2578818775"/>
                  </a:ext>
                </a:extLst>
              </a:tr>
            </a:tbl>
          </a:graphicData>
        </a:graphic>
      </p:graphicFrame>
      <p:sp>
        <p:nvSpPr>
          <p:cNvPr id="28" name="Right Brace 27">
            <a:extLst>
              <a:ext uri="{FF2B5EF4-FFF2-40B4-BE49-F238E27FC236}">
                <a16:creationId xmlns:a16="http://schemas.microsoft.com/office/drawing/2014/main" id="{1529E550-F346-F0AD-CF42-88CE781FFC0E}"/>
              </a:ext>
            </a:extLst>
          </p:cNvPr>
          <p:cNvSpPr/>
          <p:nvPr/>
        </p:nvSpPr>
        <p:spPr bwMode="auto">
          <a:xfrm rot="5400000">
            <a:off x="4002723" y="4410615"/>
            <a:ext cx="252000" cy="2601303"/>
          </a:xfrm>
          <a:prstGeom prst="rightBrace">
            <a:avLst>
              <a:gd name="adj1" fmla="val 69983"/>
              <a:gd name="adj2" fmla="val 50000"/>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DK"/>
          </a:p>
        </p:txBody>
      </p:sp>
      <p:sp>
        <p:nvSpPr>
          <p:cNvPr id="29" name="Right Brace 28">
            <a:extLst>
              <a:ext uri="{FF2B5EF4-FFF2-40B4-BE49-F238E27FC236}">
                <a16:creationId xmlns:a16="http://schemas.microsoft.com/office/drawing/2014/main" id="{7D21F2A0-EFF7-322A-ED28-67FEAADFF303}"/>
              </a:ext>
            </a:extLst>
          </p:cNvPr>
          <p:cNvSpPr/>
          <p:nvPr/>
        </p:nvSpPr>
        <p:spPr bwMode="auto">
          <a:xfrm rot="5400000">
            <a:off x="5922177" y="5115094"/>
            <a:ext cx="252000" cy="1214898"/>
          </a:xfrm>
          <a:prstGeom prst="rightBrace">
            <a:avLst>
              <a:gd name="adj1" fmla="val 69983"/>
              <a:gd name="adj2" fmla="val 50000"/>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DK"/>
          </a:p>
        </p:txBody>
      </p:sp>
      <p:sp>
        <p:nvSpPr>
          <p:cNvPr id="30" name="TextBox 29">
            <a:extLst>
              <a:ext uri="{FF2B5EF4-FFF2-40B4-BE49-F238E27FC236}">
                <a16:creationId xmlns:a16="http://schemas.microsoft.com/office/drawing/2014/main" id="{041601F0-591D-90BB-84C1-8D68A9B9F264}"/>
              </a:ext>
            </a:extLst>
          </p:cNvPr>
          <p:cNvSpPr txBox="1"/>
          <p:nvPr/>
        </p:nvSpPr>
        <p:spPr>
          <a:xfrm>
            <a:off x="3358902" y="5917510"/>
            <a:ext cx="1660401" cy="246221"/>
          </a:xfrm>
          <a:prstGeom prst="rect">
            <a:avLst/>
          </a:prstGeom>
          <a:noFill/>
        </p:spPr>
        <p:txBody>
          <a:bodyPr wrap="square" lIns="0" tIns="0" rIns="0" bIns="0" rtlCol="0">
            <a:spAutoFit/>
          </a:bodyPr>
          <a:lstStyle/>
          <a:p>
            <a:pPr algn="l">
              <a:spcBef>
                <a:spcPts val="432"/>
              </a:spcBef>
            </a:pPr>
            <a:r>
              <a:rPr lang="en-DK" dirty="0">
                <a:latin typeface="+mn-lt"/>
              </a:rPr>
              <a:t>Generating power</a:t>
            </a:r>
          </a:p>
        </p:txBody>
      </p:sp>
      <p:sp>
        <p:nvSpPr>
          <p:cNvPr id="31" name="TextBox 30">
            <a:extLst>
              <a:ext uri="{FF2B5EF4-FFF2-40B4-BE49-F238E27FC236}">
                <a16:creationId xmlns:a16="http://schemas.microsoft.com/office/drawing/2014/main" id="{D99ADB62-9D4E-9BA4-61BA-C1337F070C60}"/>
              </a:ext>
            </a:extLst>
          </p:cNvPr>
          <p:cNvSpPr txBox="1"/>
          <p:nvPr/>
        </p:nvSpPr>
        <p:spPr>
          <a:xfrm>
            <a:off x="6313005" y="5937259"/>
            <a:ext cx="540805" cy="246221"/>
          </a:xfrm>
          <a:prstGeom prst="rect">
            <a:avLst/>
          </a:prstGeom>
          <a:noFill/>
        </p:spPr>
        <p:txBody>
          <a:bodyPr wrap="square" lIns="0" tIns="0" rIns="0" bIns="0" rtlCol="0">
            <a:spAutoFit/>
          </a:bodyPr>
          <a:lstStyle/>
          <a:p>
            <a:pPr algn="l">
              <a:spcBef>
                <a:spcPts val="432"/>
              </a:spcBef>
            </a:pPr>
            <a:r>
              <a:rPr lang="en-DK" dirty="0">
                <a:latin typeface="+mn-lt"/>
              </a:rPr>
              <a:t>Off</a:t>
            </a:r>
          </a:p>
        </p:txBody>
      </p:sp>
      <p:cxnSp>
        <p:nvCxnSpPr>
          <p:cNvPr id="12" name="Straight Connector 11">
            <a:extLst>
              <a:ext uri="{FF2B5EF4-FFF2-40B4-BE49-F238E27FC236}">
                <a16:creationId xmlns:a16="http://schemas.microsoft.com/office/drawing/2014/main" id="{481CE632-0733-F34F-EF0F-9C512A0860FB}"/>
              </a:ext>
            </a:extLst>
          </p:cNvPr>
          <p:cNvCxnSpPr>
            <a:cxnSpLocks/>
          </p:cNvCxnSpPr>
          <p:nvPr/>
        </p:nvCxnSpPr>
        <p:spPr bwMode="auto">
          <a:xfrm>
            <a:off x="5519142" y="2132856"/>
            <a:ext cx="0" cy="3128748"/>
          </a:xfrm>
          <a:prstGeom prst="line">
            <a:avLst/>
          </a:prstGeom>
          <a:ln w="3810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A44D6943-A528-CA89-8496-A9E6AA95851B}"/>
              </a:ext>
            </a:extLst>
          </p:cNvPr>
          <p:cNvCxnSpPr/>
          <p:nvPr/>
        </p:nvCxnSpPr>
        <p:spPr bwMode="auto">
          <a:xfrm>
            <a:off x="5317933" y="4400648"/>
            <a:ext cx="849281" cy="0"/>
          </a:xfrm>
          <a:prstGeom prst="line">
            <a:avLst/>
          </a:prstGeom>
          <a:solidFill>
            <a:schemeClr val="accent1"/>
          </a:solidFill>
          <a:ln w="28575" cap="flat" cmpd="sng" algn="ctr">
            <a:solidFill>
              <a:schemeClr val="accent3">
                <a:lumMod val="75000"/>
              </a:schemeClr>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Rectangle 21">
            <a:extLst>
              <a:ext uri="{FF2B5EF4-FFF2-40B4-BE49-F238E27FC236}">
                <a16:creationId xmlns:a16="http://schemas.microsoft.com/office/drawing/2014/main" id="{70E97854-B530-2A1A-EA0D-740D88158252}"/>
              </a:ext>
            </a:extLst>
          </p:cNvPr>
          <p:cNvSpPr/>
          <p:nvPr/>
        </p:nvSpPr>
        <p:spPr bwMode="auto">
          <a:xfrm>
            <a:off x="2854846" y="5085184"/>
            <a:ext cx="1224136" cy="156557"/>
          </a:xfrm>
          <a:prstGeom prst="rect">
            <a:avLst/>
          </a:prstGeom>
          <a:solidFill>
            <a:schemeClr val="accent5">
              <a:lumMod val="40000"/>
              <a:lumOff val="60000"/>
              <a:alpha val="67059"/>
            </a:schemeClr>
          </a:solidFill>
          <a:ln>
            <a:solidFill>
              <a:schemeClr val="accent5"/>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32" name="Rectangle 31">
            <a:extLst>
              <a:ext uri="{FF2B5EF4-FFF2-40B4-BE49-F238E27FC236}">
                <a16:creationId xmlns:a16="http://schemas.microsoft.com/office/drawing/2014/main" id="{38589691-33A0-D213-3E96-7E22B1B4431A}"/>
              </a:ext>
            </a:extLst>
          </p:cNvPr>
          <p:cNvSpPr/>
          <p:nvPr/>
        </p:nvSpPr>
        <p:spPr bwMode="auto">
          <a:xfrm>
            <a:off x="5531953" y="3587628"/>
            <a:ext cx="657934" cy="1653389"/>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34" name="Rectangle 33">
            <a:extLst>
              <a:ext uri="{FF2B5EF4-FFF2-40B4-BE49-F238E27FC236}">
                <a16:creationId xmlns:a16="http://schemas.microsoft.com/office/drawing/2014/main" id="{D2006BD6-6341-843D-A241-9EA8768CD16B}"/>
              </a:ext>
            </a:extLst>
          </p:cNvPr>
          <p:cNvSpPr/>
          <p:nvPr/>
        </p:nvSpPr>
        <p:spPr bwMode="auto">
          <a:xfrm>
            <a:off x="6187517" y="2996954"/>
            <a:ext cx="468109" cy="2245628"/>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Tree>
    <p:extLst>
      <p:ext uri="{BB962C8B-B14F-4D97-AF65-F5344CB8AC3E}">
        <p14:creationId xmlns:p14="http://schemas.microsoft.com/office/powerpoint/2010/main" val="716361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Content Placeholder 39">
            <a:extLst>
              <a:ext uri="{FF2B5EF4-FFF2-40B4-BE49-F238E27FC236}">
                <a16:creationId xmlns:a16="http://schemas.microsoft.com/office/drawing/2014/main" id="{BA52ADEB-99DF-7B96-658D-EFB901652BCE}"/>
              </a:ext>
            </a:extLst>
          </p:cNvPr>
          <p:cNvGraphicFramePr>
            <a:graphicFrameLocks noGrp="1"/>
          </p:cNvGraphicFramePr>
          <p:nvPr>
            <p:ph idx="1"/>
            <p:extLst>
              <p:ext uri="{D42A27DB-BD31-4B8C-83A1-F6EECF244321}">
                <p14:modId xmlns:p14="http://schemas.microsoft.com/office/powerpoint/2010/main" val="1669963936"/>
              </p:ext>
            </p:extLst>
          </p:nvPr>
        </p:nvGraphicFramePr>
        <p:xfrm>
          <a:off x="1996465" y="3068960"/>
          <a:ext cx="3299901" cy="1883093"/>
        </p:xfrm>
        <a:graphic>
          <a:graphicData uri="http://schemas.openxmlformats.org/drawingml/2006/table">
            <a:tbl>
              <a:tblPr firstRow="1" bandRow="1">
                <a:tableStyleId>{5C22544A-7EE6-4342-B048-85BDC9FD1C3A}</a:tableStyleId>
              </a:tblPr>
              <a:tblGrid>
                <a:gridCol w="1099967">
                  <a:extLst>
                    <a:ext uri="{9D8B030D-6E8A-4147-A177-3AD203B41FA5}">
                      <a16:colId xmlns:a16="http://schemas.microsoft.com/office/drawing/2014/main" val="573047106"/>
                    </a:ext>
                  </a:extLst>
                </a:gridCol>
                <a:gridCol w="1099967">
                  <a:extLst>
                    <a:ext uri="{9D8B030D-6E8A-4147-A177-3AD203B41FA5}">
                      <a16:colId xmlns:a16="http://schemas.microsoft.com/office/drawing/2014/main" val="2913808414"/>
                    </a:ext>
                  </a:extLst>
                </a:gridCol>
                <a:gridCol w="1099967">
                  <a:extLst>
                    <a:ext uri="{9D8B030D-6E8A-4147-A177-3AD203B41FA5}">
                      <a16:colId xmlns:a16="http://schemas.microsoft.com/office/drawing/2014/main" val="321115321"/>
                    </a:ext>
                  </a:extLst>
                </a:gridCol>
              </a:tblGrid>
              <a:tr h="448168">
                <a:tc>
                  <a:txBody>
                    <a:bodyPr/>
                    <a:lstStyle/>
                    <a:p>
                      <a:pPr algn="ctr"/>
                      <a:r>
                        <a:rPr lang="en-DK" sz="1200" dirty="0"/>
                        <a:t>Generator</a:t>
                      </a:r>
                    </a:p>
                  </a:txBody>
                  <a:tcPr marL="70763" marR="70763" marT="35382" marB="35382" anchor="ctr"/>
                </a:tc>
                <a:tc>
                  <a:txBody>
                    <a:bodyPr/>
                    <a:lstStyle/>
                    <a:p>
                      <a:pPr algn="ctr"/>
                      <a:r>
                        <a:rPr lang="en-US" sz="1200" dirty="0"/>
                        <a:t>Producing cost</a:t>
                      </a:r>
                      <a:endParaRPr lang="en-DK" sz="1200" dirty="0"/>
                    </a:p>
                  </a:txBody>
                  <a:tcPr marL="70763" marR="70763" marT="35382" marB="35382" anchor="ctr"/>
                </a:tc>
                <a:tc>
                  <a:txBody>
                    <a:bodyPr/>
                    <a:lstStyle/>
                    <a:p>
                      <a:pPr algn="ctr"/>
                      <a:r>
                        <a:rPr lang="en-DK" sz="1200" dirty="0"/>
                        <a:t>Generation</a:t>
                      </a:r>
                    </a:p>
                  </a:txBody>
                  <a:tcPr marL="70763" marR="70763" marT="35382" marB="35382" anchor="ctr"/>
                </a:tc>
                <a:extLst>
                  <a:ext uri="{0D108BD9-81ED-4DB2-BD59-A6C34878D82A}">
                    <a16:rowId xmlns:a16="http://schemas.microsoft.com/office/drawing/2014/main" val="1008689435"/>
                  </a:ext>
                </a:extLst>
              </a:tr>
              <a:tr h="286985">
                <a:tc>
                  <a:txBody>
                    <a:bodyPr/>
                    <a:lstStyle/>
                    <a:p>
                      <a:pPr algn="ctr"/>
                      <a:r>
                        <a:rPr lang="en-DK" sz="1400" b="1" dirty="0"/>
                        <a:t>G1</a:t>
                      </a:r>
                    </a:p>
                  </a:txBody>
                  <a:tcPr marL="70763" marR="70763" marT="35382" marB="35382"/>
                </a:tc>
                <a:tc>
                  <a:txBody>
                    <a:bodyPr/>
                    <a:lstStyle/>
                    <a:p>
                      <a:pPr algn="ctr"/>
                      <a:r>
                        <a:rPr lang="en-US" sz="1400" b="1" dirty="0"/>
                        <a:t>500</a:t>
                      </a:r>
                      <a:endParaRPr lang="en-DK" sz="1400" b="1" dirty="0"/>
                    </a:p>
                  </a:txBody>
                  <a:tcPr marL="70763" marR="70763" marT="35382" marB="35382"/>
                </a:tc>
                <a:tc>
                  <a:txBody>
                    <a:bodyPr/>
                    <a:lstStyle/>
                    <a:p>
                      <a:pPr algn="ctr"/>
                      <a:r>
                        <a:rPr lang="en-DK" sz="1400" b="1" dirty="0"/>
                        <a:t>100%</a:t>
                      </a:r>
                    </a:p>
                  </a:txBody>
                  <a:tcPr marL="70763" marR="70763" marT="35382" marB="35382"/>
                </a:tc>
                <a:extLst>
                  <a:ext uri="{0D108BD9-81ED-4DB2-BD59-A6C34878D82A}">
                    <a16:rowId xmlns:a16="http://schemas.microsoft.com/office/drawing/2014/main" val="24852771"/>
                  </a:ext>
                </a:extLst>
              </a:tr>
              <a:tr h="286985">
                <a:tc>
                  <a:txBody>
                    <a:bodyPr/>
                    <a:lstStyle/>
                    <a:p>
                      <a:pPr algn="ctr"/>
                      <a:r>
                        <a:rPr lang="en-DK" sz="1400" b="1" dirty="0"/>
                        <a:t>G2</a:t>
                      </a:r>
                    </a:p>
                  </a:txBody>
                  <a:tcPr marL="70763" marR="70763" marT="35382" marB="35382"/>
                </a:tc>
                <a:tc>
                  <a:txBody>
                    <a:bodyPr/>
                    <a:lstStyle/>
                    <a:p>
                      <a:pPr algn="ctr"/>
                      <a:r>
                        <a:rPr lang="en-US" sz="1400" b="1" dirty="0"/>
                        <a:t>500</a:t>
                      </a:r>
                      <a:endParaRPr lang="en-DK" sz="1400" b="1" dirty="0"/>
                    </a:p>
                  </a:txBody>
                  <a:tcPr marL="70763" marR="70763" marT="35382" marB="35382"/>
                </a:tc>
                <a:tc>
                  <a:txBody>
                    <a:bodyPr/>
                    <a:lstStyle/>
                    <a:p>
                      <a:pPr algn="ctr"/>
                      <a:r>
                        <a:rPr lang="en-DK" sz="1400" b="1" dirty="0"/>
                        <a:t>100%</a:t>
                      </a:r>
                    </a:p>
                  </a:txBody>
                  <a:tcPr marL="70763" marR="70763" marT="35382" marB="35382"/>
                </a:tc>
                <a:extLst>
                  <a:ext uri="{0D108BD9-81ED-4DB2-BD59-A6C34878D82A}">
                    <a16:rowId xmlns:a16="http://schemas.microsoft.com/office/drawing/2014/main" val="778267889"/>
                  </a:ext>
                </a:extLst>
              </a:tr>
              <a:tr h="286985">
                <a:tc>
                  <a:txBody>
                    <a:bodyPr/>
                    <a:lstStyle/>
                    <a:p>
                      <a:pPr algn="ctr"/>
                      <a:r>
                        <a:rPr lang="en-DK" sz="1400" b="1" dirty="0"/>
                        <a:t>G3</a:t>
                      </a:r>
                    </a:p>
                  </a:txBody>
                  <a:tcPr marL="70763" marR="70763" marT="35382" marB="35382"/>
                </a:tc>
                <a:tc>
                  <a:txBody>
                    <a:bodyPr/>
                    <a:lstStyle/>
                    <a:p>
                      <a:pPr algn="ctr"/>
                      <a:r>
                        <a:rPr lang="en-US" sz="1400" b="1" dirty="0"/>
                        <a:t>1000</a:t>
                      </a:r>
                      <a:endParaRPr lang="en-DK" sz="1400" b="1" dirty="0"/>
                    </a:p>
                  </a:txBody>
                  <a:tcPr marL="70763" marR="70763" marT="35382" marB="35382"/>
                </a:tc>
                <a:tc>
                  <a:txBody>
                    <a:bodyPr/>
                    <a:lstStyle/>
                    <a:p>
                      <a:pPr algn="ctr"/>
                      <a:r>
                        <a:rPr lang="en-DK" sz="1400" b="1" dirty="0"/>
                        <a:t>80%</a:t>
                      </a:r>
                    </a:p>
                  </a:txBody>
                  <a:tcPr marL="70763" marR="70763" marT="35382" marB="35382"/>
                </a:tc>
                <a:extLst>
                  <a:ext uri="{0D108BD9-81ED-4DB2-BD59-A6C34878D82A}">
                    <a16:rowId xmlns:a16="http://schemas.microsoft.com/office/drawing/2014/main" val="3879951737"/>
                  </a:ext>
                </a:extLst>
              </a:tr>
              <a:tr h="286985">
                <a:tc>
                  <a:txBody>
                    <a:bodyPr/>
                    <a:lstStyle/>
                    <a:p>
                      <a:pPr algn="ctr"/>
                      <a:r>
                        <a:rPr lang="en-DK" sz="1400" dirty="0"/>
                        <a:t>G4</a:t>
                      </a:r>
                    </a:p>
                  </a:txBody>
                  <a:tcPr marL="70763" marR="70763" marT="35382" marB="35382"/>
                </a:tc>
                <a:tc>
                  <a:txBody>
                    <a:bodyPr/>
                    <a:lstStyle/>
                    <a:p>
                      <a:pPr algn="ctr"/>
                      <a:r>
                        <a:rPr lang="en-DK" sz="1400" dirty="0"/>
                        <a:t>0</a:t>
                      </a:r>
                    </a:p>
                  </a:txBody>
                  <a:tcPr marL="70763" marR="70763" marT="35382" marB="35382"/>
                </a:tc>
                <a:tc>
                  <a:txBody>
                    <a:bodyPr/>
                    <a:lstStyle/>
                    <a:p>
                      <a:pPr algn="ctr"/>
                      <a:r>
                        <a:rPr lang="en-DK" sz="1400" dirty="0"/>
                        <a:t>0%</a:t>
                      </a:r>
                    </a:p>
                  </a:txBody>
                  <a:tcPr marL="70763" marR="70763" marT="35382" marB="35382"/>
                </a:tc>
                <a:extLst>
                  <a:ext uri="{0D108BD9-81ED-4DB2-BD59-A6C34878D82A}">
                    <a16:rowId xmlns:a16="http://schemas.microsoft.com/office/drawing/2014/main" val="1224880171"/>
                  </a:ext>
                </a:extLst>
              </a:tr>
              <a:tr h="286985">
                <a:tc>
                  <a:txBody>
                    <a:bodyPr/>
                    <a:lstStyle/>
                    <a:p>
                      <a:pPr algn="ctr"/>
                      <a:r>
                        <a:rPr lang="en-DK" sz="1400" b="1" dirty="0"/>
                        <a:t>Total</a:t>
                      </a:r>
                    </a:p>
                  </a:txBody>
                  <a:tcPr marL="70763" marR="70763" marT="35382" marB="35382"/>
                </a:tc>
                <a:tc>
                  <a:txBody>
                    <a:bodyPr/>
                    <a:lstStyle/>
                    <a:p>
                      <a:pPr algn="ctr"/>
                      <a:r>
                        <a:rPr lang="en-US" sz="1400" b="1" dirty="0"/>
                        <a:t>2000</a:t>
                      </a:r>
                      <a:endParaRPr lang="en-DK" sz="1400" b="1" dirty="0"/>
                    </a:p>
                  </a:txBody>
                  <a:tcPr marL="70763" marR="70763" marT="35382" marB="35382"/>
                </a:tc>
                <a:tc>
                  <a:txBody>
                    <a:bodyPr/>
                    <a:lstStyle/>
                    <a:p>
                      <a:pPr algn="ctr"/>
                      <a:r>
                        <a:rPr lang="en-DK" sz="1400" b="1" dirty="0"/>
                        <a:t>-</a:t>
                      </a:r>
                    </a:p>
                  </a:txBody>
                  <a:tcPr marL="70763" marR="70763" marT="35382" marB="35382"/>
                </a:tc>
                <a:extLst>
                  <a:ext uri="{0D108BD9-81ED-4DB2-BD59-A6C34878D82A}">
                    <a16:rowId xmlns:a16="http://schemas.microsoft.com/office/drawing/2014/main" val="4027865957"/>
                  </a:ext>
                </a:extLst>
              </a:tr>
            </a:tbl>
          </a:graphicData>
        </a:graphic>
      </p:graphicFrame>
      <p:sp>
        <p:nvSpPr>
          <p:cNvPr id="4" name="Date Placeholder 3">
            <a:extLst>
              <a:ext uri="{FF2B5EF4-FFF2-40B4-BE49-F238E27FC236}">
                <a16:creationId xmlns:a16="http://schemas.microsoft.com/office/drawing/2014/main" id="{AC4BF475-253D-B801-E30A-135602ED563D}"/>
              </a:ext>
            </a:extLst>
          </p:cNvPr>
          <p:cNvSpPr>
            <a:spLocks noGrp="1"/>
          </p:cNvSpPr>
          <p:nvPr>
            <p:ph type="dt" sz="half" idx="10"/>
          </p:nvPr>
        </p:nvSpPr>
        <p:spPr/>
        <p:txBody>
          <a:bodyPr/>
          <a:lstStyle/>
          <a:p>
            <a:fld id="{458A60EA-1D39-4C34-9511-769AF5F02EDA}" type="datetime1">
              <a:rPr lang="da-DK" smtClean="0"/>
              <a:t>03-09-2026</a:t>
            </a:fld>
            <a:endParaRPr lang="en-GB"/>
          </a:p>
        </p:txBody>
      </p:sp>
      <p:sp>
        <p:nvSpPr>
          <p:cNvPr id="5" name="Footer Placeholder 4">
            <a:extLst>
              <a:ext uri="{FF2B5EF4-FFF2-40B4-BE49-F238E27FC236}">
                <a16:creationId xmlns:a16="http://schemas.microsoft.com/office/drawing/2014/main" id="{E0202066-D973-7A44-D410-B09A60C2A439}"/>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A48784C0-20C2-66F7-76A8-99BF2BD2B8A7}"/>
              </a:ext>
            </a:extLst>
          </p:cNvPr>
          <p:cNvSpPr>
            <a:spLocks noGrp="1"/>
          </p:cNvSpPr>
          <p:nvPr>
            <p:ph type="sldNum" sz="quarter" idx="12"/>
          </p:nvPr>
        </p:nvSpPr>
        <p:spPr/>
        <p:txBody>
          <a:bodyPr/>
          <a:lstStyle/>
          <a:p>
            <a:fld id="{103EA872-A674-449B-A120-B97244F8E91D}" type="slidenum">
              <a:rPr lang="da-DK" smtClean="0"/>
              <a:pPr/>
              <a:t>14</a:t>
            </a:fld>
            <a:endParaRPr lang="da-DK" dirty="0"/>
          </a:p>
        </p:txBody>
      </p:sp>
      <p:grpSp>
        <p:nvGrpSpPr>
          <p:cNvPr id="57" name="Group 56">
            <a:extLst>
              <a:ext uri="{FF2B5EF4-FFF2-40B4-BE49-F238E27FC236}">
                <a16:creationId xmlns:a16="http://schemas.microsoft.com/office/drawing/2014/main" id="{1B325E78-1CFD-8BB7-1E84-2966AD5C2DC1}"/>
              </a:ext>
            </a:extLst>
          </p:cNvPr>
          <p:cNvGrpSpPr/>
          <p:nvPr/>
        </p:nvGrpSpPr>
        <p:grpSpPr>
          <a:xfrm>
            <a:off x="6929980" y="836712"/>
            <a:ext cx="2915656" cy="2010760"/>
            <a:chOff x="6929980" y="1237734"/>
            <a:chExt cx="2915656" cy="2010760"/>
          </a:xfrm>
        </p:grpSpPr>
        <p:cxnSp>
          <p:nvCxnSpPr>
            <p:cNvPr id="8" name="Straight Arrow Connector 7">
              <a:extLst>
                <a:ext uri="{FF2B5EF4-FFF2-40B4-BE49-F238E27FC236}">
                  <a16:creationId xmlns:a16="http://schemas.microsoft.com/office/drawing/2014/main" id="{D2173E13-19A0-AB5F-D053-49D153141CD3}"/>
                </a:ext>
              </a:extLst>
            </p:cNvPr>
            <p:cNvCxnSpPr>
              <a:cxnSpLocks/>
            </p:cNvCxnSpPr>
            <p:nvPr/>
          </p:nvCxnSpPr>
          <p:spPr bwMode="auto">
            <a:xfrm flipV="1">
              <a:off x="6932996" y="1237734"/>
              <a:ext cx="0" cy="201076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Rectangle 8">
              <a:extLst>
                <a:ext uri="{FF2B5EF4-FFF2-40B4-BE49-F238E27FC236}">
                  <a16:creationId xmlns:a16="http://schemas.microsoft.com/office/drawing/2014/main" id="{0203F343-FCE6-26D5-782A-F291A06C21DE}"/>
                </a:ext>
              </a:extLst>
            </p:cNvPr>
            <p:cNvSpPr/>
            <p:nvPr/>
          </p:nvSpPr>
          <p:spPr bwMode="auto">
            <a:xfrm>
              <a:off x="6949820" y="3149956"/>
              <a:ext cx="683734" cy="87444"/>
            </a:xfrm>
            <a:prstGeom prst="rect">
              <a:avLst/>
            </a:prstGeom>
            <a:solidFill>
              <a:schemeClr val="accent5">
                <a:lumMod val="40000"/>
                <a:lumOff val="60000"/>
                <a:alpha val="67059"/>
              </a:schemeClr>
            </a:solidFill>
            <a:ln>
              <a:solidFill>
                <a:schemeClr val="accent5"/>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0" name="Rectangle 9">
              <a:extLst>
                <a:ext uri="{FF2B5EF4-FFF2-40B4-BE49-F238E27FC236}">
                  <a16:creationId xmlns:a16="http://schemas.microsoft.com/office/drawing/2014/main" id="{4620A2BE-9C29-C360-2D2F-2DD4598967DF}"/>
                </a:ext>
              </a:extLst>
            </p:cNvPr>
            <p:cNvSpPr/>
            <p:nvPr/>
          </p:nvSpPr>
          <p:spPr bwMode="auto">
            <a:xfrm>
              <a:off x="7641829" y="3015366"/>
              <a:ext cx="402195" cy="221629"/>
            </a:xfrm>
            <a:prstGeom prst="rect">
              <a:avLst/>
            </a:prstGeom>
            <a:solidFill>
              <a:srgbClr val="B2D5FF"/>
            </a:solidFill>
            <a:ln>
              <a:solidFill>
                <a:srgbClr val="6583CD"/>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1" name="Rectangle 10">
              <a:extLst>
                <a:ext uri="{FF2B5EF4-FFF2-40B4-BE49-F238E27FC236}">
                  <a16:creationId xmlns:a16="http://schemas.microsoft.com/office/drawing/2014/main" id="{4D86AC53-A3A1-5D24-4252-AF2783C3DE6D}"/>
                </a:ext>
              </a:extLst>
            </p:cNvPr>
            <p:cNvSpPr/>
            <p:nvPr/>
          </p:nvSpPr>
          <p:spPr bwMode="auto">
            <a:xfrm>
              <a:off x="8055829" y="2503380"/>
              <a:ext cx="261460" cy="730554"/>
            </a:xfrm>
            <a:prstGeom prst="rect">
              <a:avLst/>
            </a:prstGeom>
            <a:solidFill>
              <a:schemeClr val="tx2">
                <a:lumMod val="40000"/>
                <a:lumOff val="60000"/>
              </a:schemeClr>
            </a:solidFill>
            <a:ln>
              <a:solidFill>
                <a:schemeClr val="accent6">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12" name="Straight Arrow Connector 11">
              <a:extLst>
                <a:ext uri="{FF2B5EF4-FFF2-40B4-BE49-F238E27FC236}">
                  <a16:creationId xmlns:a16="http://schemas.microsoft.com/office/drawing/2014/main" id="{232CFD42-4766-2218-33AE-53247277ABAC}"/>
                </a:ext>
              </a:extLst>
            </p:cNvPr>
            <p:cNvCxnSpPr>
              <a:cxnSpLocks/>
            </p:cNvCxnSpPr>
            <p:nvPr/>
          </p:nvCxnSpPr>
          <p:spPr bwMode="auto">
            <a:xfrm>
              <a:off x="6929980" y="3248494"/>
              <a:ext cx="2915656" cy="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Rectangle 12">
              <a:extLst>
                <a:ext uri="{FF2B5EF4-FFF2-40B4-BE49-F238E27FC236}">
                  <a16:creationId xmlns:a16="http://schemas.microsoft.com/office/drawing/2014/main" id="{7A7A37C3-DB67-E914-E71D-D873498A229E}"/>
                </a:ext>
              </a:extLst>
            </p:cNvPr>
            <p:cNvSpPr/>
            <p:nvPr/>
          </p:nvSpPr>
          <p:spPr bwMode="auto">
            <a:xfrm>
              <a:off x="8325563" y="2309501"/>
              <a:ext cx="474361" cy="923492"/>
            </a:xfrm>
            <a:prstGeom prst="rect">
              <a:avLst/>
            </a:prstGeom>
            <a:solidFill>
              <a:schemeClr val="accent3">
                <a:lumMod val="40000"/>
                <a:lumOff val="60000"/>
              </a:schemeClr>
            </a:solidFill>
            <a:ln>
              <a:solidFill>
                <a:schemeClr val="accent3">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14" name="Straight Connector 13">
              <a:extLst>
                <a:ext uri="{FF2B5EF4-FFF2-40B4-BE49-F238E27FC236}">
                  <a16:creationId xmlns:a16="http://schemas.microsoft.com/office/drawing/2014/main" id="{9F2E839F-8D67-0F4C-D414-4F9CBDBD9185}"/>
                </a:ext>
              </a:extLst>
            </p:cNvPr>
            <p:cNvCxnSpPr>
              <a:cxnSpLocks/>
            </p:cNvCxnSpPr>
            <p:nvPr/>
          </p:nvCxnSpPr>
          <p:spPr bwMode="auto">
            <a:xfrm>
              <a:off x="8437947" y="1500949"/>
              <a:ext cx="0" cy="1747545"/>
            </a:xfrm>
            <a:prstGeom prst="line">
              <a:avLst/>
            </a:prstGeom>
            <a:ln w="3810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2DCC0894-FF72-4CB4-C895-0B8ABDD26AE0}"/>
                </a:ext>
              </a:extLst>
            </p:cNvPr>
            <p:cNvSpPr txBox="1"/>
            <p:nvPr/>
          </p:nvSpPr>
          <p:spPr>
            <a:xfrm>
              <a:off x="8221435" y="1314171"/>
              <a:ext cx="643515" cy="246221"/>
            </a:xfrm>
            <a:prstGeom prst="rect">
              <a:avLst/>
            </a:prstGeom>
            <a:noFill/>
          </p:spPr>
          <p:txBody>
            <a:bodyPr wrap="square" lIns="0" tIns="0" rIns="0" bIns="0" rtlCol="0">
              <a:spAutoFit/>
            </a:bodyPr>
            <a:lstStyle/>
            <a:p>
              <a:pPr algn="l">
                <a:spcBef>
                  <a:spcPts val="432"/>
                </a:spcBef>
              </a:pPr>
              <a:endParaRPr lang="en-DK" dirty="0">
                <a:latin typeface="+mn-lt"/>
              </a:endParaRPr>
            </a:p>
          </p:txBody>
        </p:sp>
        <p:cxnSp>
          <p:nvCxnSpPr>
            <p:cNvPr id="16" name="Straight Connector 15">
              <a:extLst>
                <a:ext uri="{FF2B5EF4-FFF2-40B4-BE49-F238E27FC236}">
                  <a16:creationId xmlns:a16="http://schemas.microsoft.com/office/drawing/2014/main" id="{24D4A603-E848-5F0E-984C-DE8B5E5AEC6F}"/>
                </a:ext>
              </a:extLst>
            </p:cNvPr>
            <p:cNvCxnSpPr>
              <a:cxnSpLocks/>
            </p:cNvCxnSpPr>
            <p:nvPr/>
          </p:nvCxnSpPr>
          <p:spPr bwMode="auto">
            <a:xfrm>
              <a:off x="8325563" y="2767612"/>
              <a:ext cx="474361" cy="0"/>
            </a:xfrm>
            <a:prstGeom prst="line">
              <a:avLst/>
            </a:prstGeom>
            <a:solidFill>
              <a:schemeClr val="accent1"/>
            </a:solidFill>
            <a:ln w="28575" cap="flat" cmpd="sng" algn="ctr">
              <a:solidFill>
                <a:schemeClr val="accent3">
                  <a:lumMod val="75000"/>
                </a:schemeClr>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Rectangle 16">
              <a:extLst>
                <a:ext uri="{FF2B5EF4-FFF2-40B4-BE49-F238E27FC236}">
                  <a16:creationId xmlns:a16="http://schemas.microsoft.com/office/drawing/2014/main" id="{B5822329-2E2A-282B-5556-609AB7FFE4BD}"/>
                </a:ext>
              </a:extLst>
            </p:cNvPr>
            <p:cNvSpPr/>
            <p:nvPr/>
          </p:nvSpPr>
          <p:spPr bwMode="auto">
            <a:xfrm>
              <a:off x="8811265" y="1983586"/>
              <a:ext cx="261460" cy="1254283"/>
            </a:xfrm>
            <a:prstGeom prst="rect">
              <a:avLst/>
            </a:prstGeom>
            <a:solidFill>
              <a:schemeClr val="tx1">
                <a:lumMod val="65000"/>
                <a:lumOff val="35000"/>
              </a:schemeClr>
            </a:solidFill>
            <a:ln>
              <a:solidFill>
                <a:schemeClr val="tx1">
                  <a:lumMod val="85000"/>
                  <a:lumOff val="1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8" name="Rectangle 17">
              <a:extLst>
                <a:ext uri="{FF2B5EF4-FFF2-40B4-BE49-F238E27FC236}">
                  <a16:creationId xmlns:a16="http://schemas.microsoft.com/office/drawing/2014/main" id="{0E058BDA-3B7C-543C-90F1-F61127C23E10}"/>
                </a:ext>
              </a:extLst>
            </p:cNvPr>
            <p:cNvSpPr/>
            <p:nvPr/>
          </p:nvSpPr>
          <p:spPr bwMode="auto">
            <a:xfrm>
              <a:off x="8811265" y="1975868"/>
              <a:ext cx="261460" cy="1254283"/>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9" name="Rectangle 18">
              <a:extLst>
                <a:ext uri="{FF2B5EF4-FFF2-40B4-BE49-F238E27FC236}">
                  <a16:creationId xmlns:a16="http://schemas.microsoft.com/office/drawing/2014/main" id="{A28EE135-4CB4-1D11-DFA5-8C8CF98D1372}"/>
                </a:ext>
              </a:extLst>
            </p:cNvPr>
            <p:cNvSpPr/>
            <p:nvPr/>
          </p:nvSpPr>
          <p:spPr bwMode="auto">
            <a:xfrm>
              <a:off x="8463277" y="2314814"/>
              <a:ext cx="342317" cy="920650"/>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grpSp>
      <p:sp>
        <p:nvSpPr>
          <p:cNvPr id="26" name="TextBox 25">
            <a:extLst>
              <a:ext uri="{FF2B5EF4-FFF2-40B4-BE49-F238E27FC236}">
                <a16:creationId xmlns:a16="http://schemas.microsoft.com/office/drawing/2014/main" id="{3264CC1A-67E0-AEF1-D2B1-382BAFCA20B9}"/>
              </a:ext>
            </a:extLst>
          </p:cNvPr>
          <p:cNvSpPr txBox="1"/>
          <p:nvPr/>
        </p:nvSpPr>
        <p:spPr>
          <a:xfrm>
            <a:off x="5064627" y="3178740"/>
            <a:ext cx="872816" cy="222108"/>
          </a:xfrm>
          <a:prstGeom prst="rect">
            <a:avLst/>
          </a:prstGeom>
          <a:noFill/>
        </p:spPr>
        <p:txBody>
          <a:bodyPr wrap="square" lIns="0" tIns="0" rIns="0" bIns="0" rtlCol="0">
            <a:spAutoFit/>
          </a:bodyPr>
          <a:lstStyle/>
          <a:p>
            <a:pPr algn="l">
              <a:spcBef>
                <a:spcPts val="432"/>
              </a:spcBef>
            </a:pPr>
            <a:endParaRPr lang="en-DK" dirty="0">
              <a:latin typeface="+mn-lt"/>
            </a:endParaRPr>
          </a:p>
        </p:txBody>
      </p:sp>
      <p:sp>
        <p:nvSpPr>
          <p:cNvPr id="29" name="TextBox 28">
            <a:extLst>
              <a:ext uri="{FF2B5EF4-FFF2-40B4-BE49-F238E27FC236}">
                <a16:creationId xmlns:a16="http://schemas.microsoft.com/office/drawing/2014/main" id="{69E4E0AF-5245-06ED-04F4-A34949F5F15A}"/>
              </a:ext>
            </a:extLst>
          </p:cNvPr>
          <p:cNvSpPr txBox="1"/>
          <p:nvPr/>
        </p:nvSpPr>
        <p:spPr>
          <a:xfrm>
            <a:off x="820932" y="2671342"/>
            <a:ext cx="1315734" cy="222108"/>
          </a:xfrm>
          <a:prstGeom prst="rect">
            <a:avLst/>
          </a:prstGeom>
          <a:noFill/>
        </p:spPr>
        <p:txBody>
          <a:bodyPr wrap="square" lIns="0" tIns="0" rIns="0" bIns="0" rtlCol="0">
            <a:spAutoFit/>
          </a:bodyPr>
          <a:lstStyle/>
          <a:p>
            <a:pPr algn="l">
              <a:spcBef>
                <a:spcPts val="432"/>
              </a:spcBef>
            </a:pPr>
            <a:endParaRPr lang="en-DK" dirty="0">
              <a:latin typeface="+mn-lt"/>
            </a:endParaRPr>
          </a:p>
        </p:txBody>
      </p:sp>
      <p:sp>
        <p:nvSpPr>
          <p:cNvPr id="30" name="TextBox 29">
            <a:extLst>
              <a:ext uri="{FF2B5EF4-FFF2-40B4-BE49-F238E27FC236}">
                <a16:creationId xmlns:a16="http://schemas.microsoft.com/office/drawing/2014/main" id="{3B20F295-D791-FF2B-977F-D0BBCEB4F476}"/>
              </a:ext>
            </a:extLst>
          </p:cNvPr>
          <p:cNvSpPr txBox="1"/>
          <p:nvPr/>
        </p:nvSpPr>
        <p:spPr>
          <a:xfrm>
            <a:off x="2295989" y="3292611"/>
            <a:ext cx="178483" cy="166581"/>
          </a:xfrm>
          <a:prstGeom prst="rect">
            <a:avLst/>
          </a:prstGeom>
          <a:noFill/>
        </p:spPr>
        <p:txBody>
          <a:bodyPr wrap="square" lIns="0" tIns="0" rIns="0" bIns="0" rtlCol="0">
            <a:spAutoFit/>
          </a:bodyPr>
          <a:lstStyle/>
          <a:p>
            <a:pPr algn="l">
              <a:spcBef>
                <a:spcPts val="432"/>
              </a:spcBef>
            </a:pPr>
            <a:endParaRPr lang="en-DK" sz="1200" b="1" dirty="0">
              <a:latin typeface="+mn-lt"/>
            </a:endParaRPr>
          </a:p>
        </p:txBody>
      </p:sp>
      <p:sp>
        <p:nvSpPr>
          <p:cNvPr id="31" name="TextBox 30">
            <a:extLst>
              <a:ext uri="{FF2B5EF4-FFF2-40B4-BE49-F238E27FC236}">
                <a16:creationId xmlns:a16="http://schemas.microsoft.com/office/drawing/2014/main" id="{08DADCD4-9ED5-0119-6E2D-67A3272AFF13}"/>
              </a:ext>
            </a:extLst>
          </p:cNvPr>
          <p:cNvSpPr txBox="1"/>
          <p:nvPr/>
        </p:nvSpPr>
        <p:spPr>
          <a:xfrm>
            <a:off x="2838737" y="3292611"/>
            <a:ext cx="178483" cy="166581"/>
          </a:xfrm>
          <a:prstGeom prst="rect">
            <a:avLst/>
          </a:prstGeom>
          <a:noFill/>
        </p:spPr>
        <p:txBody>
          <a:bodyPr wrap="square" lIns="0" tIns="0" rIns="0" bIns="0" rtlCol="0">
            <a:spAutoFit/>
          </a:bodyPr>
          <a:lstStyle/>
          <a:p>
            <a:pPr algn="l">
              <a:spcBef>
                <a:spcPts val="432"/>
              </a:spcBef>
            </a:pPr>
            <a:endParaRPr lang="en-DK" sz="1200" b="1" dirty="0">
              <a:latin typeface="+mn-lt"/>
            </a:endParaRPr>
          </a:p>
        </p:txBody>
      </p:sp>
      <p:sp>
        <p:nvSpPr>
          <p:cNvPr id="32" name="TextBox 31">
            <a:extLst>
              <a:ext uri="{FF2B5EF4-FFF2-40B4-BE49-F238E27FC236}">
                <a16:creationId xmlns:a16="http://schemas.microsoft.com/office/drawing/2014/main" id="{706BDB43-F686-CACD-4368-0C9A7BB2776A}"/>
              </a:ext>
            </a:extLst>
          </p:cNvPr>
          <p:cNvSpPr txBox="1"/>
          <p:nvPr/>
        </p:nvSpPr>
        <p:spPr>
          <a:xfrm>
            <a:off x="3319126" y="3290432"/>
            <a:ext cx="178483" cy="166581"/>
          </a:xfrm>
          <a:prstGeom prst="rect">
            <a:avLst/>
          </a:prstGeom>
          <a:noFill/>
        </p:spPr>
        <p:txBody>
          <a:bodyPr wrap="square" lIns="0" tIns="0" rIns="0" bIns="0" rtlCol="0">
            <a:spAutoFit/>
          </a:bodyPr>
          <a:lstStyle/>
          <a:p>
            <a:pPr algn="l">
              <a:spcBef>
                <a:spcPts val="432"/>
              </a:spcBef>
            </a:pPr>
            <a:endParaRPr lang="en-DK" sz="1200" b="1" dirty="0">
              <a:latin typeface="+mn-lt"/>
            </a:endParaRPr>
          </a:p>
        </p:txBody>
      </p:sp>
      <p:sp>
        <p:nvSpPr>
          <p:cNvPr id="33" name="TextBox 32">
            <a:extLst>
              <a:ext uri="{FF2B5EF4-FFF2-40B4-BE49-F238E27FC236}">
                <a16:creationId xmlns:a16="http://schemas.microsoft.com/office/drawing/2014/main" id="{08474010-0112-9D60-B946-A4C7C48BA852}"/>
              </a:ext>
            </a:extLst>
          </p:cNvPr>
          <p:cNvSpPr txBox="1"/>
          <p:nvPr/>
        </p:nvSpPr>
        <p:spPr>
          <a:xfrm>
            <a:off x="3715668" y="3290432"/>
            <a:ext cx="178483" cy="166581"/>
          </a:xfrm>
          <a:prstGeom prst="rect">
            <a:avLst/>
          </a:prstGeom>
          <a:noFill/>
        </p:spPr>
        <p:txBody>
          <a:bodyPr wrap="square" lIns="0" tIns="0" rIns="0" bIns="0" rtlCol="0">
            <a:spAutoFit/>
          </a:bodyPr>
          <a:lstStyle/>
          <a:p>
            <a:pPr algn="l">
              <a:spcBef>
                <a:spcPts val="432"/>
              </a:spcBef>
            </a:pPr>
            <a:endParaRPr lang="en-DK" sz="1200" b="1" dirty="0">
              <a:latin typeface="+mn-lt"/>
            </a:endParaRPr>
          </a:p>
        </p:txBody>
      </p:sp>
      <p:sp>
        <p:nvSpPr>
          <p:cNvPr id="34" name="TextBox 33">
            <a:extLst>
              <a:ext uri="{FF2B5EF4-FFF2-40B4-BE49-F238E27FC236}">
                <a16:creationId xmlns:a16="http://schemas.microsoft.com/office/drawing/2014/main" id="{82822051-2633-7BD0-0544-C30A498BB555}"/>
              </a:ext>
            </a:extLst>
          </p:cNvPr>
          <p:cNvSpPr txBox="1"/>
          <p:nvPr/>
        </p:nvSpPr>
        <p:spPr>
          <a:xfrm>
            <a:off x="4001082" y="3288782"/>
            <a:ext cx="178483" cy="166581"/>
          </a:xfrm>
          <a:prstGeom prst="rect">
            <a:avLst/>
          </a:prstGeom>
          <a:noFill/>
        </p:spPr>
        <p:txBody>
          <a:bodyPr wrap="square" lIns="0" tIns="0" rIns="0" bIns="0" rtlCol="0">
            <a:spAutoFit/>
          </a:bodyPr>
          <a:lstStyle/>
          <a:p>
            <a:pPr algn="l">
              <a:spcBef>
                <a:spcPts val="432"/>
              </a:spcBef>
            </a:pPr>
            <a:endParaRPr lang="en-DK" sz="1200" b="1" dirty="0">
              <a:latin typeface="+mn-lt"/>
            </a:endParaRPr>
          </a:p>
        </p:txBody>
      </p:sp>
      <p:grpSp>
        <p:nvGrpSpPr>
          <p:cNvPr id="56" name="Group 55">
            <a:extLst>
              <a:ext uri="{FF2B5EF4-FFF2-40B4-BE49-F238E27FC236}">
                <a16:creationId xmlns:a16="http://schemas.microsoft.com/office/drawing/2014/main" id="{1AED880C-2B8E-709D-BBE8-4E6BF80D1661}"/>
              </a:ext>
            </a:extLst>
          </p:cNvPr>
          <p:cNvGrpSpPr/>
          <p:nvPr/>
        </p:nvGrpSpPr>
        <p:grpSpPr>
          <a:xfrm>
            <a:off x="1999277" y="836712"/>
            <a:ext cx="2888876" cy="2035658"/>
            <a:chOff x="1984548" y="1171897"/>
            <a:chExt cx="3013013" cy="2123132"/>
          </a:xfrm>
        </p:grpSpPr>
        <p:cxnSp>
          <p:nvCxnSpPr>
            <p:cNvPr id="21" name="Straight Arrow Connector 20">
              <a:extLst>
                <a:ext uri="{FF2B5EF4-FFF2-40B4-BE49-F238E27FC236}">
                  <a16:creationId xmlns:a16="http://schemas.microsoft.com/office/drawing/2014/main" id="{4F0F3F7C-BD9A-0F87-7311-B654E95FED50}"/>
                </a:ext>
              </a:extLst>
            </p:cNvPr>
            <p:cNvCxnSpPr>
              <a:cxnSpLocks/>
            </p:cNvCxnSpPr>
            <p:nvPr/>
          </p:nvCxnSpPr>
          <p:spPr bwMode="auto">
            <a:xfrm flipV="1">
              <a:off x="1987665" y="1171897"/>
              <a:ext cx="0" cy="2077902"/>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Rectangle 21">
              <a:extLst>
                <a:ext uri="{FF2B5EF4-FFF2-40B4-BE49-F238E27FC236}">
                  <a16:creationId xmlns:a16="http://schemas.microsoft.com/office/drawing/2014/main" id="{7EB33B79-C036-EB84-F46B-A0B2DC055D60}"/>
                </a:ext>
              </a:extLst>
            </p:cNvPr>
            <p:cNvSpPr/>
            <p:nvPr/>
          </p:nvSpPr>
          <p:spPr bwMode="auto">
            <a:xfrm>
              <a:off x="2005050" y="3147970"/>
              <a:ext cx="706565" cy="90364"/>
            </a:xfrm>
            <a:prstGeom prst="rect">
              <a:avLst/>
            </a:prstGeom>
            <a:solidFill>
              <a:schemeClr val="accent5">
                <a:lumMod val="40000"/>
                <a:lumOff val="60000"/>
                <a:alpha val="67059"/>
              </a:schemeClr>
            </a:solidFill>
            <a:ln>
              <a:solidFill>
                <a:schemeClr val="accent5"/>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23" name="Rectangle 22">
              <a:extLst>
                <a:ext uri="{FF2B5EF4-FFF2-40B4-BE49-F238E27FC236}">
                  <a16:creationId xmlns:a16="http://schemas.microsoft.com/office/drawing/2014/main" id="{3BF03B62-044D-C4B2-C8F4-85E1DAEF580B}"/>
                </a:ext>
              </a:extLst>
            </p:cNvPr>
            <p:cNvSpPr/>
            <p:nvPr/>
          </p:nvSpPr>
          <p:spPr bwMode="auto">
            <a:xfrm>
              <a:off x="2720167" y="3008887"/>
              <a:ext cx="415625" cy="229029"/>
            </a:xfrm>
            <a:prstGeom prst="rect">
              <a:avLst/>
            </a:prstGeom>
            <a:solidFill>
              <a:srgbClr val="B2D5FF"/>
            </a:solidFill>
            <a:ln>
              <a:solidFill>
                <a:srgbClr val="6583CD"/>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24" name="Rectangle 23">
              <a:extLst>
                <a:ext uri="{FF2B5EF4-FFF2-40B4-BE49-F238E27FC236}">
                  <a16:creationId xmlns:a16="http://schemas.microsoft.com/office/drawing/2014/main" id="{1DF80C55-D4D0-0F0B-5BC9-9EED8CCAFC6A}"/>
                </a:ext>
              </a:extLst>
            </p:cNvPr>
            <p:cNvSpPr/>
            <p:nvPr/>
          </p:nvSpPr>
          <p:spPr bwMode="auto">
            <a:xfrm>
              <a:off x="3144342" y="2752859"/>
              <a:ext cx="490201" cy="485057"/>
            </a:xfrm>
            <a:prstGeom prst="rect">
              <a:avLst/>
            </a:prstGeom>
            <a:solidFill>
              <a:schemeClr val="accent3">
                <a:lumMod val="40000"/>
                <a:lumOff val="60000"/>
              </a:schemeClr>
            </a:solidFill>
            <a:ln>
              <a:solidFill>
                <a:schemeClr val="accent3">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25" name="Rectangle 24">
              <a:extLst>
                <a:ext uri="{FF2B5EF4-FFF2-40B4-BE49-F238E27FC236}">
                  <a16:creationId xmlns:a16="http://schemas.microsoft.com/office/drawing/2014/main" id="{98D89704-6FD9-6DCE-9598-F975A1B37D4A}"/>
                </a:ext>
              </a:extLst>
            </p:cNvPr>
            <p:cNvSpPr/>
            <p:nvPr/>
          </p:nvSpPr>
          <p:spPr bwMode="auto">
            <a:xfrm>
              <a:off x="3649138" y="2479805"/>
              <a:ext cx="270190" cy="754948"/>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27" name="Straight Arrow Connector 26">
              <a:extLst>
                <a:ext uri="{FF2B5EF4-FFF2-40B4-BE49-F238E27FC236}">
                  <a16:creationId xmlns:a16="http://schemas.microsoft.com/office/drawing/2014/main" id="{4F3AA0CA-E1DA-21A7-F447-C032F1D07CD6}"/>
                </a:ext>
              </a:extLst>
            </p:cNvPr>
            <p:cNvCxnSpPr>
              <a:cxnSpLocks/>
            </p:cNvCxnSpPr>
            <p:nvPr/>
          </p:nvCxnSpPr>
          <p:spPr bwMode="auto">
            <a:xfrm>
              <a:off x="1984548" y="3249799"/>
              <a:ext cx="3013013" cy="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TextBox 27">
              <a:extLst>
                <a:ext uri="{FF2B5EF4-FFF2-40B4-BE49-F238E27FC236}">
                  <a16:creationId xmlns:a16="http://schemas.microsoft.com/office/drawing/2014/main" id="{D95E4A2C-54EC-1D0F-5ACC-6E9C58783702}"/>
                </a:ext>
              </a:extLst>
            </p:cNvPr>
            <p:cNvSpPr txBox="1"/>
            <p:nvPr/>
          </p:nvSpPr>
          <p:spPr>
            <a:xfrm>
              <a:off x="3385808" y="3072921"/>
              <a:ext cx="872816" cy="222108"/>
            </a:xfrm>
            <a:prstGeom prst="rect">
              <a:avLst/>
            </a:prstGeom>
            <a:noFill/>
          </p:spPr>
          <p:txBody>
            <a:bodyPr wrap="square" lIns="0" tIns="0" rIns="0" bIns="0" rtlCol="0">
              <a:spAutoFit/>
            </a:bodyPr>
            <a:lstStyle/>
            <a:p>
              <a:pPr algn="l">
                <a:spcBef>
                  <a:spcPts val="432"/>
                </a:spcBef>
              </a:pPr>
              <a:endParaRPr lang="en-DK" dirty="0">
                <a:latin typeface="+mn-lt"/>
              </a:endParaRPr>
            </a:p>
          </p:txBody>
        </p:sp>
        <p:sp>
          <p:nvSpPr>
            <p:cNvPr id="35" name="Rectangle 34">
              <a:extLst>
                <a:ext uri="{FF2B5EF4-FFF2-40B4-BE49-F238E27FC236}">
                  <a16:creationId xmlns:a16="http://schemas.microsoft.com/office/drawing/2014/main" id="{9D1D96EE-393A-2DE5-0B53-44CFE9E50F7F}"/>
                </a:ext>
              </a:extLst>
            </p:cNvPr>
            <p:cNvSpPr/>
            <p:nvPr/>
          </p:nvSpPr>
          <p:spPr bwMode="auto">
            <a:xfrm>
              <a:off x="3542868" y="2752859"/>
              <a:ext cx="91675" cy="481893"/>
            </a:xfrm>
            <a:prstGeom prst="rect">
              <a:avLst/>
            </a:prstGeom>
            <a:solidFill>
              <a:schemeClr val="bg1">
                <a:lumMod val="85000"/>
              </a:schemeClr>
            </a:solidFill>
            <a:ln w="28575" cap="flat" cmpd="sng" algn="ctr">
              <a:solidFill>
                <a:schemeClr val="bg1">
                  <a:lumMod val="50000"/>
                </a:schemeClr>
              </a:solid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36" name="Straight Connector 35">
              <a:extLst>
                <a:ext uri="{FF2B5EF4-FFF2-40B4-BE49-F238E27FC236}">
                  <a16:creationId xmlns:a16="http://schemas.microsoft.com/office/drawing/2014/main" id="{CB045EFA-CAC1-1896-4478-B9EB3893B8E7}"/>
                </a:ext>
              </a:extLst>
            </p:cNvPr>
            <p:cNvCxnSpPr>
              <a:cxnSpLocks/>
            </p:cNvCxnSpPr>
            <p:nvPr/>
          </p:nvCxnSpPr>
          <p:spPr bwMode="auto">
            <a:xfrm>
              <a:off x="3542868" y="1443901"/>
              <a:ext cx="0" cy="1805898"/>
            </a:xfrm>
            <a:prstGeom prst="line">
              <a:avLst/>
            </a:prstGeom>
            <a:ln w="3810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C171AB75-1C9F-B13C-C312-D3316C8635B3}"/>
                </a:ext>
              </a:extLst>
            </p:cNvPr>
            <p:cNvSpPr txBox="1"/>
            <p:nvPr/>
          </p:nvSpPr>
          <p:spPr>
            <a:xfrm>
              <a:off x="3319126" y="1250887"/>
              <a:ext cx="665002" cy="222108"/>
            </a:xfrm>
            <a:prstGeom prst="rect">
              <a:avLst/>
            </a:prstGeom>
            <a:noFill/>
          </p:spPr>
          <p:txBody>
            <a:bodyPr wrap="square" lIns="0" tIns="0" rIns="0" bIns="0" rtlCol="0">
              <a:spAutoFit/>
            </a:bodyPr>
            <a:lstStyle/>
            <a:p>
              <a:pPr algn="l">
                <a:spcBef>
                  <a:spcPts val="432"/>
                </a:spcBef>
              </a:pPr>
              <a:endParaRPr lang="en-DK" dirty="0">
                <a:latin typeface="+mn-lt"/>
              </a:endParaRPr>
            </a:p>
          </p:txBody>
        </p:sp>
        <p:sp>
          <p:nvSpPr>
            <p:cNvPr id="38" name="Rectangle 37">
              <a:extLst>
                <a:ext uri="{FF2B5EF4-FFF2-40B4-BE49-F238E27FC236}">
                  <a16:creationId xmlns:a16="http://schemas.microsoft.com/office/drawing/2014/main" id="{CCF09DF3-98F0-16FD-7E12-DEE44E003AC4}"/>
                </a:ext>
              </a:extLst>
            </p:cNvPr>
            <p:cNvSpPr/>
            <p:nvPr/>
          </p:nvSpPr>
          <p:spPr bwMode="auto">
            <a:xfrm>
              <a:off x="3928651" y="1942654"/>
              <a:ext cx="270190" cy="1296165"/>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grpSp>
      <p:graphicFrame>
        <p:nvGraphicFramePr>
          <p:cNvPr id="39" name="Table 38">
            <a:extLst>
              <a:ext uri="{FF2B5EF4-FFF2-40B4-BE49-F238E27FC236}">
                <a16:creationId xmlns:a16="http://schemas.microsoft.com/office/drawing/2014/main" id="{0640D728-CBFA-C199-8177-6BA0735DBD80}"/>
              </a:ext>
            </a:extLst>
          </p:cNvPr>
          <p:cNvGraphicFramePr>
            <a:graphicFrameLocks noGrp="1"/>
          </p:cNvGraphicFramePr>
          <p:nvPr>
            <p:extLst>
              <p:ext uri="{D42A27DB-BD31-4B8C-83A1-F6EECF244321}">
                <p14:modId xmlns:p14="http://schemas.microsoft.com/office/powerpoint/2010/main" val="1792039585"/>
              </p:ext>
            </p:extLst>
          </p:nvPr>
        </p:nvGraphicFramePr>
        <p:xfrm>
          <a:off x="6915919" y="3068960"/>
          <a:ext cx="3284094" cy="1894714"/>
        </p:xfrm>
        <a:graphic>
          <a:graphicData uri="http://schemas.openxmlformats.org/drawingml/2006/table">
            <a:tbl>
              <a:tblPr firstRow="1" bandRow="1">
                <a:tableStyleId>{5C22544A-7EE6-4342-B048-85BDC9FD1C3A}</a:tableStyleId>
              </a:tblPr>
              <a:tblGrid>
                <a:gridCol w="1094698">
                  <a:extLst>
                    <a:ext uri="{9D8B030D-6E8A-4147-A177-3AD203B41FA5}">
                      <a16:colId xmlns:a16="http://schemas.microsoft.com/office/drawing/2014/main" val="2120270077"/>
                    </a:ext>
                  </a:extLst>
                </a:gridCol>
                <a:gridCol w="1094698">
                  <a:extLst>
                    <a:ext uri="{9D8B030D-6E8A-4147-A177-3AD203B41FA5}">
                      <a16:colId xmlns:a16="http://schemas.microsoft.com/office/drawing/2014/main" val="4249083467"/>
                    </a:ext>
                  </a:extLst>
                </a:gridCol>
                <a:gridCol w="1094698">
                  <a:extLst>
                    <a:ext uri="{9D8B030D-6E8A-4147-A177-3AD203B41FA5}">
                      <a16:colId xmlns:a16="http://schemas.microsoft.com/office/drawing/2014/main" val="2841158744"/>
                    </a:ext>
                  </a:extLst>
                </a:gridCol>
              </a:tblGrid>
              <a:tr h="455043">
                <a:tc>
                  <a:txBody>
                    <a:bodyPr/>
                    <a:lstStyle/>
                    <a:p>
                      <a:pPr algn="ctr"/>
                      <a:r>
                        <a:rPr lang="en-DK" sz="1300" dirty="0"/>
                        <a:t>Generator</a:t>
                      </a:r>
                    </a:p>
                  </a:txBody>
                  <a:tcPr marL="70424" marR="70424" marT="35212" marB="35212" anchor="ctr"/>
                </a:tc>
                <a:tc>
                  <a:txBody>
                    <a:bodyPr/>
                    <a:lstStyle/>
                    <a:p>
                      <a:pPr algn="ctr"/>
                      <a:r>
                        <a:rPr lang="en-US" sz="1300" dirty="0"/>
                        <a:t>Producing cost</a:t>
                      </a:r>
                      <a:endParaRPr lang="en-DK" sz="1300" dirty="0"/>
                    </a:p>
                  </a:txBody>
                  <a:tcPr marL="70424" marR="70424" marT="35212" marB="35212" anchor="ctr"/>
                </a:tc>
                <a:tc>
                  <a:txBody>
                    <a:bodyPr/>
                    <a:lstStyle/>
                    <a:p>
                      <a:pPr algn="ctr"/>
                      <a:r>
                        <a:rPr lang="en-DK" sz="1300" dirty="0"/>
                        <a:t>Generation</a:t>
                      </a:r>
                    </a:p>
                  </a:txBody>
                  <a:tcPr marL="70424" marR="70424" marT="35212" marB="35212" anchor="ctr"/>
                </a:tc>
                <a:extLst>
                  <a:ext uri="{0D108BD9-81ED-4DB2-BD59-A6C34878D82A}">
                    <a16:rowId xmlns:a16="http://schemas.microsoft.com/office/drawing/2014/main" val="1535084899"/>
                  </a:ext>
                </a:extLst>
              </a:tr>
              <a:tr h="285610">
                <a:tc>
                  <a:txBody>
                    <a:bodyPr/>
                    <a:lstStyle/>
                    <a:p>
                      <a:pPr algn="ctr"/>
                      <a:r>
                        <a:rPr lang="en-DK" sz="1400" b="1" dirty="0"/>
                        <a:t>G1</a:t>
                      </a:r>
                    </a:p>
                  </a:txBody>
                  <a:tcPr marL="70424" marR="70424" marT="35212" marB="35212"/>
                </a:tc>
                <a:tc>
                  <a:txBody>
                    <a:bodyPr/>
                    <a:lstStyle/>
                    <a:p>
                      <a:pPr algn="ctr"/>
                      <a:r>
                        <a:rPr lang="en-US" sz="1400" b="1" dirty="0"/>
                        <a:t>500</a:t>
                      </a:r>
                      <a:endParaRPr lang="en-DK" sz="1400" b="1" dirty="0"/>
                    </a:p>
                  </a:txBody>
                  <a:tcPr marL="70424" marR="70424" marT="35212" marB="35212"/>
                </a:tc>
                <a:tc>
                  <a:txBody>
                    <a:bodyPr/>
                    <a:lstStyle/>
                    <a:p>
                      <a:pPr algn="ctr"/>
                      <a:r>
                        <a:rPr lang="en-DK" sz="1400" b="1" dirty="0"/>
                        <a:t>100%</a:t>
                      </a:r>
                    </a:p>
                  </a:txBody>
                  <a:tcPr marL="70424" marR="70424" marT="35212" marB="35212"/>
                </a:tc>
                <a:extLst>
                  <a:ext uri="{0D108BD9-81ED-4DB2-BD59-A6C34878D82A}">
                    <a16:rowId xmlns:a16="http://schemas.microsoft.com/office/drawing/2014/main" val="1136424323"/>
                  </a:ext>
                </a:extLst>
              </a:tr>
              <a:tr h="285610">
                <a:tc>
                  <a:txBody>
                    <a:bodyPr/>
                    <a:lstStyle/>
                    <a:p>
                      <a:pPr algn="ctr"/>
                      <a:r>
                        <a:rPr lang="en-DK" sz="1400" b="1" dirty="0"/>
                        <a:t>G2</a:t>
                      </a:r>
                    </a:p>
                  </a:txBody>
                  <a:tcPr marL="70424" marR="70424" marT="35212" marB="35212"/>
                </a:tc>
                <a:tc>
                  <a:txBody>
                    <a:bodyPr/>
                    <a:lstStyle/>
                    <a:p>
                      <a:pPr algn="ctr"/>
                      <a:r>
                        <a:rPr lang="en-US" sz="1400" b="1" dirty="0"/>
                        <a:t>500</a:t>
                      </a:r>
                      <a:endParaRPr lang="en-DK" sz="1400" b="1" dirty="0"/>
                    </a:p>
                  </a:txBody>
                  <a:tcPr marL="70424" marR="70424" marT="35212" marB="35212"/>
                </a:tc>
                <a:tc>
                  <a:txBody>
                    <a:bodyPr/>
                    <a:lstStyle/>
                    <a:p>
                      <a:pPr algn="ctr"/>
                      <a:r>
                        <a:rPr lang="en-DK" sz="1400" b="1" dirty="0"/>
                        <a:t>100%</a:t>
                      </a:r>
                    </a:p>
                  </a:txBody>
                  <a:tcPr marL="70424" marR="70424" marT="35212" marB="35212"/>
                </a:tc>
                <a:extLst>
                  <a:ext uri="{0D108BD9-81ED-4DB2-BD59-A6C34878D82A}">
                    <a16:rowId xmlns:a16="http://schemas.microsoft.com/office/drawing/2014/main" val="1590719974"/>
                  </a:ext>
                </a:extLst>
              </a:tr>
              <a:tr h="285610">
                <a:tc>
                  <a:txBody>
                    <a:bodyPr/>
                    <a:lstStyle/>
                    <a:p>
                      <a:pPr algn="ctr"/>
                      <a:r>
                        <a:rPr lang="en-DK" sz="1400" b="1" dirty="0"/>
                        <a:t>G3</a:t>
                      </a:r>
                    </a:p>
                  </a:txBody>
                  <a:tcPr marL="70424" marR="70424" marT="35212" marB="35212"/>
                </a:tc>
                <a:tc>
                  <a:txBody>
                    <a:bodyPr/>
                    <a:lstStyle/>
                    <a:p>
                      <a:pPr algn="ctr"/>
                      <a:r>
                        <a:rPr lang="en-US" sz="1400" b="1" dirty="0"/>
                        <a:t>250</a:t>
                      </a:r>
                      <a:endParaRPr lang="en-DK" sz="1400" b="1" dirty="0"/>
                    </a:p>
                  </a:txBody>
                  <a:tcPr marL="70424" marR="70424" marT="35212" marB="35212"/>
                </a:tc>
                <a:tc>
                  <a:txBody>
                    <a:bodyPr/>
                    <a:lstStyle/>
                    <a:p>
                      <a:pPr algn="ctr"/>
                      <a:r>
                        <a:rPr lang="en-DK" sz="1400" b="1" dirty="0"/>
                        <a:t>20%</a:t>
                      </a:r>
                    </a:p>
                  </a:txBody>
                  <a:tcPr marL="70424" marR="70424" marT="35212" marB="35212"/>
                </a:tc>
                <a:extLst>
                  <a:ext uri="{0D108BD9-81ED-4DB2-BD59-A6C34878D82A}">
                    <a16:rowId xmlns:a16="http://schemas.microsoft.com/office/drawing/2014/main" val="3534962959"/>
                  </a:ext>
                </a:extLst>
              </a:tr>
              <a:tr h="285610">
                <a:tc>
                  <a:txBody>
                    <a:bodyPr/>
                    <a:lstStyle/>
                    <a:p>
                      <a:pPr algn="ctr"/>
                      <a:r>
                        <a:rPr lang="en-DK" sz="1400" b="1" dirty="0"/>
                        <a:t>G4</a:t>
                      </a:r>
                    </a:p>
                  </a:txBody>
                  <a:tcPr marL="70424" marR="70424" marT="35212" marB="35212"/>
                </a:tc>
                <a:tc>
                  <a:txBody>
                    <a:bodyPr/>
                    <a:lstStyle/>
                    <a:p>
                      <a:pPr algn="ctr"/>
                      <a:r>
                        <a:rPr lang="en-US" sz="1400" b="1" dirty="0"/>
                        <a:t>1200</a:t>
                      </a:r>
                      <a:endParaRPr lang="en-DK" sz="1400" b="1" dirty="0"/>
                    </a:p>
                  </a:txBody>
                  <a:tcPr marL="70424" marR="70424" marT="35212" marB="35212"/>
                </a:tc>
                <a:tc>
                  <a:txBody>
                    <a:bodyPr/>
                    <a:lstStyle/>
                    <a:p>
                      <a:pPr algn="ctr"/>
                      <a:r>
                        <a:rPr lang="en-DK" sz="1400" b="1" dirty="0"/>
                        <a:t>100%</a:t>
                      </a:r>
                    </a:p>
                  </a:txBody>
                  <a:tcPr marL="70424" marR="70424" marT="35212" marB="35212"/>
                </a:tc>
                <a:extLst>
                  <a:ext uri="{0D108BD9-81ED-4DB2-BD59-A6C34878D82A}">
                    <a16:rowId xmlns:a16="http://schemas.microsoft.com/office/drawing/2014/main" val="626535670"/>
                  </a:ext>
                </a:extLst>
              </a:tr>
              <a:tr h="285610">
                <a:tc>
                  <a:txBody>
                    <a:bodyPr/>
                    <a:lstStyle/>
                    <a:p>
                      <a:pPr algn="ctr"/>
                      <a:r>
                        <a:rPr lang="en-DK" sz="1400" b="1" dirty="0"/>
                        <a:t>Total</a:t>
                      </a:r>
                    </a:p>
                  </a:txBody>
                  <a:tcPr marL="70424" marR="70424" marT="35212" marB="35212"/>
                </a:tc>
                <a:tc>
                  <a:txBody>
                    <a:bodyPr/>
                    <a:lstStyle/>
                    <a:p>
                      <a:pPr algn="ctr"/>
                      <a:r>
                        <a:rPr lang="en-US" sz="1400" b="1" dirty="0">
                          <a:solidFill>
                            <a:srgbClr val="FF0000"/>
                          </a:solidFill>
                        </a:rPr>
                        <a:t>2450</a:t>
                      </a:r>
                      <a:endParaRPr lang="en-DK" sz="1400" b="1" dirty="0">
                        <a:solidFill>
                          <a:srgbClr val="FF0000"/>
                        </a:solidFill>
                      </a:endParaRPr>
                    </a:p>
                  </a:txBody>
                  <a:tcPr marL="70424" marR="70424" marT="35212" marB="35212"/>
                </a:tc>
                <a:tc>
                  <a:txBody>
                    <a:bodyPr/>
                    <a:lstStyle/>
                    <a:p>
                      <a:pPr algn="ctr"/>
                      <a:r>
                        <a:rPr lang="en-DK" sz="1400" b="1" dirty="0"/>
                        <a:t>-</a:t>
                      </a:r>
                    </a:p>
                  </a:txBody>
                  <a:tcPr marL="70424" marR="70424" marT="35212" marB="35212"/>
                </a:tc>
                <a:extLst>
                  <a:ext uri="{0D108BD9-81ED-4DB2-BD59-A6C34878D82A}">
                    <a16:rowId xmlns:a16="http://schemas.microsoft.com/office/drawing/2014/main" val="2578818775"/>
                  </a:ext>
                </a:extLst>
              </a:tr>
            </a:tbl>
          </a:graphicData>
        </a:graphic>
      </p:graphicFrame>
      <p:cxnSp>
        <p:nvCxnSpPr>
          <p:cNvPr id="42" name="Straight Connector 41">
            <a:extLst>
              <a:ext uri="{FF2B5EF4-FFF2-40B4-BE49-F238E27FC236}">
                <a16:creationId xmlns:a16="http://schemas.microsoft.com/office/drawing/2014/main" id="{3B9000C1-2C7C-D6F6-58C3-86D1BF32E4B9}"/>
              </a:ext>
            </a:extLst>
          </p:cNvPr>
          <p:cNvCxnSpPr>
            <a:cxnSpLocks/>
          </p:cNvCxnSpPr>
          <p:nvPr/>
        </p:nvCxnSpPr>
        <p:spPr bwMode="auto">
          <a:xfrm>
            <a:off x="6113918" y="764704"/>
            <a:ext cx="18790" cy="4250722"/>
          </a:xfrm>
          <a:prstGeom prst="line">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8" name="Group 67">
            <a:extLst>
              <a:ext uri="{FF2B5EF4-FFF2-40B4-BE49-F238E27FC236}">
                <a16:creationId xmlns:a16="http://schemas.microsoft.com/office/drawing/2014/main" id="{9DDD90EF-A20F-57F0-C1AF-C3F19258BED8}"/>
              </a:ext>
            </a:extLst>
          </p:cNvPr>
          <p:cNvGrpSpPr/>
          <p:nvPr/>
        </p:nvGrpSpPr>
        <p:grpSpPr>
          <a:xfrm>
            <a:off x="4008472" y="5116987"/>
            <a:ext cx="4337535" cy="1366166"/>
            <a:chOff x="4008472" y="5116987"/>
            <a:chExt cx="4337535" cy="1366166"/>
          </a:xfrm>
        </p:grpSpPr>
        <p:grpSp>
          <p:nvGrpSpPr>
            <p:cNvPr id="58" name="Group 57">
              <a:extLst>
                <a:ext uri="{FF2B5EF4-FFF2-40B4-BE49-F238E27FC236}">
                  <a16:creationId xmlns:a16="http://schemas.microsoft.com/office/drawing/2014/main" id="{B8B8CAAF-1CA3-D3B8-BF2E-544529652168}"/>
                </a:ext>
              </a:extLst>
            </p:cNvPr>
            <p:cNvGrpSpPr/>
            <p:nvPr/>
          </p:nvGrpSpPr>
          <p:grpSpPr>
            <a:xfrm>
              <a:off x="4008472" y="5116987"/>
              <a:ext cx="4337535" cy="1366166"/>
              <a:chOff x="2103121" y="3401684"/>
              <a:chExt cx="6751169" cy="1350922"/>
            </a:xfrm>
          </p:grpSpPr>
          <p:sp>
            <p:nvSpPr>
              <p:cNvPr id="59" name="Rectangle 58">
                <a:extLst>
                  <a:ext uri="{FF2B5EF4-FFF2-40B4-BE49-F238E27FC236}">
                    <a16:creationId xmlns:a16="http://schemas.microsoft.com/office/drawing/2014/main" id="{A385250A-51FE-A4DB-EFA4-74C6BAF189DC}"/>
                  </a:ext>
                </a:extLst>
              </p:cNvPr>
              <p:cNvSpPr/>
              <p:nvPr/>
            </p:nvSpPr>
            <p:spPr bwMode="auto">
              <a:xfrm>
                <a:off x="2103121" y="3401684"/>
                <a:ext cx="6612547" cy="1036621"/>
              </a:xfrm>
              <a:prstGeom prst="rect">
                <a:avLst/>
              </a:prstGeom>
              <a:solidFill>
                <a:schemeClr val="accent5">
                  <a:lumMod val="20000"/>
                  <a:lumOff val="80000"/>
                </a:schemeClr>
              </a:solid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B56B1F83-16C1-4470-22BE-152BAF8D6986}"/>
                      </a:ext>
                    </a:extLst>
                  </p:cNvPr>
                  <p:cNvSpPr txBox="1"/>
                  <p:nvPr/>
                </p:nvSpPr>
                <p:spPr>
                  <a:xfrm>
                    <a:off x="2241743" y="3468471"/>
                    <a:ext cx="6612547" cy="1284135"/>
                  </a:xfrm>
                  <a:prstGeom prst="rect">
                    <a:avLst/>
                  </a:prstGeom>
                  <a:noFill/>
                </p:spPr>
                <p:txBody>
                  <a:bodyPr wrap="square">
                    <a:spAutoFit/>
                  </a:bodyPr>
                  <a:lstStyle/>
                  <a:p>
                    <a:pPr/>
                    <a14:m>
                      <m:oMathPara xmlns:m="http://schemas.openxmlformats.org/officeDocument/2006/math">
                        <m:oMath>
                          <m:r>
                            <a:rPr lang="en-US" b="1" i="1" smtClean="0">
                              <a:solidFill>
                                <a:srgbClr val="000000"/>
                              </a:solidFill>
                              <a:latin typeface="Cambria Math" panose="02040503050406030204" pitchFamily="18" charset="0"/>
                            </a:rPr>
                            <m:t>𝑪𝒐𝒔𝒕</m:t>
                          </m:r>
                          <m:r>
                            <a:rPr lang="en-US" b="1" i="1" smtClean="0">
                              <a:solidFill>
                                <a:srgbClr val="000000"/>
                              </a:solidFill>
                              <a:latin typeface="Cambria Math" panose="02040503050406030204" pitchFamily="18" charset="0"/>
                            </a:rPr>
                            <m:t> </m:t>
                          </m:r>
                          <m:r>
                            <a:rPr lang="en-US" b="1" i="1" smtClean="0">
                              <a:solidFill>
                                <a:srgbClr val="000000"/>
                              </a:solidFill>
                              <a:latin typeface="Cambria Math" panose="02040503050406030204" pitchFamily="18" charset="0"/>
                            </a:rPr>
                            <m:t>𝒓𝒂𝒕𝒊𝒐</m:t>
                          </m:r>
                          <m:r>
                            <a:rPr lang="en-US" b="1" i="1" smtClean="0">
                              <a:solidFill>
                                <a:srgbClr val="000000"/>
                              </a:solidFill>
                              <a:latin typeface="Cambria Math" panose="02040503050406030204" pitchFamily="18" charset="0"/>
                            </a:rPr>
                            <m:t>=</m:t>
                          </m:r>
                          <m:f>
                            <m:fPr>
                              <m:ctrlPr>
                                <a:rPr lang="en-US" b="1" i="1" smtClean="0">
                                  <a:solidFill>
                                    <a:srgbClr val="000000"/>
                                  </a:solidFill>
                                  <a:latin typeface="Cambria Math" panose="02040503050406030204" pitchFamily="18" charset="0"/>
                                </a:rPr>
                              </m:ctrlPr>
                            </m:fPr>
                            <m:num>
                              <m:r>
                                <a:rPr lang="en-US" b="1" i="1" smtClean="0">
                                  <a:solidFill>
                                    <a:srgbClr val="000000"/>
                                  </a:solidFill>
                                  <a:latin typeface="Cambria Math" panose="02040503050406030204" pitchFamily="18" charset="0"/>
                                </a:rPr>
                                <m:t>𝟐𝟒𝟓𝟎</m:t>
                              </m:r>
                            </m:num>
                            <m:den>
                              <m:r>
                                <a:rPr lang="en-US" b="1" i="1" smtClean="0">
                                  <a:solidFill>
                                    <a:srgbClr val="000000"/>
                                  </a:solidFill>
                                  <a:latin typeface="Cambria Math" panose="02040503050406030204" pitchFamily="18" charset="0"/>
                                </a:rPr>
                                <m:t>𝟐𝟎𝟎𝟎</m:t>
                              </m:r>
                            </m:den>
                          </m:f>
                          <m:r>
                            <a:rPr lang="en-US" b="1" i="1" smtClean="0">
                              <a:solidFill>
                                <a:srgbClr val="000000"/>
                              </a:solidFill>
                              <a:latin typeface="Cambria Math" panose="02040503050406030204" pitchFamily="18" charset="0"/>
                            </a:rPr>
                            <m:t>=</m:t>
                          </m:r>
                          <m:r>
                            <a:rPr lang="en-US" b="1" i="1" smtClean="0">
                              <a:solidFill>
                                <a:srgbClr val="000000"/>
                              </a:solidFill>
                              <a:latin typeface="Cambria Math" panose="02040503050406030204" pitchFamily="18" charset="0"/>
                            </a:rPr>
                            <m:t>𝟏</m:t>
                          </m:r>
                          <m:r>
                            <a:rPr lang="en-US" b="1" i="1" smtClean="0">
                              <a:solidFill>
                                <a:srgbClr val="000000"/>
                              </a:solidFill>
                              <a:latin typeface="Cambria Math" panose="02040503050406030204" pitchFamily="18" charset="0"/>
                            </a:rPr>
                            <m:t>.</m:t>
                          </m:r>
                          <m:r>
                            <a:rPr lang="en-US" b="1" i="1" smtClean="0">
                              <a:solidFill>
                                <a:srgbClr val="000000"/>
                              </a:solidFill>
                              <a:latin typeface="Cambria Math" panose="02040503050406030204" pitchFamily="18" charset="0"/>
                            </a:rPr>
                            <m:t>𝟐𝟐𝟓</m:t>
                          </m:r>
                        </m:oMath>
                      </m:oMathPara>
                    </a14:m>
                    <a:endParaRPr lang="en-US" b="1" dirty="0"/>
                  </a:p>
                  <a:p>
                    <a:r>
                      <a:rPr lang="en-US" b="1" dirty="0">
                        <a:solidFill>
                          <a:srgbClr val="000000"/>
                        </a:solidFill>
                      </a:rPr>
                      <a:t>    </a:t>
                    </a:r>
                    <a14:m>
                      <m:oMath xmlns:m="http://schemas.openxmlformats.org/officeDocument/2006/math">
                        <m:r>
                          <a:rPr lang="en-US" b="1" i="1">
                            <a:solidFill>
                              <a:srgbClr val="000000"/>
                            </a:solidFill>
                            <a:latin typeface="Cambria Math" panose="02040503050406030204" pitchFamily="18" charset="0"/>
                          </a:rPr>
                          <m:t>𝑻𝒉𝒆</m:t>
                        </m:r>
                        <m:r>
                          <a:rPr lang="en-US" b="1" i="1">
                            <a:solidFill>
                              <a:srgbClr val="000000"/>
                            </a:solidFill>
                            <a:latin typeface="Cambria Math" panose="02040503050406030204" pitchFamily="18" charset="0"/>
                          </a:rPr>
                          <m:t> </m:t>
                        </m:r>
                        <m:r>
                          <a:rPr lang="en-US" b="1" i="1">
                            <a:solidFill>
                              <a:srgbClr val="000000"/>
                            </a:solidFill>
                            <a:latin typeface="Cambria Math" panose="02040503050406030204" pitchFamily="18" charset="0"/>
                          </a:rPr>
                          <m:t>𝒄𝒐𝒔𝒕</m:t>
                        </m:r>
                        <m:r>
                          <a:rPr lang="en-US" b="1" i="1">
                            <a:solidFill>
                              <a:srgbClr val="000000"/>
                            </a:solidFill>
                            <a:latin typeface="Cambria Math" panose="02040503050406030204" pitchFamily="18" charset="0"/>
                          </a:rPr>
                          <m:t> </m:t>
                        </m:r>
                        <m:r>
                          <a:rPr lang="en-US" b="1" i="1">
                            <a:solidFill>
                              <a:srgbClr val="000000"/>
                            </a:solidFill>
                            <a:latin typeface="Cambria Math" panose="02040503050406030204" pitchFamily="18" charset="0"/>
                          </a:rPr>
                          <m:t>𝒊𝒔</m:t>
                        </m:r>
                        <m:r>
                          <a:rPr lang="en-US" b="1" i="1">
                            <a:solidFill>
                              <a:srgbClr val="000000"/>
                            </a:solidFill>
                            <a:latin typeface="Cambria Math" panose="02040503050406030204" pitchFamily="18" charset="0"/>
                          </a:rPr>
                          <m:t> </m:t>
                        </m:r>
                        <m:r>
                          <a:rPr lang="en-US" b="1" i="1" smtClean="0">
                            <a:solidFill>
                              <a:srgbClr val="FF0000"/>
                            </a:solidFill>
                            <a:latin typeface="Cambria Math" panose="02040503050406030204" pitchFamily="18" charset="0"/>
                          </a:rPr>
                          <m:t>𝟐𝟐</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𝟓</m:t>
                        </m:r>
                        <m:r>
                          <a:rPr lang="en-US" b="1" i="1">
                            <a:solidFill>
                              <a:srgbClr val="FF0000"/>
                            </a:solidFill>
                            <a:latin typeface="Cambria Math" panose="02040503050406030204" pitchFamily="18" charset="0"/>
                          </a:rPr>
                          <m:t>% </m:t>
                        </m:r>
                        <m:r>
                          <a:rPr lang="en-US" b="1" i="1">
                            <a:solidFill>
                              <a:srgbClr val="000000"/>
                            </a:solidFill>
                            <a:latin typeface="Cambria Math" panose="02040503050406030204" pitchFamily="18" charset="0"/>
                          </a:rPr>
                          <m:t>𝒉𝒊𝒈𝒉𝒆𝒓</m:t>
                        </m:r>
                        <m:r>
                          <a:rPr lang="en-US" b="1" i="1">
                            <a:solidFill>
                              <a:srgbClr val="000000"/>
                            </a:solidFill>
                            <a:latin typeface="Cambria Math" panose="02040503050406030204" pitchFamily="18" charset="0"/>
                          </a:rPr>
                          <m:t> </m:t>
                        </m:r>
                        <m:r>
                          <a:rPr lang="en-US" b="1" i="1">
                            <a:solidFill>
                              <a:srgbClr val="000000"/>
                            </a:solidFill>
                            <a:latin typeface="Cambria Math" panose="02040503050406030204" pitchFamily="18" charset="0"/>
                          </a:rPr>
                          <m:t>𝒕𝒉𝒂𝒏</m:t>
                        </m:r>
                        <m:r>
                          <a:rPr lang="en-US" b="1" i="1">
                            <a:solidFill>
                              <a:srgbClr val="000000"/>
                            </a:solidFill>
                            <a:latin typeface="Cambria Math" panose="02040503050406030204" pitchFamily="18" charset="0"/>
                          </a:rPr>
                          <m:t> </m:t>
                        </m:r>
                        <m:r>
                          <a:rPr lang="en-US" b="1" i="1">
                            <a:solidFill>
                              <a:srgbClr val="000000"/>
                            </a:solidFill>
                            <a:latin typeface="Cambria Math" panose="02040503050406030204" pitchFamily="18" charset="0"/>
                          </a:rPr>
                          <m:t>𝒏𝒆𝒆𝒅𝒆𝒅</m:t>
                        </m:r>
                      </m:oMath>
                    </a14:m>
                    <a:endParaRPr lang="en-DK" b="1" dirty="0">
                      <a:latin typeface="Arial" panose="020B0604020202020204" pitchFamily="34" charset="0"/>
                      <a:cs typeface="Arial" panose="020B0604020202020204" pitchFamily="34" charset="0"/>
                    </a:endParaRPr>
                  </a:p>
                  <a:p>
                    <a:endParaRPr lang="en-DK" b="1" dirty="0"/>
                  </a:p>
                </p:txBody>
              </p:sp>
            </mc:Choice>
            <mc:Fallback xmlns="">
              <p:sp>
                <p:nvSpPr>
                  <p:cNvPr id="60" name="TextBox 59">
                    <a:extLst>
                      <a:ext uri="{FF2B5EF4-FFF2-40B4-BE49-F238E27FC236}">
                        <a16:creationId xmlns:a16="http://schemas.microsoft.com/office/drawing/2014/main" id="{B56B1F83-16C1-4470-22BE-152BAF8D6986}"/>
                      </a:ext>
                    </a:extLst>
                  </p:cNvPr>
                  <p:cNvSpPr txBox="1">
                    <a:spLocks noRot="1" noChangeAspect="1" noMove="1" noResize="1" noEditPoints="1" noAdjustHandles="1" noChangeArrowheads="1" noChangeShapeType="1" noTextEdit="1"/>
                  </p:cNvSpPr>
                  <p:nvPr/>
                </p:nvSpPr>
                <p:spPr>
                  <a:xfrm>
                    <a:off x="2241743" y="3468471"/>
                    <a:ext cx="6612547" cy="1284135"/>
                  </a:xfrm>
                  <a:prstGeom prst="rect">
                    <a:avLst/>
                  </a:prstGeom>
                  <a:blipFill>
                    <a:blip r:embed="rId2"/>
                    <a:stretch>
                      <a:fillRect/>
                    </a:stretch>
                  </a:blipFill>
                </p:spPr>
                <p:txBody>
                  <a:bodyPr/>
                  <a:lstStyle/>
                  <a:p>
                    <a:r>
                      <a:rPr lang="en-US">
                        <a:noFill/>
                      </a:rPr>
                      <a:t> </a:t>
                    </a:r>
                  </a:p>
                </p:txBody>
              </p:sp>
            </mc:Fallback>
          </mc:AlternateContent>
        </p:grpSp>
        <p:cxnSp>
          <p:nvCxnSpPr>
            <p:cNvPr id="65" name="Straight Arrow Connector 64">
              <a:extLst>
                <a:ext uri="{FF2B5EF4-FFF2-40B4-BE49-F238E27FC236}">
                  <a16:creationId xmlns:a16="http://schemas.microsoft.com/office/drawing/2014/main" id="{52E6AB91-E529-FFE9-FBBA-9F8BEDA11562}"/>
                </a:ext>
              </a:extLst>
            </p:cNvPr>
            <p:cNvCxnSpPr/>
            <p:nvPr/>
          </p:nvCxnSpPr>
          <p:spPr bwMode="auto">
            <a:xfrm>
              <a:off x="4122340" y="5949280"/>
              <a:ext cx="272538"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62414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F6915-DB44-3F8F-FB4D-C6B131DD3C68}"/>
            </a:ext>
          </a:extLst>
        </p:cNvPr>
        <p:cNvGrpSpPr/>
        <p:nvPr/>
      </p:nvGrpSpPr>
      <p:grpSpPr>
        <a:xfrm>
          <a:off x="0" y="0"/>
          <a:ext cx="0" cy="0"/>
          <a:chOff x="0" y="0"/>
          <a:chExt cx="0" cy="0"/>
        </a:xfrm>
      </p:grpSpPr>
      <p:sp>
        <p:nvSpPr>
          <p:cNvPr id="22" name="Title 21">
            <a:extLst>
              <a:ext uri="{FF2B5EF4-FFF2-40B4-BE49-F238E27FC236}">
                <a16:creationId xmlns:a16="http://schemas.microsoft.com/office/drawing/2014/main" id="{83ECD997-D202-6C06-0284-37BAEF9648AA}"/>
              </a:ext>
            </a:extLst>
          </p:cNvPr>
          <p:cNvSpPr>
            <a:spLocks noGrp="1"/>
          </p:cNvSpPr>
          <p:nvPr>
            <p:ph type="ctrTitle"/>
          </p:nvPr>
        </p:nvSpPr>
        <p:spPr>
          <a:xfrm>
            <a:off x="262558" y="1772816"/>
            <a:ext cx="10840028" cy="2822575"/>
          </a:xfrm>
        </p:spPr>
        <p:txBody>
          <a:bodyPr/>
          <a:lstStyle/>
          <a:p>
            <a:r>
              <a:rPr lang="en-GB" sz="5400" dirty="0"/>
              <a:t>Which scenario do you think is more realistic?</a:t>
            </a:r>
          </a:p>
        </p:txBody>
      </p:sp>
    </p:spTree>
    <p:custDataLst>
      <p:custData r:id="rId1"/>
      <p:custData r:id="rId2"/>
    </p:custDataLst>
    <p:extLst>
      <p:ext uri="{BB962C8B-B14F-4D97-AF65-F5344CB8AC3E}">
        <p14:creationId xmlns:p14="http://schemas.microsoft.com/office/powerpoint/2010/main" val="3828445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477D2-F359-6C91-0453-6BB456F5F72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970DB8F-8A27-4269-125B-63F80BCDE3BB}"/>
              </a:ext>
            </a:extLst>
          </p:cNvPr>
          <p:cNvSpPr>
            <a:spLocks noGrp="1"/>
          </p:cNvSpPr>
          <p:nvPr>
            <p:ph type="dt" sz="half" idx="10"/>
          </p:nvPr>
        </p:nvSpPr>
        <p:spPr/>
        <p:txBody>
          <a:bodyPr/>
          <a:lstStyle/>
          <a:p>
            <a:fld id="{88FA283D-FBF2-4B5A-A17F-5F7133A1E889}" type="datetime1">
              <a:rPr lang="da-DK" smtClean="0"/>
              <a:t>03-09-2026</a:t>
            </a:fld>
            <a:endParaRPr lang="en-GB"/>
          </a:p>
        </p:txBody>
      </p:sp>
      <p:sp>
        <p:nvSpPr>
          <p:cNvPr id="5" name="Footer Placeholder 4">
            <a:extLst>
              <a:ext uri="{FF2B5EF4-FFF2-40B4-BE49-F238E27FC236}">
                <a16:creationId xmlns:a16="http://schemas.microsoft.com/office/drawing/2014/main" id="{3033CA92-0AA7-809E-F01C-4749CA22AAD9}"/>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034B30C8-AB19-82FD-620D-B835A44A3139}"/>
              </a:ext>
            </a:extLst>
          </p:cNvPr>
          <p:cNvSpPr>
            <a:spLocks noGrp="1"/>
          </p:cNvSpPr>
          <p:nvPr>
            <p:ph type="sldNum" sz="quarter" idx="12"/>
          </p:nvPr>
        </p:nvSpPr>
        <p:spPr/>
        <p:txBody>
          <a:bodyPr/>
          <a:lstStyle/>
          <a:p>
            <a:fld id="{103EA872-A674-449B-A120-B97244F8E91D}" type="slidenum">
              <a:rPr lang="da-DK" smtClean="0"/>
              <a:pPr/>
              <a:t>16</a:t>
            </a:fld>
            <a:endParaRPr lang="da-DK" dirty="0"/>
          </a:p>
        </p:txBody>
      </p:sp>
      <p:sp>
        <p:nvSpPr>
          <p:cNvPr id="26" name="TextBox 25">
            <a:extLst>
              <a:ext uri="{FF2B5EF4-FFF2-40B4-BE49-F238E27FC236}">
                <a16:creationId xmlns:a16="http://schemas.microsoft.com/office/drawing/2014/main" id="{5512E896-F77E-2BE4-B3F5-58EB12D3C54B}"/>
              </a:ext>
            </a:extLst>
          </p:cNvPr>
          <p:cNvSpPr txBox="1"/>
          <p:nvPr/>
        </p:nvSpPr>
        <p:spPr>
          <a:xfrm>
            <a:off x="5064627" y="3178740"/>
            <a:ext cx="872816" cy="222108"/>
          </a:xfrm>
          <a:prstGeom prst="rect">
            <a:avLst/>
          </a:prstGeom>
          <a:noFill/>
        </p:spPr>
        <p:txBody>
          <a:bodyPr wrap="square" lIns="0" tIns="0" rIns="0" bIns="0" rtlCol="0">
            <a:spAutoFit/>
          </a:bodyPr>
          <a:lstStyle/>
          <a:p>
            <a:pPr algn="l">
              <a:spcBef>
                <a:spcPts val="432"/>
              </a:spcBef>
            </a:pPr>
            <a:endParaRPr lang="en-DK" dirty="0">
              <a:latin typeface="+mn-lt"/>
            </a:endParaRPr>
          </a:p>
        </p:txBody>
      </p:sp>
      <p:sp>
        <p:nvSpPr>
          <p:cNvPr id="29" name="TextBox 28">
            <a:extLst>
              <a:ext uri="{FF2B5EF4-FFF2-40B4-BE49-F238E27FC236}">
                <a16:creationId xmlns:a16="http://schemas.microsoft.com/office/drawing/2014/main" id="{46382428-7169-2D9B-9AA7-482F2E6F7775}"/>
              </a:ext>
            </a:extLst>
          </p:cNvPr>
          <p:cNvSpPr txBox="1"/>
          <p:nvPr/>
        </p:nvSpPr>
        <p:spPr>
          <a:xfrm>
            <a:off x="820932" y="2671342"/>
            <a:ext cx="1315734" cy="222108"/>
          </a:xfrm>
          <a:prstGeom prst="rect">
            <a:avLst/>
          </a:prstGeom>
          <a:noFill/>
        </p:spPr>
        <p:txBody>
          <a:bodyPr wrap="square" lIns="0" tIns="0" rIns="0" bIns="0" rtlCol="0">
            <a:spAutoFit/>
          </a:bodyPr>
          <a:lstStyle/>
          <a:p>
            <a:pPr algn="l">
              <a:spcBef>
                <a:spcPts val="432"/>
              </a:spcBef>
            </a:pPr>
            <a:endParaRPr lang="en-DK" dirty="0">
              <a:latin typeface="+mn-lt"/>
            </a:endParaRPr>
          </a:p>
        </p:txBody>
      </p:sp>
      <p:graphicFrame>
        <p:nvGraphicFramePr>
          <p:cNvPr id="39" name="Table 38">
            <a:extLst>
              <a:ext uri="{FF2B5EF4-FFF2-40B4-BE49-F238E27FC236}">
                <a16:creationId xmlns:a16="http://schemas.microsoft.com/office/drawing/2014/main" id="{DA85126E-ABC2-9D99-7B59-2D131C9F7611}"/>
              </a:ext>
            </a:extLst>
          </p:cNvPr>
          <p:cNvGraphicFramePr>
            <a:graphicFrameLocks noGrp="1"/>
          </p:cNvGraphicFramePr>
          <p:nvPr/>
        </p:nvGraphicFramePr>
        <p:xfrm>
          <a:off x="6915919" y="3068960"/>
          <a:ext cx="3284094" cy="1894714"/>
        </p:xfrm>
        <a:graphic>
          <a:graphicData uri="http://schemas.openxmlformats.org/drawingml/2006/table">
            <a:tbl>
              <a:tblPr firstRow="1" bandRow="1">
                <a:tableStyleId>{5C22544A-7EE6-4342-B048-85BDC9FD1C3A}</a:tableStyleId>
              </a:tblPr>
              <a:tblGrid>
                <a:gridCol w="1094698">
                  <a:extLst>
                    <a:ext uri="{9D8B030D-6E8A-4147-A177-3AD203B41FA5}">
                      <a16:colId xmlns:a16="http://schemas.microsoft.com/office/drawing/2014/main" val="2120270077"/>
                    </a:ext>
                  </a:extLst>
                </a:gridCol>
                <a:gridCol w="1094698">
                  <a:extLst>
                    <a:ext uri="{9D8B030D-6E8A-4147-A177-3AD203B41FA5}">
                      <a16:colId xmlns:a16="http://schemas.microsoft.com/office/drawing/2014/main" val="4249083467"/>
                    </a:ext>
                  </a:extLst>
                </a:gridCol>
                <a:gridCol w="1094698">
                  <a:extLst>
                    <a:ext uri="{9D8B030D-6E8A-4147-A177-3AD203B41FA5}">
                      <a16:colId xmlns:a16="http://schemas.microsoft.com/office/drawing/2014/main" val="2841158744"/>
                    </a:ext>
                  </a:extLst>
                </a:gridCol>
              </a:tblGrid>
              <a:tr h="455043">
                <a:tc>
                  <a:txBody>
                    <a:bodyPr/>
                    <a:lstStyle/>
                    <a:p>
                      <a:pPr algn="ctr"/>
                      <a:r>
                        <a:rPr lang="en-DK" sz="1300" dirty="0"/>
                        <a:t>Generator</a:t>
                      </a:r>
                    </a:p>
                  </a:txBody>
                  <a:tcPr marL="70424" marR="70424" marT="35212" marB="35212" anchor="ctr"/>
                </a:tc>
                <a:tc>
                  <a:txBody>
                    <a:bodyPr/>
                    <a:lstStyle/>
                    <a:p>
                      <a:pPr algn="ctr"/>
                      <a:r>
                        <a:rPr lang="en-US" sz="1300" dirty="0"/>
                        <a:t>Producing cost</a:t>
                      </a:r>
                      <a:endParaRPr lang="en-DK" sz="1300" dirty="0"/>
                    </a:p>
                  </a:txBody>
                  <a:tcPr marL="70424" marR="70424" marT="35212" marB="35212" anchor="ctr"/>
                </a:tc>
                <a:tc>
                  <a:txBody>
                    <a:bodyPr/>
                    <a:lstStyle/>
                    <a:p>
                      <a:pPr algn="ctr"/>
                      <a:r>
                        <a:rPr lang="en-DK" sz="1300" dirty="0"/>
                        <a:t>Generation</a:t>
                      </a:r>
                    </a:p>
                  </a:txBody>
                  <a:tcPr marL="70424" marR="70424" marT="35212" marB="35212" anchor="ctr"/>
                </a:tc>
                <a:extLst>
                  <a:ext uri="{0D108BD9-81ED-4DB2-BD59-A6C34878D82A}">
                    <a16:rowId xmlns:a16="http://schemas.microsoft.com/office/drawing/2014/main" val="1535084899"/>
                  </a:ext>
                </a:extLst>
              </a:tr>
              <a:tr h="285610">
                <a:tc>
                  <a:txBody>
                    <a:bodyPr/>
                    <a:lstStyle/>
                    <a:p>
                      <a:pPr algn="ctr"/>
                      <a:r>
                        <a:rPr lang="en-DK" sz="1400" b="1" dirty="0"/>
                        <a:t>G1</a:t>
                      </a:r>
                    </a:p>
                  </a:txBody>
                  <a:tcPr marL="70424" marR="70424" marT="35212" marB="35212"/>
                </a:tc>
                <a:tc>
                  <a:txBody>
                    <a:bodyPr/>
                    <a:lstStyle/>
                    <a:p>
                      <a:pPr algn="ctr"/>
                      <a:r>
                        <a:rPr lang="en-US" sz="1400" b="1" dirty="0"/>
                        <a:t>500</a:t>
                      </a:r>
                      <a:endParaRPr lang="en-DK" sz="1400" b="1" dirty="0"/>
                    </a:p>
                  </a:txBody>
                  <a:tcPr marL="70424" marR="70424" marT="35212" marB="35212"/>
                </a:tc>
                <a:tc>
                  <a:txBody>
                    <a:bodyPr/>
                    <a:lstStyle/>
                    <a:p>
                      <a:pPr algn="ctr"/>
                      <a:r>
                        <a:rPr lang="en-DK" sz="1400" b="1" dirty="0"/>
                        <a:t>100%</a:t>
                      </a:r>
                    </a:p>
                  </a:txBody>
                  <a:tcPr marL="70424" marR="70424" marT="35212" marB="35212"/>
                </a:tc>
                <a:extLst>
                  <a:ext uri="{0D108BD9-81ED-4DB2-BD59-A6C34878D82A}">
                    <a16:rowId xmlns:a16="http://schemas.microsoft.com/office/drawing/2014/main" val="1136424323"/>
                  </a:ext>
                </a:extLst>
              </a:tr>
              <a:tr h="285610">
                <a:tc>
                  <a:txBody>
                    <a:bodyPr/>
                    <a:lstStyle/>
                    <a:p>
                      <a:pPr algn="ctr"/>
                      <a:r>
                        <a:rPr lang="en-DK" sz="1400" b="1" dirty="0"/>
                        <a:t>G2</a:t>
                      </a:r>
                    </a:p>
                  </a:txBody>
                  <a:tcPr marL="70424" marR="70424" marT="35212" marB="35212"/>
                </a:tc>
                <a:tc>
                  <a:txBody>
                    <a:bodyPr/>
                    <a:lstStyle/>
                    <a:p>
                      <a:pPr algn="ctr"/>
                      <a:r>
                        <a:rPr lang="en-US" sz="1400" b="1" dirty="0"/>
                        <a:t>500</a:t>
                      </a:r>
                      <a:endParaRPr lang="en-DK" sz="1400" b="1" dirty="0"/>
                    </a:p>
                  </a:txBody>
                  <a:tcPr marL="70424" marR="70424" marT="35212" marB="35212"/>
                </a:tc>
                <a:tc>
                  <a:txBody>
                    <a:bodyPr/>
                    <a:lstStyle/>
                    <a:p>
                      <a:pPr algn="ctr"/>
                      <a:r>
                        <a:rPr lang="en-DK" sz="1400" b="1" dirty="0"/>
                        <a:t>100%</a:t>
                      </a:r>
                    </a:p>
                  </a:txBody>
                  <a:tcPr marL="70424" marR="70424" marT="35212" marB="35212"/>
                </a:tc>
                <a:extLst>
                  <a:ext uri="{0D108BD9-81ED-4DB2-BD59-A6C34878D82A}">
                    <a16:rowId xmlns:a16="http://schemas.microsoft.com/office/drawing/2014/main" val="1590719974"/>
                  </a:ext>
                </a:extLst>
              </a:tr>
              <a:tr h="285610">
                <a:tc>
                  <a:txBody>
                    <a:bodyPr/>
                    <a:lstStyle/>
                    <a:p>
                      <a:pPr algn="ctr"/>
                      <a:r>
                        <a:rPr lang="en-DK" sz="1400" b="1" dirty="0"/>
                        <a:t>G3</a:t>
                      </a:r>
                    </a:p>
                  </a:txBody>
                  <a:tcPr marL="70424" marR="70424" marT="35212" marB="35212"/>
                </a:tc>
                <a:tc>
                  <a:txBody>
                    <a:bodyPr/>
                    <a:lstStyle/>
                    <a:p>
                      <a:pPr algn="ctr"/>
                      <a:r>
                        <a:rPr lang="en-US" sz="1400" b="1" dirty="0"/>
                        <a:t>250</a:t>
                      </a:r>
                      <a:endParaRPr lang="en-DK" sz="1400" b="1" dirty="0"/>
                    </a:p>
                  </a:txBody>
                  <a:tcPr marL="70424" marR="70424" marT="35212" marB="35212"/>
                </a:tc>
                <a:tc>
                  <a:txBody>
                    <a:bodyPr/>
                    <a:lstStyle/>
                    <a:p>
                      <a:pPr algn="ctr"/>
                      <a:r>
                        <a:rPr lang="en-DK" sz="1400" b="1" dirty="0"/>
                        <a:t>20%</a:t>
                      </a:r>
                    </a:p>
                  </a:txBody>
                  <a:tcPr marL="70424" marR="70424" marT="35212" marB="35212"/>
                </a:tc>
                <a:extLst>
                  <a:ext uri="{0D108BD9-81ED-4DB2-BD59-A6C34878D82A}">
                    <a16:rowId xmlns:a16="http://schemas.microsoft.com/office/drawing/2014/main" val="3534962959"/>
                  </a:ext>
                </a:extLst>
              </a:tr>
              <a:tr h="285610">
                <a:tc>
                  <a:txBody>
                    <a:bodyPr/>
                    <a:lstStyle/>
                    <a:p>
                      <a:pPr algn="ctr"/>
                      <a:r>
                        <a:rPr lang="en-DK" sz="1400" b="1" dirty="0"/>
                        <a:t>G4</a:t>
                      </a:r>
                    </a:p>
                  </a:txBody>
                  <a:tcPr marL="70424" marR="70424" marT="35212" marB="35212"/>
                </a:tc>
                <a:tc>
                  <a:txBody>
                    <a:bodyPr/>
                    <a:lstStyle/>
                    <a:p>
                      <a:pPr algn="ctr"/>
                      <a:r>
                        <a:rPr lang="en-US" sz="1400" b="1" dirty="0"/>
                        <a:t>1200</a:t>
                      </a:r>
                      <a:endParaRPr lang="en-DK" sz="1400" b="1" dirty="0"/>
                    </a:p>
                  </a:txBody>
                  <a:tcPr marL="70424" marR="70424" marT="35212" marB="35212"/>
                </a:tc>
                <a:tc>
                  <a:txBody>
                    <a:bodyPr/>
                    <a:lstStyle/>
                    <a:p>
                      <a:pPr algn="ctr"/>
                      <a:r>
                        <a:rPr lang="en-DK" sz="1400" b="1" dirty="0"/>
                        <a:t>100%</a:t>
                      </a:r>
                    </a:p>
                  </a:txBody>
                  <a:tcPr marL="70424" marR="70424" marT="35212" marB="35212"/>
                </a:tc>
                <a:extLst>
                  <a:ext uri="{0D108BD9-81ED-4DB2-BD59-A6C34878D82A}">
                    <a16:rowId xmlns:a16="http://schemas.microsoft.com/office/drawing/2014/main" val="626535670"/>
                  </a:ext>
                </a:extLst>
              </a:tr>
              <a:tr h="285610">
                <a:tc>
                  <a:txBody>
                    <a:bodyPr/>
                    <a:lstStyle/>
                    <a:p>
                      <a:pPr algn="ctr"/>
                      <a:r>
                        <a:rPr lang="en-DK" sz="1400" b="1" dirty="0"/>
                        <a:t>Total</a:t>
                      </a:r>
                    </a:p>
                  </a:txBody>
                  <a:tcPr marL="70424" marR="70424" marT="35212" marB="35212"/>
                </a:tc>
                <a:tc>
                  <a:txBody>
                    <a:bodyPr/>
                    <a:lstStyle/>
                    <a:p>
                      <a:pPr algn="ctr"/>
                      <a:r>
                        <a:rPr lang="en-US" sz="1400" b="1" dirty="0">
                          <a:solidFill>
                            <a:srgbClr val="FF0000"/>
                          </a:solidFill>
                        </a:rPr>
                        <a:t>2450</a:t>
                      </a:r>
                      <a:endParaRPr lang="en-DK" sz="1400" b="1" dirty="0">
                        <a:solidFill>
                          <a:srgbClr val="FF0000"/>
                        </a:solidFill>
                      </a:endParaRPr>
                    </a:p>
                  </a:txBody>
                  <a:tcPr marL="70424" marR="70424" marT="35212" marB="35212"/>
                </a:tc>
                <a:tc>
                  <a:txBody>
                    <a:bodyPr/>
                    <a:lstStyle/>
                    <a:p>
                      <a:pPr algn="ctr"/>
                      <a:r>
                        <a:rPr lang="en-DK" sz="1400" b="1" dirty="0"/>
                        <a:t>-</a:t>
                      </a:r>
                    </a:p>
                  </a:txBody>
                  <a:tcPr marL="70424" marR="70424" marT="35212" marB="35212"/>
                </a:tc>
                <a:extLst>
                  <a:ext uri="{0D108BD9-81ED-4DB2-BD59-A6C34878D82A}">
                    <a16:rowId xmlns:a16="http://schemas.microsoft.com/office/drawing/2014/main" val="2578818775"/>
                  </a:ext>
                </a:extLst>
              </a:tr>
            </a:tbl>
          </a:graphicData>
        </a:graphic>
      </p:graphicFrame>
      <p:sp>
        <p:nvSpPr>
          <p:cNvPr id="7" name="TextBox 6">
            <a:extLst>
              <a:ext uri="{FF2B5EF4-FFF2-40B4-BE49-F238E27FC236}">
                <a16:creationId xmlns:a16="http://schemas.microsoft.com/office/drawing/2014/main" id="{C3FD52FC-3A88-EB1C-EB78-6290696C9719}"/>
              </a:ext>
            </a:extLst>
          </p:cNvPr>
          <p:cNvSpPr txBox="1"/>
          <p:nvPr/>
        </p:nvSpPr>
        <p:spPr>
          <a:xfrm>
            <a:off x="1429814" y="1380199"/>
            <a:ext cx="2888611" cy="543739"/>
          </a:xfrm>
          <a:prstGeom prst="rect">
            <a:avLst/>
          </a:prstGeom>
          <a:noFill/>
        </p:spPr>
        <p:txBody>
          <a:bodyPr wrap="none" lIns="0" tIns="0" rIns="0" bIns="0" rtlCol="0">
            <a:spAutoFit/>
          </a:bodyPr>
          <a:lstStyle/>
          <a:p>
            <a:pPr algn="l">
              <a:spcBef>
                <a:spcPts val="432"/>
              </a:spcBef>
            </a:pPr>
            <a:r>
              <a:rPr lang="en-US" dirty="0">
                <a:latin typeface="+mn-lt"/>
              </a:rPr>
              <a:t>It rationally makes sense for G3</a:t>
            </a:r>
          </a:p>
          <a:p>
            <a:pPr algn="l">
              <a:spcBef>
                <a:spcPts val="432"/>
              </a:spcBef>
            </a:pPr>
            <a:r>
              <a:rPr lang="en-US" dirty="0">
                <a:latin typeface="+mn-lt"/>
              </a:rPr>
              <a:t>to artificially inflate their price</a:t>
            </a:r>
          </a:p>
        </p:txBody>
      </p:sp>
      <p:grpSp>
        <p:nvGrpSpPr>
          <p:cNvPr id="73" name="Group 72">
            <a:extLst>
              <a:ext uri="{FF2B5EF4-FFF2-40B4-BE49-F238E27FC236}">
                <a16:creationId xmlns:a16="http://schemas.microsoft.com/office/drawing/2014/main" id="{16E4246A-5F75-EFC1-7756-8F3ECA75196A}"/>
              </a:ext>
            </a:extLst>
          </p:cNvPr>
          <p:cNvGrpSpPr/>
          <p:nvPr/>
        </p:nvGrpSpPr>
        <p:grpSpPr>
          <a:xfrm>
            <a:off x="6929980" y="836712"/>
            <a:ext cx="2915656" cy="2184235"/>
            <a:chOff x="6929980" y="836712"/>
            <a:chExt cx="2915656" cy="2184235"/>
          </a:xfrm>
        </p:grpSpPr>
        <p:cxnSp>
          <p:nvCxnSpPr>
            <p:cNvPr id="8" name="Straight Arrow Connector 7">
              <a:extLst>
                <a:ext uri="{FF2B5EF4-FFF2-40B4-BE49-F238E27FC236}">
                  <a16:creationId xmlns:a16="http://schemas.microsoft.com/office/drawing/2014/main" id="{6DF0CE5D-B5B9-3B84-4955-B789377803DE}"/>
                </a:ext>
              </a:extLst>
            </p:cNvPr>
            <p:cNvCxnSpPr>
              <a:cxnSpLocks/>
            </p:cNvCxnSpPr>
            <p:nvPr/>
          </p:nvCxnSpPr>
          <p:spPr bwMode="auto">
            <a:xfrm flipV="1">
              <a:off x="6932996" y="836712"/>
              <a:ext cx="0" cy="201076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Rectangle 8">
              <a:extLst>
                <a:ext uri="{FF2B5EF4-FFF2-40B4-BE49-F238E27FC236}">
                  <a16:creationId xmlns:a16="http://schemas.microsoft.com/office/drawing/2014/main" id="{A214A8E2-EA60-0103-A18E-D410753613FF}"/>
                </a:ext>
              </a:extLst>
            </p:cNvPr>
            <p:cNvSpPr/>
            <p:nvPr/>
          </p:nvSpPr>
          <p:spPr bwMode="auto">
            <a:xfrm>
              <a:off x="6949820" y="2748934"/>
              <a:ext cx="683734" cy="87444"/>
            </a:xfrm>
            <a:prstGeom prst="rect">
              <a:avLst/>
            </a:prstGeom>
            <a:solidFill>
              <a:schemeClr val="accent5">
                <a:lumMod val="40000"/>
                <a:lumOff val="60000"/>
                <a:alpha val="67059"/>
              </a:schemeClr>
            </a:solidFill>
            <a:ln>
              <a:solidFill>
                <a:schemeClr val="accent5"/>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0" name="Rectangle 9">
              <a:extLst>
                <a:ext uri="{FF2B5EF4-FFF2-40B4-BE49-F238E27FC236}">
                  <a16:creationId xmlns:a16="http://schemas.microsoft.com/office/drawing/2014/main" id="{67BF3A04-A180-67E1-1C56-300DD800F7C6}"/>
                </a:ext>
              </a:extLst>
            </p:cNvPr>
            <p:cNvSpPr/>
            <p:nvPr/>
          </p:nvSpPr>
          <p:spPr bwMode="auto">
            <a:xfrm>
              <a:off x="7641829" y="2614344"/>
              <a:ext cx="402195" cy="221629"/>
            </a:xfrm>
            <a:prstGeom prst="rect">
              <a:avLst/>
            </a:prstGeom>
            <a:solidFill>
              <a:srgbClr val="B2D5FF"/>
            </a:solidFill>
            <a:ln>
              <a:solidFill>
                <a:srgbClr val="6583CD"/>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1" name="Rectangle 10">
              <a:extLst>
                <a:ext uri="{FF2B5EF4-FFF2-40B4-BE49-F238E27FC236}">
                  <a16:creationId xmlns:a16="http://schemas.microsoft.com/office/drawing/2014/main" id="{FECEBB49-BEAB-FDEA-379F-9E261F157BB2}"/>
                </a:ext>
              </a:extLst>
            </p:cNvPr>
            <p:cNvSpPr/>
            <p:nvPr/>
          </p:nvSpPr>
          <p:spPr bwMode="auto">
            <a:xfrm>
              <a:off x="8055829" y="2102358"/>
              <a:ext cx="261460" cy="730554"/>
            </a:xfrm>
            <a:prstGeom prst="rect">
              <a:avLst/>
            </a:prstGeom>
            <a:solidFill>
              <a:schemeClr val="tx2">
                <a:lumMod val="40000"/>
                <a:lumOff val="60000"/>
              </a:schemeClr>
            </a:solidFill>
            <a:ln>
              <a:solidFill>
                <a:schemeClr val="accent6">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12" name="Straight Arrow Connector 11">
              <a:extLst>
                <a:ext uri="{FF2B5EF4-FFF2-40B4-BE49-F238E27FC236}">
                  <a16:creationId xmlns:a16="http://schemas.microsoft.com/office/drawing/2014/main" id="{9DE7931B-DD27-F285-C73F-0DEAB7986197}"/>
                </a:ext>
              </a:extLst>
            </p:cNvPr>
            <p:cNvCxnSpPr>
              <a:cxnSpLocks/>
            </p:cNvCxnSpPr>
            <p:nvPr/>
          </p:nvCxnSpPr>
          <p:spPr bwMode="auto">
            <a:xfrm>
              <a:off x="6929980" y="2847472"/>
              <a:ext cx="2915656" cy="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Rectangle 12">
              <a:extLst>
                <a:ext uri="{FF2B5EF4-FFF2-40B4-BE49-F238E27FC236}">
                  <a16:creationId xmlns:a16="http://schemas.microsoft.com/office/drawing/2014/main" id="{475F8BA9-1E3C-3AE4-7D01-205E76B9F6FD}"/>
                </a:ext>
              </a:extLst>
            </p:cNvPr>
            <p:cNvSpPr/>
            <p:nvPr/>
          </p:nvSpPr>
          <p:spPr bwMode="auto">
            <a:xfrm>
              <a:off x="8325563" y="1908479"/>
              <a:ext cx="474361" cy="923492"/>
            </a:xfrm>
            <a:prstGeom prst="rect">
              <a:avLst/>
            </a:prstGeom>
            <a:solidFill>
              <a:schemeClr val="accent3">
                <a:lumMod val="40000"/>
                <a:lumOff val="60000"/>
              </a:schemeClr>
            </a:solidFill>
            <a:ln>
              <a:solidFill>
                <a:schemeClr val="accent3">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14" name="Straight Connector 13">
              <a:extLst>
                <a:ext uri="{FF2B5EF4-FFF2-40B4-BE49-F238E27FC236}">
                  <a16:creationId xmlns:a16="http://schemas.microsoft.com/office/drawing/2014/main" id="{49344946-830D-F229-7D41-2DFACE0E65B5}"/>
                </a:ext>
              </a:extLst>
            </p:cNvPr>
            <p:cNvCxnSpPr>
              <a:cxnSpLocks/>
            </p:cNvCxnSpPr>
            <p:nvPr/>
          </p:nvCxnSpPr>
          <p:spPr bwMode="auto">
            <a:xfrm>
              <a:off x="8437947" y="1099927"/>
              <a:ext cx="0" cy="1747545"/>
            </a:xfrm>
            <a:prstGeom prst="line">
              <a:avLst/>
            </a:prstGeom>
            <a:ln w="3810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E285F28C-B0CA-1591-D6A0-DA294BAB4027}"/>
                </a:ext>
              </a:extLst>
            </p:cNvPr>
            <p:cNvCxnSpPr>
              <a:cxnSpLocks/>
            </p:cNvCxnSpPr>
            <p:nvPr/>
          </p:nvCxnSpPr>
          <p:spPr bwMode="auto">
            <a:xfrm>
              <a:off x="8325563" y="2366590"/>
              <a:ext cx="474361" cy="0"/>
            </a:xfrm>
            <a:prstGeom prst="line">
              <a:avLst/>
            </a:prstGeom>
            <a:solidFill>
              <a:schemeClr val="accent1"/>
            </a:solidFill>
            <a:ln w="28575" cap="flat" cmpd="sng" algn="ctr">
              <a:solidFill>
                <a:schemeClr val="accent3">
                  <a:lumMod val="75000"/>
                </a:schemeClr>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Rectangle 16">
              <a:extLst>
                <a:ext uri="{FF2B5EF4-FFF2-40B4-BE49-F238E27FC236}">
                  <a16:creationId xmlns:a16="http://schemas.microsoft.com/office/drawing/2014/main" id="{B20ED299-F568-8F91-7AFB-BED97953A4F4}"/>
                </a:ext>
              </a:extLst>
            </p:cNvPr>
            <p:cNvSpPr/>
            <p:nvPr/>
          </p:nvSpPr>
          <p:spPr bwMode="auto">
            <a:xfrm>
              <a:off x="8811265" y="1582564"/>
              <a:ext cx="261460" cy="1254283"/>
            </a:xfrm>
            <a:prstGeom prst="rect">
              <a:avLst/>
            </a:prstGeom>
            <a:solidFill>
              <a:schemeClr val="tx1">
                <a:lumMod val="65000"/>
                <a:lumOff val="35000"/>
              </a:schemeClr>
            </a:solidFill>
            <a:ln>
              <a:solidFill>
                <a:schemeClr val="tx1">
                  <a:lumMod val="85000"/>
                  <a:lumOff val="1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8" name="Rectangle 17">
              <a:extLst>
                <a:ext uri="{FF2B5EF4-FFF2-40B4-BE49-F238E27FC236}">
                  <a16:creationId xmlns:a16="http://schemas.microsoft.com/office/drawing/2014/main" id="{E047F9CA-4B28-38AA-F940-53A1AADA31A0}"/>
                </a:ext>
              </a:extLst>
            </p:cNvPr>
            <p:cNvSpPr/>
            <p:nvPr/>
          </p:nvSpPr>
          <p:spPr bwMode="auto">
            <a:xfrm>
              <a:off x="8811265" y="1574846"/>
              <a:ext cx="261460" cy="1254283"/>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19" name="Rectangle 18">
              <a:extLst>
                <a:ext uri="{FF2B5EF4-FFF2-40B4-BE49-F238E27FC236}">
                  <a16:creationId xmlns:a16="http://schemas.microsoft.com/office/drawing/2014/main" id="{86446F1A-B91D-AA8E-1759-1BE9818A9035}"/>
                </a:ext>
              </a:extLst>
            </p:cNvPr>
            <p:cNvSpPr/>
            <p:nvPr/>
          </p:nvSpPr>
          <p:spPr bwMode="auto">
            <a:xfrm>
              <a:off x="8463277" y="1913792"/>
              <a:ext cx="342317" cy="920650"/>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grpSp>
          <p:nvGrpSpPr>
            <p:cNvPr id="51" name="Group 50">
              <a:extLst>
                <a:ext uri="{FF2B5EF4-FFF2-40B4-BE49-F238E27FC236}">
                  <a16:creationId xmlns:a16="http://schemas.microsoft.com/office/drawing/2014/main" id="{2171565B-F8E1-4997-8824-78A8309C446F}"/>
                </a:ext>
              </a:extLst>
            </p:cNvPr>
            <p:cNvGrpSpPr/>
            <p:nvPr/>
          </p:nvGrpSpPr>
          <p:grpSpPr>
            <a:xfrm>
              <a:off x="7282312" y="2864625"/>
              <a:ext cx="1824724" cy="156322"/>
              <a:chOff x="3358903" y="5307686"/>
              <a:chExt cx="2876718" cy="246460"/>
            </a:xfrm>
          </p:grpSpPr>
          <p:sp>
            <p:nvSpPr>
              <p:cNvPr id="41" name="TextBox 40">
                <a:extLst>
                  <a:ext uri="{FF2B5EF4-FFF2-40B4-BE49-F238E27FC236}">
                    <a16:creationId xmlns:a16="http://schemas.microsoft.com/office/drawing/2014/main" id="{881614AC-C4CE-0CB7-09FF-2E1263D6188F}"/>
                  </a:ext>
                </a:extLst>
              </p:cNvPr>
              <p:cNvSpPr txBox="1"/>
              <p:nvPr/>
            </p:nvSpPr>
            <p:spPr>
              <a:xfrm>
                <a:off x="3358903" y="5335786"/>
                <a:ext cx="309224" cy="218360"/>
              </a:xfrm>
              <a:prstGeom prst="rect">
                <a:avLst/>
              </a:prstGeom>
              <a:noFill/>
            </p:spPr>
            <p:txBody>
              <a:bodyPr wrap="square" lIns="0" tIns="0" rIns="0" bIns="0" rtlCol="0">
                <a:spAutoFit/>
              </a:bodyPr>
              <a:lstStyle/>
              <a:p>
                <a:pPr algn="l">
                  <a:spcBef>
                    <a:spcPts val="432"/>
                  </a:spcBef>
                </a:pPr>
                <a:r>
                  <a:rPr lang="en-DK" sz="900" b="1" dirty="0">
                    <a:latin typeface="+mn-lt"/>
                  </a:rPr>
                  <a:t>G1</a:t>
                </a:r>
              </a:p>
            </p:txBody>
          </p:sp>
          <p:sp>
            <p:nvSpPr>
              <p:cNvPr id="44" name="TextBox 43">
                <a:extLst>
                  <a:ext uri="{FF2B5EF4-FFF2-40B4-BE49-F238E27FC236}">
                    <a16:creationId xmlns:a16="http://schemas.microsoft.com/office/drawing/2014/main" id="{208DDB31-2ECD-DF3C-ADD6-90B69CDED754}"/>
                  </a:ext>
                </a:extLst>
              </p:cNvPr>
              <p:cNvSpPr txBox="1"/>
              <p:nvPr/>
            </p:nvSpPr>
            <p:spPr>
              <a:xfrm>
                <a:off x="4152538" y="5327925"/>
                <a:ext cx="309224" cy="218360"/>
              </a:xfrm>
              <a:prstGeom prst="rect">
                <a:avLst/>
              </a:prstGeom>
              <a:noFill/>
            </p:spPr>
            <p:txBody>
              <a:bodyPr wrap="square" lIns="0" tIns="0" rIns="0" bIns="0" rtlCol="0">
                <a:spAutoFit/>
              </a:bodyPr>
              <a:lstStyle/>
              <a:p>
                <a:pPr algn="l">
                  <a:spcBef>
                    <a:spcPts val="432"/>
                  </a:spcBef>
                </a:pPr>
                <a:r>
                  <a:rPr lang="en-DK" sz="900" b="1" dirty="0">
                    <a:latin typeface="+mn-lt"/>
                  </a:rPr>
                  <a:t>G2</a:t>
                </a:r>
              </a:p>
            </p:txBody>
          </p:sp>
          <p:sp>
            <p:nvSpPr>
              <p:cNvPr id="46" name="TextBox 45">
                <a:extLst>
                  <a:ext uri="{FF2B5EF4-FFF2-40B4-BE49-F238E27FC236}">
                    <a16:creationId xmlns:a16="http://schemas.microsoft.com/office/drawing/2014/main" id="{C42B1585-D6EF-45DB-9950-05231D294B30}"/>
                  </a:ext>
                </a:extLst>
              </p:cNvPr>
              <p:cNvSpPr txBox="1"/>
              <p:nvPr/>
            </p:nvSpPr>
            <p:spPr>
              <a:xfrm>
                <a:off x="5288662" y="5307686"/>
                <a:ext cx="405521" cy="218360"/>
              </a:xfrm>
              <a:prstGeom prst="rect">
                <a:avLst/>
              </a:prstGeom>
              <a:noFill/>
            </p:spPr>
            <p:txBody>
              <a:bodyPr wrap="square" lIns="0" tIns="0" rIns="0" bIns="0" rtlCol="0">
                <a:spAutoFit/>
              </a:bodyPr>
              <a:lstStyle/>
              <a:p>
                <a:pPr algn="l">
                  <a:spcBef>
                    <a:spcPts val="432"/>
                  </a:spcBef>
                </a:pPr>
                <a:r>
                  <a:rPr lang="en-DK" sz="900" b="1" dirty="0">
                    <a:latin typeface="+mn-lt"/>
                  </a:rPr>
                  <a:t>G3</a:t>
                </a:r>
              </a:p>
            </p:txBody>
          </p:sp>
          <p:sp>
            <p:nvSpPr>
              <p:cNvPr id="48" name="TextBox 47">
                <a:extLst>
                  <a:ext uri="{FF2B5EF4-FFF2-40B4-BE49-F238E27FC236}">
                    <a16:creationId xmlns:a16="http://schemas.microsoft.com/office/drawing/2014/main" id="{0D93B648-46B4-1210-3958-625718E87FD4}"/>
                  </a:ext>
                </a:extLst>
              </p:cNvPr>
              <p:cNvSpPr txBox="1"/>
              <p:nvPr/>
            </p:nvSpPr>
            <p:spPr>
              <a:xfrm>
                <a:off x="4636690" y="5327925"/>
                <a:ext cx="405521" cy="218360"/>
              </a:xfrm>
              <a:prstGeom prst="rect">
                <a:avLst/>
              </a:prstGeom>
              <a:noFill/>
            </p:spPr>
            <p:txBody>
              <a:bodyPr wrap="square" lIns="0" tIns="0" rIns="0" bIns="0" rtlCol="0">
                <a:spAutoFit/>
              </a:bodyPr>
              <a:lstStyle/>
              <a:p>
                <a:pPr algn="l">
                  <a:spcBef>
                    <a:spcPts val="432"/>
                  </a:spcBef>
                </a:pPr>
                <a:r>
                  <a:rPr lang="en-DK" sz="900" b="1" dirty="0">
                    <a:latin typeface="+mn-lt"/>
                  </a:rPr>
                  <a:t>G4</a:t>
                </a:r>
              </a:p>
            </p:txBody>
          </p:sp>
          <p:sp>
            <p:nvSpPr>
              <p:cNvPr id="50" name="TextBox 49">
                <a:extLst>
                  <a:ext uri="{FF2B5EF4-FFF2-40B4-BE49-F238E27FC236}">
                    <a16:creationId xmlns:a16="http://schemas.microsoft.com/office/drawing/2014/main" id="{FB150F6D-DBC1-AA48-3C00-6B5CB13FC0E5}"/>
                  </a:ext>
                </a:extLst>
              </p:cNvPr>
              <p:cNvSpPr txBox="1"/>
              <p:nvPr/>
            </p:nvSpPr>
            <p:spPr>
              <a:xfrm>
                <a:off x="5926397" y="5309561"/>
                <a:ext cx="309224" cy="218360"/>
              </a:xfrm>
              <a:prstGeom prst="rect">
                <a:avLst/>
              </a:prstGeom>
              <a:noFill/>
            </p:spPr>
            <p:txBody>
              <a:bodyPr wrap="square" lIns="0" tIns="0" rIns="0" bIns="0" rtlCol="0">
                <a:spAutoFit/>
              </a:bodyPr>
              <a:lstStyle/>
              <a:p>
                <a:pPr algn="l">
                  <a:spcBef>
                    <a:spcPts val="432"/>
                  </a:spcBef>
                </a:pPr>
                <a:r>
                  <a:rPr lang="en-DK" sz="900" b="1" dirty="0">
                    <a:latin typeface="+mn-lt"/>
                  </a:rPr>
                  <a:t>G5</a:t>
                </a:r>
              </a:p>
            </p:txBody>
          </p:sp>
        </p:grpSp>
      </p:grpSp>
      <p:cxnSp>
        <p:nvCxnSpPr>
          <p:cNvPr id="52" name="Straight Connector 51">
            <a:extLst>
              <a:ext uri="{FF2B5EF4-FFF2-40B4-BE49-F238E27FC236}">
                <a16:creationId xmlns:a16="http://schemas.microsoft.com/office/drawing/2014/main" id="{53A98444-B225-356D-85B7-20AF618D83FD}"/>
              </a:ext>
            </a:extLst>
          </p:cNvPr>
          <p:cNvCxnSpPr>
            <a:cxnSpLocks/>
          </p:cNvCxnSpPr>
          <p:nvPr/>
        </p:nvCxnSpPr>
        <p:spPr bwMode="auto">
          <a:xfrm>
            <a:off x="6113918" y="764704"/>
            <a:ext cx="18790" cy="4250722"/>
          </a:xfrm>
          <a:prstGeom prst="line">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TextBox 52">
            <a:extLst>
              <a:ext uri="{FF2B5EF4-FFF2-40B4-BE49-F238E27FC236}">
                <a16:creationId xmlns:a16="http://schemas.microsoft.com/office/drawing/2014/main" id="{2E23A1FE-5442-0E3B-538B-82FF94A15FD7}"/>
              </a:ext>
            </a:extLst>
          </p:cNvPr>
          <p:cNvSpPr txBox="1"/>
          <p:nvPr/>
        </p:nvSpPr>
        <p:spPr>
          <a:xfrm>
            <a:off x="1429814" y="2273125"/>
            <a:ext cx="3701334" cy="246221"/>
          </a:xfrm>
          <a:prstGeom prst="rect">
            <a:avLst/>
          </a:prstGeom>
          <a:noFill/>
        </p:spPr>
        <p:txBody>
          <a:bodyPr wrap="none" lIns="0" tIns="0" rIns="0" bIns="0" rtlCol="0">
            <a:spAutoFit/>
          </a:bodyPr>
          <a:lstStyle/>
          <a:p>
            <a:pPr algn="l">
              <a:spcBef>
                <a:spcPts val="432"/>
              </a:spcBef>
            </a:pPr>
            <a:r>
              <a:rPr lang="en-US" dirty="0">
                <a:latin typeface="+mn-lt"/>
              </a:rPr>
              <a:t>As it could make sense for G1 to do so…</a:t>
            </a:r>
          </a:p>
        </p:txBody>
      </p:sp>
      <p:grpSp>
        <p:nvGrpSpPr>
          <p:cNvPr id="97" name="Group 96">
            <a:extLst>
              <a:ext uri="{FF2B5EF4-FFF2-40B4-BE49-F238E27FC236}">
                <a16:creationId xmlns:a16="http://schemas.microsoft.com/office/drawing/2014/main" id="{A273902B-5D4B-FC46-6AAB-4B5053795122}"/>
              </a:ext>
            </a:extLst>
          </p:cNvPr>
          <p:cNvGrpSpPr/>
          <p:nvPr/>
        </p:nvGrpSpPr>
        <p:grpSpPr>
          <a:xfrm>
            <a:off x="1446388" y="2636715"/>
            <a:ext cx="2356968" cy="1765700"/>
            <a:chOff x="1485063" y="2614344"/>
            <a:chExt cx="2915656" cy="2184235"/>
          </a:xfrm>
        </p:grpSpPr>
        <p:grpSp>
          <p:nvGrpSpPr>
            <p:cNvPr id="74" name="Group 73">
              <a:extLst>
                <a:ext uri="{FF2B5EF4-FFF2-40B4-BE49-F238E27FC236}">
                  <a16:creationId xmlns:a16="http://schemas.microsoft.com/office/drawing/2014/main" id="{E1B4BF06-0597-2057-AE3E-20976AA50D31}"/>
                </a:ext>
              </a:extLst>
            </p:cNvPr>
            <p:cNvGrpSpPr/>
            <p:nvPr/>
          </p:nvGrpSpPr>
          <p:grpSpPr>
            <a:xfrm>
              <a:off x="1485063" y="2614344"/>
              <a:ext cx="2915656" cy="2184235"/>
              <a:chOff x="6929980" y="836712"/>
              <a:chExt cx="2915656" cy="2184235"/>
            </a:xfrm>
          </p:grpSpPr>
          <p:cxnSp>
            <p:nvCxnSpPr>
              <p:cNvPr id="75" name="Straight Arrow Connector 74">
                <a:extLst>
                  <a:ext uri="{FF2B5EF4-FFF2-40B4-BE49-F238E27FC236}">
                    <a16:creationId xmlns:a16="http://schemas.microsoft.com/office/drawing/2014/main" id="{72F61F5F-F938-E775-F87A-520EFEF60946}"/>
                  </a:ext>
                </a:extLst>
              </p:cNvPr>
              <p:cNvCxnSpPr>
                <a:cxnSpLocks/>
              </p:cNvCxnSpPr>
              <p:nvPr/>
            </p:nvCxnSpPr>
            <p:spPr bwMode="auto">
              <a:xfrm flipV="1">
                <a:off x="6932996" y="836712"/>
                <a:ext cx="0" cy="201076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Rectangle 75">
                <a:extLst>
                  <a:ext uri="{FF2B5EF4-FFF2-40B4-BE49-F238E27FC236}">
                    <a16:creationId xmlns:a16="http://schemas.microsoft.com/office/drawing/2014/main" id="{DE637224-8460-ADF0-F56A-E8DC471D0141}"/>
                  </a:ext>
                </a:extLst>
              </p:cNvPr>
              <p:cNvSpPr/>
              <p:nvPr/>
            </p:nvSpPr>
            <p:spPr bwMode="auto">
              <a:xfrm>
                <a:off x="8113469" y="1623216"/>
                <a:ext cx="683734" cy="1195529"/>
              </a:xfrm>
              <a:prstGeom prst="rect">
                <a:avLst/>
              </a:prstGeom>
              <a:solidFill>
                <a:schemeClr val="accent5">
                  <a:lumMod val="40000"/>
                  <a:lumOff val="60000"/>
                  <a:alpha val="67059"/>
                </a:schemeClr>
              </a:solidFill>
              <a:ln>
                <a:solidFill>
                  <a:schemeClr val="accent5"/>
                </a:solid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77" name="Rectangle 76">
                <a:extLst>
                  <a:ext uri="{FF2B5EF4-FFF2-40B4-BE49-F238E27FC236}">
                    <a16:creationId xmlns:a16="http://schemas.microsoft.com/office/drawing/2014/main" id="{6FEF1525-44C2-F72F-760D-C10D426B61F3}"/>
                  </a:ext>
                </a:extLst>
              </p:cNvPr>
              <p:cNvSpPr/>
              <p:nvPr/>
            </p:nvSpPr>
            <p:spPr bwMode="auto">
              <a:xfrm>
                <a:off x="6962238" y="2590868"/>
                <a:ext cx="402195" cy="221629"/>
              </a:xfrm>
              <a:prstGeom prst="rect">
                <a:avLst/>
              </a:prstGeom>
              <a:solidFill>
                <a:srgbClr val="B2D5FF"/>
              </a:solidFill>
              <a:ln>
                <a:solidFill>
                  <a:srgbClr val="6583CD"/>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78" name="Rectangle 77">
                <a:extLst>
                  <a:ext uri="{FF2B5EF4-FFF2-40B4-BE49-F238E27FC236}">
                    <a16:creationId xmlns:a16="http://schemas.microsoft.com/office/drawing/2014/main" id="{A10E66BA-5429-95C3-BFE2-63B585917EBB}"/>
                  </a:ext>
                </a:extLst>
              </p:cNvPr>
              <p:cNvSpPr/>
              <p:nvPr/>
            </p:nvSpPr>
            <p:spPr bwMode="auto">
              <a:xfrm>
                <a:off x="7389762" y="2104507"/>
                <a:ext cx="261460" cy="730554"/>
              </a:xfrm>
              <a:prstGeom prst="rect">
                <a:avLst/>
              </a:prstGeom>
              <a:solidFill>
                <a:schemeClr val="tx2">
                  <a:lumMod val="40000"/>
                  <a:lumOff val="60000"/>
                </a:schemeClr>
              </a:solidFill>
              <a:ln>
                <a:solidFill>
                  <a:schemeClr val="accent6">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79" name="Straight Arrow Connector 78">
                <a:extLst>
                  <a:ext uri="{FF2B5EF4-FFF2-40B4-BE49-F238E27FC236}">
                    <a16:creationId xmlns:a16="http://schemas.microsoft.com/office/drawing/2014/main" id="{D63DDBA2-12E3-CD1A-E8A8-9463B5ADAAE2}"/>
                  </a:ext>
                </a:extLst>
              </p:cNvPr>
              <p:cNvCxnSpPr>
                <a:cxnSpLocks/>
              </p:cNvCxnSpPr>
              <p:nvPr/>
            </p:nvCxnSpPr>
            <p:spPr bwMode="auto">
              <a:xfrm>
                <a:off x="6929980" y="2847472"/>
                <a:ext cx="2915656" cy="0"/>
              </a:xfrm>
              <a:prstGeom prst="straightConnector1">
                <a:avLst/>
              </a:prstGeom>
              <a:solidFill>
                <a:schemeClr val="accent1"/>
              </a:solidFill>
              <a:ln w="38100" cap="flat" cmpd="sng" algn="ctr">
                <a:solidFill>
                  <a:srgbClr val="00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Rectangle 79">
                <a:extLst>
                  <a:ext uri="{FF2B5EF4-FFF2-40B4-BE49-F238E27FC236}">
                    <a16:creationId xmlns:a16="http://schemas.microsoft.com/office/drawing/2014/main" id="{A630DB69-2AFB-9B6E-4A13-95ADB2419EB3}"/>
                  </a:ext>
                </a:extLst>
              </p:cNvPr>
              <p:cNvSpPr/>
              <p:nvPr/>
            </p:nvSpPr>
            <p:spPr bwMode="auto">
              <a:xfrm>
                <a:off x="7658090" y="1903080"/>
                <a:ext cx="474361" cy="923492"/>
              </a:xfrm>
              <a:prstGeom prst="rect">
                <a:avLst/>
              </a:prstGeom>
              <a:solidFill>
                <a:schemeClr val="accent3">
                  <a:lumMod val="40000"/>
                  <a:lumOff val="60000"/>
                </a:schemeClr>
              </a:solidFill>
              <a:ln>
                <a:solidFill>
                  <a:schemeClr val="accent3">
                    <a:lumMod val="7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cxnSp>
            <p:nvCxnSpPr>
              <p:cNvPr id="81" name="Straight Connector 80">
                <a:extLst>
                  <a:ext uri="{FF2B5EF4-FFF2-40B4-BE49-F238E27FC236}">
                    <a16:creationId xmlns:a16="http://schemas.microsoft.com/office/drawing/2014/main" id="{923E9E7B-75F8-1A9C-8C37-E15F69FD5B72}"/>
                  </a:ext>
                </a:extLst>
              </p:cNvPr>
              <p:cNvCxnSpPr>
                <a:cxnSpLocks/>
              </p:cNvCxnSpPr>
              <p:nvPr/>
            </p:nvCxnSpPr>
            <p:spPr bwMode="auto">
              <a:xfrm>
                <a:off x="8437947" y="1099927"/>
                <a:ext cx="0" cy="1747545"/>
              </a:xfrm>
              <a:prstGeom prst="line">
                <a:avLst/>
              </a:prstGeom>
              <a:ln w="38100">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2" name="Straight Connector 81">
                <a:extLst>
                  <a:ext uri="{FF2B5EF4-FFF2-40B4-BE49-F238E27FC236}">
                    <a16:creationId xmlns:a16="http://schemas.microsoft.com/office/drawing/2014/main" id="{695A7F21-33B8-D9A3-E9D3-8B6292BD351C}"/>
                  </a:ext>
                </a:extLst>
              </p:cNvPr>
              <p:cNvCxnSpPr>
                <a:cxnSpLocks/>
              </p:cNvCxnSpPr>
              <p:nvPr/>
            </p:nvCxnSpPr>
            <p:spPr bwMode="auto">
              <a:xfrm>
                <a:off x="7658090" y="2362498"/>
                <a:ext cx="474361" cy="0"/>
              </a:xfrm>
              <a:prstGeom prst="line">
                <a:avLst/>
              </a:prstGeom>
              <a:solidFill>
                <a:schemeClr val="accent1"/>
              </a:solidFill>
              <a:ln w="28575" cap="flat" cmpd="sng" algn="ctr">
                <a:solidFill>
                  <a:schemeClr val="accent3">
                    <a:lumMod val="75000"/>
                  </a:schemeClr>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Rectangle 82">
                <a:extLst>
                  <a:ext uri="{FF2B5EF4-FFF2-40B4-BE49-F238E27FC236}">
                    <a16:creationId xmlns:a16="http://schemas.microsoft.com/office/drawing/2014/main" id="{1184B21F-405B-681C-D4B8-95FC19B94CC6}"/>
                  </a:ext>
                </a:extLst>
              </p:cNvPr>
              <p:cNvSpPr/>
              <p:nvPr/>
            </p:nvSpPr>
            <p:spPr bwMode="auto">
              <a:xfrm>
                <a:off x="8811265" y="1582564"/>
                <a:ext cx="261460" cy="1254283"/>
              </a:xfrm>
              <a:prstGeom prst="rect">
                <a:avLst/>
              </a:prstGeom>
              <a:solidFill>
                <a:schemeClr val="tx1">
                  <a:lumMod val="65000"/>
                  <a:lumOff val="35000"/>
                </a:schemeClr>
              </a:solidFill>
              <a:ln>
                <a:solidFill>
                  <a:schemeClr val="tx1">
                    <a:lumMod val="85000"/>
                    <a:lumOff val="1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84" name="Rectangle 83">
                <a:extLst>
                  <a:ext uri="{FF2B5EF4-FFF2-40B4-BE49-F238E27FC236}">
                    <a16:creationId xmlns:a16="http://schemas.microsoft.com/office/drawing/2014/main" id="{72BEA32E-B20E-1BF2-6CFC-040D4B7DBC60}"/>
                  </a:ext>
                </a:extLst>
              </p:cNvPr>
              <p:cNvSpPr/>
              <p:nvPr/>
            </p:nvSpPr>
            <p:spPr bwMode="auto">
              <a:xfrm>
                <a:off x="8811265" y="1574846"/>
                <a:ext cx="261460" cy="1254283"/>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grpSp>
            <p:nvGrpSpPr>
              <p:cNvPr id="86" name="Group 85">
                <a:extLst>
                  <a:ext uri="{FF2B5EF4-FFF2-40B4-BE49-F238E27FC236}">
                    <a16:creationId xmlns:a16="http://schemas.microsoft.com/office/drawing/2014/main" id="{6C3D6CBD-5841-D580-A0E9-A1DA251A2D99}"/>
                  </a:ext>
                </a:extLst>
              </p:cNvPr>
              <p:cNvGrpSpPr/>
              <p:nvPr/>
            </p:nvGrpSpPr>
            <p:grpSpPr>
              <a:xfrm>
                <a:off x="7075627" y="2864625"/>
                <a:ext cx="2031409" cy="156322"/>
                <a:chOff x="3033060" y="5307686"/>
                <a:chExt cx="3202561" cy="246460"/>
              </a:xfrm>
            </p:grpSpPr>
            <p:sp>
              <p:nvSpPr>
                <p:cNvPr id="87" name="TextBox 86">
                  <a:extLst>
                    <a:ext uri="{FF2B5EF4-FFF2-40B4-BE49-F238E27FC236}">
                      <a16:creationId xmlns:a16="http://schemas.microsoft.com/office/drawing/2014/main" id="{762CE9F8-F72C-370E-B27A-DAA4186F4859}"/>
                    </a:ext>
                  </a:extLst>
                </p:cNvPr>
                <p:cNvSpPr txBox="1"/>
                <p:nvPr/>
              </p:nvSpPr>
              <p:spPr>
                <a:xfrm>
                  <a:off x="3033060" y="5335786"/>
                  <a:ext cx="309224" cy="218360"/>
                </a:xfrm>
                <a:prstGeom prst="rect">
                  <a:avLst/>
                </a:prstGeom>
                <a:noFill/>
              </p:spPr>
              <p:txBody>
                <a:bodyPr wrap="square" lIns="0" tIns="0" rIns="0" bIns="0" rtlCol="0">
                  <a:spAutoFit/>
                </a:bodyPr>
                <a:lstStyle/>
                <a:p>
                  <a:pPr algn="l">
                    <a:spcBef>
                      <a:spcPts val="432"/>
                    </a:spcBef>
                  </a:pPr>
                  <a:r>
                    <a:rPr lang="en-DK" sz="900" b="1" dirty="0">
                      <a:latin typeface="+mn-lt"/>
                    </a:rPr>
                    <a:t>G</a:t>
                  </a:r>
                  <a:r>
                    <a:rPr lang="en-US" sz="900" b="1" dirty="0">
                      <a:latin typeface="+mn-lt"/>
                    </a:rPr>
                    <a:t>2</a:t>
                  </a:r>
                  <a:endParaRPr lang="en-DK" sz="900" b="1" dirty="0">
                    <a:latin typeface="+mn-lt"/>
                  </a:endParaRPr>
                </a:p>
              </p:txBody>
            </p:sp>
            <p:sp>
              <p:nvSpPr>
                <p:cNvPr id="88" name="TextBox 87">
                  <a:extLst>
                    <a:ext uri="{FF2B5EF4-FFF2-40B4-BE49-F238E27FC236}">
                      <a16:creationId xmlns:a16="http://schemas.microsoft.com/office/drawing/2014/main" id="{08963EAC-3D39-FCC7-21BE-404D852ECD18}"/>
                    </a:ext>
                  </a:extLst>
                </p:cNvPr>
                <p:cNvSpPr txBox="1"/>
                <p:nvPr/>
              </p:nvSpPr>
              <p:spPr>
                <a:xfrm>
                  <a:off x="3600671" y="5327925"/>
                  <a:ext cx="309224" cy="218360"/>
                </a:xfrm>
                <a:prstGeom prst="rect">
                  <a:avLst/>
                </a:prstGeom>
                <a:noFill/>
              </p:spPr>
              <p:txBody>
                <a:bodyPr wrap="square" lIns="0" tIns="0" rIns="0" bIns="0" rtlCol="0">
                  <a:spAutoFit/>
                </a:bodyPr>
                <a:lstStyle/>
                <a:p>
                  <a:pPr algn="l">
                    <a:spcBef>
                      <a:spcPts val="432"/>
                    </a:spcBef>
                  </a:pPr>
                  <a:r>
                    <a:rPr lang="en-DK" sz="900" b="1" dirty="0">
                      <a:latin typeface="+mn-lt"/>
                    </a:rPr>
                    <a:t>G</a:t>
                  </a:r>
                  <a:r>
                    <a:rPr lang="en-US" sz="900" b="1" dirty="0">
                      <a:latin typeface="+mn-lt"/>
                    </a:rPr>
                    <a:t>4</a:t>
                  </a:r>
                  <a:endParaRPr lang="en-DK" sz="900" b="1" dirty="0">
                    <a:latin typeface="+mn-lt"/>
                  </a:endParaRPr>
                </a:p>
              </p:txBody>
            </p:sp>
            <p:sp>
              <p:nvSpPr>
                <p:cNvPr id="89" name="TextBox 88">
                  <a:extLst>
                    <a:ext uri="{FF2B5EF4-FFF2-40B4-BE49-F238E27FC236}">
                      <a16:creationId xmlns:a16="http://schemas.microsoft.com/office/drawing/2014/main" id="{188AECC3-6934-C75D-1FE3-6C5E0FDB8CA5}"/>
                    </a:ext>
                  </a:extLst>
                </p:cNvPr>
                <p:cNvSpPr txBox="1"/>
                <p:nvPr/>
              </p:nvSpPr>
              <p:spPr>
                <a:xfrm>
                  <a:off x="5076460" y="5307686"/>
                  <a:ext cx="405521" cy="218360"/>
                </a:xfrm>
                <a:prstGeom prst="rect">
                  <a:avLst/>
                </a:prstGeom>
                <a:noFill/>
              </p:spPr>
              <p:txBody>
                <a:bodyPr wrap="square" lIns="0" tIns="0" rIns="0" bIns="0" rtlCol="0">
                  <a:spAutoFit/>
                </a:bodyPr>
                <a:lstStyle/>
                <a:p>
                  <a:pPr algn="l">
                    <a:spcBef>
                      <a:spcPts val="432"/>
                    </a:spcBef>
                  </a:pPr>
                  <a:r>
                    <a:rPr lang="en-DK" sz="900" b="1" dirty="0">
                      <a:latin typeface="+mn-lt"/>
                    </a:rPr>
                    <a:t>G</a:t>
                  </a:r>
                  <a:r>
                    <a:rPr lang="en-US" sz="900" b="1" dirty="0">
                      <a:latin typeface="+mn-lt"/>
                    </a:rPr>
                    <a:t>1</a:t>
                  </a:r>
                  <a:endParaRPr lang="en-DK" sz="900" b="1" dirty="0">
                    <a:latin typeface="+mn-lt"/>
                  </a:endParaRPr>
                </a:p>
              </p:txBody>
            </p:sp>
            <p:sp>
              <p:nvSpPr>
                <p:cNvPr id="90" name="TextBox 89">
                  <a:extLst>
                    <a:ext uri="{FF2B5EF4-FFF2-40B4-BE49-F238E27FC236}">
                      <a16:creationId xmlns:a16="http://schemas.microsoft.com/office/drawing/2014/main" id="{BA72CC90-DF5C-228F-D45F-24B5CBC8F68E}"/>
                    </a:ext>
                  </a:extLst>
                </p:cNvPr>
                <p:cNvSpPr txBox="1"/>
                <p:nvPr/>
              </p:nvSpPr>
              <p:spPr>
                <a:xfrm>
                  <a:off x="4281804" y="5327925"/>
                  <a:ext cx="405521" cy="218360"/>
                </a:xfrm>
                <a:prstGeom prst="rect">
                  <a:avLst/>
                </a:prstGeom>
                <a:noFill/>
              </p:spPr>
              <p:txBody>
                <a:bodyPr wrap="square" lIns="0" tIns="0" rIns="0" bIns="0" rtlCol="0">
                  <a:spAutoFit/>
                </a:bodyPr>
                <a:lstStyle/>
                <a:p>
                  <a:pPr algn="l">
                    <a:spcBef>
                      <a:spcPts val="432"/>
                    </a:spcBef>
                  </a:pPr>
                  <a:r>
                    <a:rPr lang="en-DK" sz="900" b="1" dirty="0">
                      <a:latin typeface="+mn-lt"/>
                    </a:rPr>
                    <a:t>G</a:t>
                  </a:r>
                  <a:r>
                    <a:rPr lang="en-US" sz="900" b="1" dirty="0">
                      <a:latin typeface="+mn-lt"/>
                    </a:rPr>
                    <a:t>3</a:t>
                  </a:r>
                  <a:endParaRPr lang="en-DK" sz="900" b="1" dirty="0">
                    <a:latin typeface="+mn-lt"/>
                  </a:endParaRPr>
                </a:p>
              </p:txBody>
            </p:sp>
            <p:sp>
              <p:nvSpPr>
                <p:cNvPr id="91" name="TextBox 90">
                  <a:extLst>
                    <a:ext uri="{FF2B5EF4-FFF2-40B4-BE49-F238E27FC236}">
                      <a16:creationId xmlns:a16="http://schemas.microsoft.com/office/drawing/2014/main" id="{31DB9F81-6DA3-4BEF-F740-EE1BD1D5DF5F}"/>
                    </a:ext>
                  </a:extLst>
                </p:cNvPr>
                <p:cNvSpPr txBox="1"/>
                <p:nvPr/>
              </p:nvSpPr>
              <p:spPr>
                <a:xfrm>
                  <a:off x="5926397" y="5309561"/>
                  <a:ext cx="309224" cy="218360"/>
                </a:xfrm>
                <a:prstGeom prst="rect">
                  <a:avLst/>
                </a:prstGeom>
                <a:noFill/>
              </p:spPr>
              <p:txBody>
                <a:bodyPr wrap="square" lIns="0" tIns="0" rIns="0" bIns="0" rtlCol="0">
                  <a:spAutoFit/>
                </a:bodyPr>
                <a:lstStyle/>
                <a:p>
                  <a:pPr algn="l">
                    <a:spcBef>
                      <a:spcPts val="432"/>
                    </a:spcBef>
                  </a:pPr>
                  <a:r>
                    <a:rPr lang="en-DK" sz="900" b="1" dirty="0">
                      <a:latin typeface="+mn-lt"/>
                    </a:rPr>
                    <a:t>G5</a:t>
                  </a:r>
                </a:p>
              </p:txBody>
            </p:sp>
          </p:grpSp>
        </p:grpSp>
        <p:cxnSp>
          <p:nvCxnSpPr>
            <p:cNvPr id="92" name="Straight Connector 91">
              <a:extLst>
                <a:ext uri="{FF2B5EF4-FFF2-40B4-BE49-F238E27FC236}">
                  <a16:creationId xmlns:a16="http://schemas.microsoft.com/office/drawing/2014/main" id="{431A0A0E-8864-1F1E-7268-FD671C76FCE4}"/>
                </a:ext>
              </a:extLst>
            </p:cNvPr>
            <p:cNvCxnSpPr>
              <a:cxnSpLocks/>
            </p:cNvCxnSpPr>
            <p:nvPr/>
          </p:nvCxnSpPr>
          <p:spPr bwMode="auto">
            <a:xfrm>
              <a:off x="2668552" y="4508933"/>
              <a:ext cx="683734" cy="0"/>
            </a:xfrm>
            <a:prstGeom prst="line">
              <a:avLst/>
            </a:prstGeom>
            <a:solidFill>
              <a:schemeClr val="accent1"/>
            </a:solidFill>
            <a:ln w="28575" cap="flat" cmpd="sng" algn="ctr">
              <a:solidFill>
                <a:schemeClr val="accent5">
                  <a:lumMod val="75000"/>
                </a:schemeClr>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Rectangle 94">
              <a:extLst>
                <a:ext uri="{FF2B5EF4-FFF2-40B4-BE49-F238E27FC236}">
                  <a16:creationId xmlns:a16="http://schemas.microsoft.com/office/drawing/2014/main" id="{2988503A-27FC-88B9-9A53-79FD647F7D83}"/>
                </a:ext>
              </a:extLst>
            </p:cNvPr>
            <p:cNvSpPr/>
            <p:nvPr/>
          </p:nvSpPr>
          <p:spPr bwMode="auto">
            <a:xfrm>
              <a:off x="3020281" y="3400848"/>
              <a:ext cx="332003" cy="1205913"/>
            </a:xfrm>
            <a:prstGeom prst="rect">
              <a:avLst/>
            </a:prstGeom>
            <a:solidFill>
              <a:schemeClr val="bg1">
                <a:lumMod val="85000"/>
              </a:schemeClr>
            </a:solidFill>
            <a:ln>
              <a:solidFill>
                <a:schemeClr val="bg1">
                  <a:lumMod val="50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grpSp>
      <p:graphicFrame>
        <p:nvGraphicFramePr>
          <p:cNvPr id="100" name="Table 99">
            <a:extLst>
              <a:ext uri="{FF2B5EF4-FFF2-40B4-BE49-F238E27FC236}">
                <a16:creationId xmlns:a16="http://schemas.microsoft.com/office/drawing/2014/main" id="{066EDD35-0A34-BA34-F3C7-6AB8B57CB4FA}"/>
              </a:ext>
            </a:extLst>
          </p:cNvPr>
          <p:cNvGraphicFramePr>
            <a:graphicFrameLocks noGrp="1"/>
          </p:cNvGraphicFramePr>
          <p:nvPr>
            <p:extLst>
              <p:ext uri="{D42A27DB-BD31-4B8C-83A1-F6EECF244321}">
                <p14:modId xmlns:p14="http://schemas.microsoft.com/office/powerpoint/2010/main" val="166321916"/>
              </p:ext>
            </p:extLst>
          </p:nvPr>
        </p:nvGraphicFramePr>
        <p:xfrm>
          <a:off x="3840037" y="2665261"/>
          <a:ext cx="1927080" cy="1136299"/>
        </p:xfrm>
        <a:graphic>
          <a:graphicData uri="http://schemas.openxmlformats.org/drawingml/2006/table">
            <a:tbl>
              <a:tblPr firstRow="1" bandRow="1">
                <a:tableStyleId>{5C22544A-7EE6-4342-B048-85BDC9FD1C3A}</a:tableStyleId>
              </a:tblPr>
              <a:tblGrid>
                <a:gridCol w="642360">
                  <a:extLst>
                    <a:ext uri="{9D8B030D-6E8A-4147-A177-3AD203B41FA5}">
                      <a16:colId xmlns:a16="http://schemas.microsoft.com/office/drawing/2014/main" val="2120270077"/>
                    </a:ext>
                  </a:extLst>
                </a:gridCol>
                <a:gridCol w="642360">
                  <a:extLst>
                    <a:ext uri="{9D8B030D-6E8A-4147-A177-3AD203B41FA5}">
                      <a16:colId xmlns:a16="http://schemas.microsoft.com/office/drawing/2014/main" val="4249083467"/>
                    </a:ext>
                  </a:extLst>
                </a:gridCol>
                <a:gridCol w="642360">
                  <a:extLst>
                    <a:ext uri="{9D8B030D-6E8A-4147-A177-3AD203B41FA5}">
                      <a16:colId xmlns:a16="http://schemas.microsoft.com/office/drawing/2014/main" val="2841158744"/>
                    </a:ext>
                  </a:extLst>
                </a:gridCol>
              </a:tblGrid>
              <a:tr h="295139">
                <a:tc>
                  <a:txBody>
                    <a:bodyPr/>
                    <a:lstStyle/>
                    <a:p>
                      <a:pPr algn="ctr"/>
                      <a:r>
                        <a:rPr lang="en-DK" sz="800" dirty="0"/>
                        <a:t>Generator</a:t>
                      </a:r>
                    </a:p>
                  </a:txBody>
                  <a:tcPr marL="41324" marR="41324" marT="20662" marB="20662" anchor="ctr"/>
                </a:tc>
                <a:tc>
                  <a:txBody>
                    <a:bodyPr/>
                    <a:lstStyle/>
                    <a:p>
                      <a:pPr algn="ctr"/>
                      <a:r>
                        <a:rPr lang="en-US" sz="800" dirty="0"/>
                        <a:t>Producing cost</a:t>
                      </a:r>
                      <a:endParaRPr lang="en-DK" sz="800" dirty="0"/>
                    </a:p>
                  </a:txBody>
                  <a:tcPr marL="41324" marR="41324" marT="20662" marB="20662" anchor="ctr"/>
                </a:tc>
                <a:tc>
                  <a:txBody>
                    <a:bodyPr/>
                    <a:lstStyle/>
                    <a:p>
                      <a:pPr algn="ctr"/>
                      <a:r>
                        <a:rPr lang="en-DK" sz="800" dirty="0"/>
                        <a:t>Generation</a:t>
                      </a:r>
                    </a:p>
                  </a:txBody>
                  <a:tcPr marL="41324" marR="41324" marT="20662" marB="20662" anchor="ctr"/>
                </a:tc>
                <a:extLst>
                  <a:ext uri="{0D108BD9-81ED-4DB2-BD59-A6C34878D82A}">
                    <a16:rowId xmlns:a16="http://schemas.microsoft.com/office/drawing/2014/main" val="1535084899"/>
                  </a:ext>
                </a:extLst>
              </a:tr>
              <a:tr h="168232">
                <a:tc>
                  <a:txBody>
                    <a:bodyPr/>
                    <a:lstStyle/>
                    <a:p>
                      <a:pPr algn="ctr"/>
                      <a:r>
                        <a:rPr lang="en-DK" sz="800" b="1" dirty="0"/>
                        <a:t>G1</a:t>
                      </a:r>
                    </a:p>
                  </a:txBody>
                  <a:tcPr marL="41324" marR="41324" marT="20662" marB="20662"/>
                </a:tc>
                <a:tc>
                  <a:txBody>
                    <a:bodyPr/>
                    <a:lstStyle/>
                    <a:p>
                      <a:pPr algn="ctr"/>
                      <a:r>
                        <a:rPr lang="en-US" sz="800" b="1" dirty="0"/>
                        <a:t>300</a:t>
                      </a:r>
                      <a:endParaRPr lang="en-DK" sz="800" b="1" dirty="0"/>
                    </a:p>
                  </a:txBody>
                  <a:tcPr marL="41324" marR="41324" marT="20662" marB="20662"/>
                </a:tc>
                <a:tc>
                  <a:txBody>
                    <a:bodyPr/>
                    <a:lstStyle/>
                    <a:p>
                      <a:pPr algn="ctr"/>
                      <a:r>
                        <a:rPr lang="en-US" sz="800" b="1" dirty="0"/>
                        <a:t>60</a:t>
                      </a:r>
                      <a:r>
                        <a:rPr lang="en-DK" sz="800" b="1" dirty="0"/>
                        <a:t>0%</a:t>
                      </a:r>
                    </a:p>
                  </a:txBody>
                  <a:tcPr marL="41324" marR="41324" marT="20662" marB="20662"/>
                </a:tc>
                <a:extLst>
                  <a:ext uri="{0D108BD9-81ED-4DB2-BD59-A6C34878D82A}">
                    <a16:rowId xmlns:a16="http://schemas.microsoft.com/office/drawing/2014/main" val="1136424323"/>
                  </a:ext>
                </a:extLst>
              </a:tr>
              <a:tr h="168232">
                <a:tc>
                  <a:txBody>
                    <a:bodyPr/>
                    <a:lstStyle/>
                    <a:p>
                      <a:pPr algn="ctr"/>
                      <a:r>
                        <a:rPr lang="en-DK" sz="800" b="1" dirty="0"/>
                        <a:t>G2</a:t>
                      </a:r>
                    </a:p>
                  </a:txBody>
                  <a:tcPr marL="41324" marR="41324" marT="20662" marB="20662"/>
                </a:tc>
                <a:tc>
                  <a:txBody>
                    <a:bodyPr/>
                    <a:lstStyle/>
                    <a:p>
                      <a:pPr algn="ctr"/>
                      <a:r>
                        <a:rPr lang="en-US" sz="800" b="1" dirty="0"/>
                        <a:t>500</a:t>
                      </a:r>
                      <a:endParaRPr lang="en-DK" sz="800" b="1" dirty="0"/>
                    </a:p>
                  </a:txBody>
                  <a:tcPr marL="41324" marR="41324" marT="20662" marB="20662"/>
                </a:tc>
                <a:tc>
                  <a:txBody>
                    <a:bodyPr/>
                    <a:lstStyle/>
                    <a:p>
                      <a:pPr algn="ctr"/>
                      <a:r>
                        <a:rPr lang="en-DK" sz="800" b="1" dirty="0"/>
                        <a:t>100%</a:t>
                      </a:r>
                    </a:p>
                  </a:txBody>
                  <a:tcPr marL="41324" marR="41324" marT="20662" marB="20662"/>
                </a:tc>
                <a:extLst>
                  <a:ext uri="{0D108BD9-81ED-4DB2-BD59-A6C34878D82A}">
                    <a16:rowId xmlns:a16="http://schemas.microsoft.com/office/drawing/2014/main" val="1590719974"/>
                  </a:ext>
                </a:extLst>
              </a:tr>
              <a:tr h="168232">
                <a:tc>
                  <a:txBody>
                    <a:bodyPr/>
                    <a:lstStyle/>
                    <a:p>
                      <a:pPr algn="ctr"/>
                      <a:r>
                        <a:rPr lang="en-DK" sz="800" b="1" dirty="0"/>
                        <a:t>G3</a:t>
                      </a:r>
                    </a:p>
                  </a:txBody>
                  <a:tcPr marL="41324" marR="41324" marT="20662" marB="20662"/>
                </a:tc>
                <a:tc>
                  <a:txBody>
                    <a:bodyPr/>
                    <a:lstStyle/>
                    <a:p>
                      <a:pPr algn="ctr"/>
                      <a:r>
                        <a:rPr lang="en-US" sz="800" b="1" dirty="0"/>
                        <a:t>1250</a:t>
                      </a:r>
                      <a:endParaRPr lang="en-DK" sz="800" b="1" dirty="0"/>
                    </a:p>
                  </a:txBody>
                  <a:tcPr marL="41324" marR="41324" marT="20662" marB="20662"/>
                </a:tc>
                <a:tc>
                  <a:txBody>
                    <a:bodyPr/>
                    <a:lstStyle/>
                    <a:p>
                      <a:pPr algn="ctr"/>
                      <a:r>
                        <a:rPr lang="en-US" sz="800" b="1" dirty="0"/>
                        <a:t>100</a:t>
                      </a:r>
                      <a:r>
                        <a:rPr lang="en-DK" sz="800" b="1" dirty="0"/>
                        <a:t>%</a:t>
                      </a:r>
                    </a:p>
                  </a:txBody>
                  <a:tcPr marL="41324" marR="41324" marT="20662" marB="20662"/>
                </a:tc>
                <a:extLst>
                  <a:ext uri="{0D108BD9-81ED-4DB2-BD59-A6C34878D82A}">
                    <a16:rowId xmlns:a16="http://schemas.microsoft.com/office/drawing/2014/main" val="3534962959"/>
                  </a:ext>
                </a:extLst>
              </a:tr>
              <a:tr h="168232">
                <a:tc>
                  <a:txBody>
                    <a:bodyPr/>
                    <a:lstStyle/>
                    <a:p>
                      <a:pPr algn="ctr"/>
                      <a:r>
                        <a:rPr lang="en-DK" sz="800" b="1" dirty="0"/>
                        <a:t>G4</a:t>
                      </a:r>
                    </a:p>
                  </a:txBody>
                  <a:tcPr marL="41324" marR="41324" marT="20662" marB="20662"/>
                </a:tc>
                <a:tc>
                  <a:txBody>
                    <a:bodyPr/>
                    <a:lstStyle/>
                    <a:p>
                      <a:pPr algn="ctr"/>
                      <a:r>
                        <a:rPr lang="en-US" sz="800" b="1" dirty="0"/>
                        <a:t>1200</a:t>
                      </a:r>
                      <a:endParaRPr lang="en-DK" sz="800" b="1" dirty="0"/>
                    </a:p>
                  </a:txBody>
                  <a:tcPr marL="41324" marR="41324" marT="20662" marB="20662"/>
                </a:tc>
                <a:tc>
                  <a:txBody>
                    <a:bodyPr/>
                    <a:lstStyle/>
                    <a:p>
                      <a:pPr algn="ctr"/>
                      <a:r>
                        <a:rPr lang="en-DK" sz="800" b="1" dirty="0"/>
                        <a:t>100%</a:t>
                      </a:r>
                    </a:p>
                  </a:txBody>
                  <a:tcPr marL="41324" marR="41324" marT="20662" marB="20662"/>
                </a:tc>
                <a:extLst>
                  <a:ext uri="{0D108BD9-81ED-4DB2-BD59-A6C34878D82A}">
                    <a16:rowId xmlns:a16="http://schemas.microsoft.com/office/drawing/2014/main" val="626535670"/>
                  </a:ext>
                </a:extLst>
              </a:tr>
              <a:tr h="168232">
                <a:tc>
                  <a:txBody>
                    <a:bodyPr/>
                    <a:lstStyle/>
                    <a:p>
                      <a:pPr algn="ctr"/>
                      <a:r>
                        <a:rPr lang="en-DK" sz="800" b="1" dirty="0"/>
                        <a:t>Total</a:t>
                      </a:r>
                    </a:p>
                  </a:txBody>
                  <a:tcPr marL="41324" marR="41324" marT="20662" marB="20662"/>
                </a:tc>
                <a:tc>
                  <a:txBody>
                    <a:bodyPr/>
                    <a:lstStyle/>
                    <a:p>
                      <a:pPr algn="ctr"/>
                      <a:r>
                        <a:rPr lang="en-US" sz="800" b="1" dirty="0">
                          <a:solidFill>
                            <a:srgbClr val="FF0000"/>
                          </a:solidFill>
                        </a:rPr>
                        <a:t>3250</a:t>
                      </a:r>
                      <a:endParaRPr lang="en-DK" sz="800" b="1" dirty="0">
                        <a:solidFill>
                          <a:srgbClr val="FF0000"/>
                        </a:solidFill>
                      </a:endParaRPr>
                    </a:p>
                  </a:txBody>
                  <a:tcPr marL="41324" marR="41324" marT="20662" marB="20662"/>
                </a:tc>
                <a:tc>
                  <a:txBody>
                    <a:bodyPr/>
                    <a:lstStyle/>
                    <a:p>
                      <a:pPr algn="ctr"/>
                      <a:r>
                        <a:rPr lang="en-DK" sz="800" b="1" dirty="0"/>
                        <a:t>-</a:t>
                      </a:r>
                    </a:p>
                  </a:txBody>
                  <a:tcPr marL="41324" marR="41324" marT="20662" marB="20662"/>
                </a:tc>
                <a:extLst>
                  <a:ext uri="{0D108BD9-81ED-4DB2-BD59-A6C34878D82A}">
                    <a16:rowId xmlns:a16="http://schemas.microsoft.com/office/drawing/2014/main" val="2578818775"/>
                  </a:ext>
                </a:extLst>
              </a:tr>
            </a:tbl>
          </a:graphicData>
        </a:graphic>
      </p:graphicFrame>
      <p:grpSp>
        <p:nvGrpSpPr>
          <p:cNvPr id="104" name="Group 103">
            <a:extLst>
              <a:ext uri="{FF2B5EF4-FFF2-40B4-BE49-F238E27FC236}">
                <a16:creationId xmlns:a16="http://schemas.microsoft.com/office/drawing/2014/main" id="{86B324DD-099F-7FB7-6E5A-24BC12FB3B07}"/>
              </a:ext>
            </a:extLst>
          </p:cNvPr>
          <p:cNvGrpSpPr/>
          <p:nvPr/>
        </p:nvGrpSpPr>
        <p:grpSpPr>
          <a:xfrm>
            <a:off x="3840037" y="3914327"/>
            <a:ext cx="5139548" cy="618669"/>
            <a:chOff x="2452691" y="2834758"/>
            <a:chExt cx="6429211" cy="911727"/>
          </a:xfrm>
        </p:grpSpPr>
        <p:sp>
          <p:nvSpPr>
            <p:cNvPr id="106" name="Rectangle 105">
              <a:extLst>
                <a:ext uri="{FF2B5EF4-FFF2-40B4-BE49-F238E27FC236}">
                  <a16:creationId xmlns:a16="http://schemas.microsoft.com/office/drawing/2014/main" id="{2A8093EA-750B-C566-30B1-B453B70D6D23}"/>
                </a:ext>
              </a:extLst>
            </p:cNvPr>
            <p:cNvSpPr/>
            <p:nvPr/>
          </p:nvSpPr>
          <p:spPr bwMode="auto">
            <a:xfrm>
              <a:off x="2452691" y="2876471"/>
              <a:ext cx="2569532" cy="870014"/>
            </a:xfrm>
            <a:prstGeom prst="rect">
              <a:avLst/>
            </a:prstGeom>
            <a:solidFill>
              <a:schemeClr val="accent5">
                <a:lumMod val="20000"/>
                <a:lumOff val="80000"/>
              </a:schemeClr>
            </a:solid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r>
                <a:rPr lang="en-US" sz="900" b="1" dirty="0">
                  <a:solidFill>
                    <a:schemeClr val="tx1"/>
                  </a:solidFill>
                  <a:latin typeface="Cambria Math" panose="02040503050406030204" pitchFamily="18" charset="0"/>
                  <a:ea typeface="Cambria Math" panose="02040503050406030204" pitchFamily="18" charset="0"/>
                </a:rPr>
                <a:t>62.5% higher than needed!</a:t>
              </a:r>
              <a:endParaRPr kumimoji="0" lang="en-DK" sz="900" b="1" u="none" strike="noStrike" cap="none" normalizeH="0" baseline="0" dirty="0" err="1">
                <a:ln>
                  <a:noFill/>
                </a:ln>
                <a:solidFill>
                  <a:srgbClr val="FFFFFF"/>
                </a:solidFill>
                <a:effectLst/>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D067FFFF-2465-2541-F225-02B0C10DA38B}"/>
                    </a:ext>
                  </a:extLst>
                </p:cNvPr>
                <p:cNvSpPr txBox="1"/>
                <p:nvPr/>
              </p:nvSpPr>
              <p:spPr>
                <a:xfrm>
                  <a:off x="2790331" y="2834758"/>
                  <a:ext cx="6091571" cy="433913"/>
                </a:xfrm>
                <a:prstGeom prst="rect">
                  <a:avLst/>
                </a:prstGeom>
                <a:noFill/>
              </p:spPr>
              <p:txBody>
                <a:bodyPr wrap="square">
                  <a:spAutoFit/>
                </a:bodyPr>
                <a:lstStyle/>
                <a:p>
                  <a14:m>
                    <m:oMath xmlns:m="http://schemas.openxmlformats.org/officeDocument/2006/math">
                      <m:r>
                        <a:rPr lang="en-US" sz="900" b="1" i="1" smtClean="0">
                          <a:solidFill>
                            <a:srgbClr val="000000"/>
                          </a:solidFill>
                          <a:latin typeface="Cambria Math" panose="02040503050406030204" pitchFamily="18" charset="0"/>
                        </a:rPr>
                        <m:t>𝑪𝒐𝒔𝒕</m:t>
                      </m:r>
                      <m:r>
                        <a:rPr lang="en-US" sz="900" b="1" i="1" smtClean="0">
                          <a:solidFill>
                            <a:srgbClr val="000000"/>
                          </a:solidFill>
                          <a:latin typeface="Cambria Math" panose="02040503050406030204" pitchFamily="18" charset="0"/>
                        </a:rPr>
                        <m:t> </m:t>
                      </m:r>
                      <m:r>
                        <a:rPr lang="en-US" sz="900" b="1" i="1" smtClean="0">
                          <a:solidFill>
                            <a:srgbClr val="000000"/>
                          </a:solidFill>
                          <a:latin typeface="Cambria Math" panose="02040503050406030204" pitchFamily="18" charset="0"/>
                        </a:rPr>
                        <m:t>𝒓𝒂𝒕𝒊𝒐</m:t>
                      </m:r>
                      <m:r>
                        <a:rPr lang="en-US" sz="900" b="1" i="1" smtClean="0">
                          <a:solidFill>
                            <a:srgbClr val="000000"/>
                          </a:solidFill>
                          <a:latin typeface="Cambria Math" panose="02040503050406030204" pitchFamily="18" charset="0"/>
                        </a:rPr>
                        <m:t>=</m:t>
                      </m:r>
                      <m:f>
                        <m:fPr>
                          <m:ctrlPr>
                            <a:rPr lang="en-US" sz="900" b="1" i="1" smtClean="0">
                              <a:solidFill>
                                <a:srgbClr val="000000"/>
                              </a:solidFill>
                              <a:latin typeface="Cambria Math" panose="02040503050406030204" pitchFamily="18" charset="0"/>
                            </a:rPr>
                          </m:ctrlPr>
                        </m:fPr>
                        <m:num>
                          <m:r>
                            <a:rPr lang="en-US" sz="900" b="1" i="1" smtClean="0">
                              <a:solidFill>
                                <a:srgbClr val="000000"/>
                              </a:solidFill>
                              <a:latin typeface="Cambria Math" panose="02040503050406030204" pitchFamily="18" charset="0"/>
                            </a:rPr>
                            <m:t>𝟑𝟐𝟓𝟎</m:t>
                          </m:r>
                        </m:num>
                        <m:den>
                          <m:r>
                            <a:rPr lang="en-US" sz="900" b="1" i="1" smtClean="0">
                              <a:solidFill>
                                <a:srgbClr val="000000"/>
                              </a:solidFill>
                              <a:latin typeface="Cambria Math" panose="02040503050406030204" pitchFamily="18" charset="0"/>
                            </a:rPr>
                            <m:t>𝟐𝟎𝟎𝟎</m:t>
                          </m:r>
                        </m:den>
                      </m:f>
                      <m:r>
                        <a:rPr lang="en-US" sz="900" b="1" i="1" smtClean="0">
                          <a:solidFill>
                            <a:srgbClr val="000000"/>
                          </a:solidFill>
                          <a:latin typeface="Cambria Math" panose="02040503050406030204" pitchFamily="18" charset="0"/>
                        </a:rPr>
                        <m:t>=</m:t>
                      </m:r>
                      <m:r>
                        <a:rPr lang="en-US" sz="900" b="1" i="1" smtClean="0">
                          <a:solidFill>
                            <a:srgbClr val="000000"/>
                          </a:solidFill>
                          <a:latin typeface="Cambria Math" panose="02040503050406030204" pitchFamily="18" charset="0"/>
                        </a:rPr>
                        <m:t>𝟏</m:t>
                      </m:r>
                      <m:r>
                        <a:rPr lang="en-US" sz="900" b="1" i="1" smtClean="0">
                          <a:solidFill>
                            <a:srgbClr val="000000"/>
                          </a:solidFill>
                          <a:latin typeface="Cambria Math" panose="02040503050406030204" pitchFamily="18" charset="0"/>
                        </a:rPr>
                        <m:t>.</m:t>
                      </m:r>
                      <m:r>
                        <a:rPr lang="en-US" sz="900" b="1" i="1" smtClean="0">
                          <a:solidFill>
                            <a:srgbClr val="000000"/>
                          </a:solidFill>
                          <a:latin typeface="Cambria Math" panose="02040503050406030204" pitchFamily="18" charset="0"/>
                        </a:rPr>
                        <m:t>𝟔𝟐𝟓</m:t>
                      </m:r>
                      <m:r>
                        <a:rPr lang="en-US" sz="900" b="1" i="1" smtClean="0">
                          <a:solidFill>
                            <a:srgbClr val="000000"/>
                          </a:solidFill>
                          <a:latin typeface="Cambria Math" panose="02040503050406030204" pitchFamily="18" charset="0"/>
                        </a:rPr>
                        <m:t>,</m:t>
                      </m:r>
                    </m:oMath>
                  </a14:m>
                  <a:r>
                    <a:rPr lang="en-US" sz="900" b="1" dirty="0">
                      <a:solidFill>
                        <a:srgbClr val="000000"/>
                      </a:solidFill>
                    </a:rPr>
                    <a:t> </a:t>
                  </a:r>
                  <a:endParaRPr lang="en-DK" sz="900" b="1" dirty="0">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D067FFFF-2465-2541-F225-02B0C10DA38B}"/>
                    </a:ext>
                  </a:extLst>
                </p:cNvPr>
                <p:cNvSpPr txBox="1">
                  <a:spLocks noRot="1" noChangeAspect="1" noMove="1" noResize="1" noEditPoints="1" noAdjustHandles="1" noChangeArrowheads="1" noChangeShapeType="1" noTextEdit="1"/>
                </p:cNvSpPr>
                <p:nvPr/>
              </p:nvSpPr>
              <p:spPr>
                <a:xfrm>
                  <a:off x="2790331" y="2834758"/>
                  <a:ext cx="6091571" cy="433913"/>
                </a:xfrm>
                <a:prstGeom prst="rect">
                  <a:avLst/>
                </a:prstGeom>
                <a:blipFill>
                  <a:blip r:embed="rId2"/>
                  <a:stretch>
                    <a:fillRect/>
                  </a:stretch>
                </a:blipFill>
              </p:spPr>
              <p:txBody>
                <a:bodyPr/>
                <a:lstStyle/>
                <a:p>
                  <a:r>
                    <a:rPr lang="en-US">
                      <a:noFill/>
                    </a:rPr>
                    <a:t> </a:t>
                  </a:r>
                </a:p>
              </p:txBody>
            </p:sp>
          </mc:Fallback>
        </mc:AlternateContent>
      </p:grpSp>
      <p:sp>
        <p:nvSpPr>
          <p:cNvPr id="110" name="TextBox 109">
            <a:extLst>
              <a:ext uri="{FF2B5EF4-FFF2-40B4-BE49-F238E27FC236}">
                <a16:creationId xmlns:a16="http://schemas.microsoft.com/office/drawing/2014/main" id="{EB84F642-4288-24E0-CBDC-6EB24B5B48F8}"/>
              </a:ext>
            </a:extLst>
          </p:cNvPr>
          <p:cNvSpPr txBox="1"/>
          <p:nvPr/>
        </p:nvSpPr>
        <p:spPr>
          <a:xfrm>
            <a:off x="1446388" y="4986775"/>
            <a:ext cx="3993081" cy="246221"/>
          </a:xfrm>
          <a:prstGeom prst="rect">
            <a:avLst/>
          </a:prstGeom>
          <a:noFill/>
        </p:spPr>
        <p:txBody>
          <a:bodyPr wrap="none" lIns="0" tIns="0" rIns="0" bIns="0" rtlCol="0">
            <a:spAutoFit/>
          </a:bodyPr>
          <a:lstStyle/>
          <a:p>
            <a:pPr algn="l">
              <a:spcBef>
                <a:spcPts val="432"/>
              </a:spcBef>
            </a:pPr>
            <a:r>
              <a:rPr lang="en-US" dirty="0">
                <a:latin typeface="+mn-lt"/>
              </a:rPr>
              <a:t>Who knows, maybe it can get even worse…</a:t>
            </a:r>
          </a:p>
        </p:txBody>
      </p:sp>
    </p:spTree>
    <p:extLst>
      <p:ext uri="{BB962C8B-B14F-4D97-AF65-F5344CB8AC3E}">
        <p14:creationId xmlns:p14="http://schemas.microsoft.com/office/powerpoint/2010/main" val="670794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1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518BF-5459-88A0-3FDC-A8F3306DD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0811D-51AC-3CB0-D7BA-EBF6EE461032}"/>
              </a:ext>
            </a:extLst>
          </p:cNvPr>
          <p:cNvSpPr>
            <a:spLocks noGrp="1"/>
          </p:cNvSpPr>
          <p:nvPr>
            <p:ph type="title"/>
          </p:nvPr>
        </p:nvSpPr>
        <p:spPr>
          <a:xfrm>
            <a:off x="1414686" y="260648"/>
            <a:ext cx="9312374" cy="540000"/>
          </a:xfrm>
        </p:spPr>
        <p:txBody>
          <a:bodyPr/>
          <a:lstStyle/>
          <a:p>
            <a:r>
              <a:rPr lang="en-US" dirty="0"/>
              <a:t>How to measure inefficiency of a market</a:t>
            </a:r>
            <a:endParaRPr lang="en-DK" dirty="0"/>
          </a:p>
        </p:txBody>
      </p:sp>
      <p:grpSp>
        <p:nvGrpSpPr>
          <p:cNvPr id="14" name="Group 13">
            <a:extLst>
              <a:ext uri="{FF2B5EF4-FFF2-40B4-BE49-F238E27FC236}">
                <a16:creationId xmlns:a16="http://schemas.microsoft.com/office/drawing/2014/main" id="{F593AAC4-0FEC-D62A-0E78-0E26585C6B57}"/>
              </a:ext>
            </a:extLst>
          </p:cNvPr>
          <p:cNvGrpSpPr/>
          <p:nvPr/>
        </p:nvGrpSpPr>
        <p:grpSpPr>
          <a:xfrm>
            <a:off x="1349123" y="2651649"/>
            <a:ext cx="9236623" cy="1126313"/>
            <a:chOff x="2103121" y="3263580"/>
            <a:chExt cx="8892613" cy="1126313"/>
          </a:xfrm>
        </p:grpSpPr>
        <p:sp>
          <p:nvSpPr>
            <p:cNvPr id="13" name="Rectangle 12">
              <a:extLst>
                <a:ext uri="{FF2B5EF4-FFF2-40B4-BE49-F238E27FC236}">
                  <a16:creationId xmlns:a16="http://schemas.microsoft.com/office/drawing/2014/main" id="{68728EE5-EEEE-8141-55F2-D92C87BBA588}"/>
                </a:ext>
              </a:extLst>
            </p:cNvPr>
            <p:cNvSpPr/>
            <p:nvPr/>
          </p:nvSpPr>
          <p:spPr bwMode="auto">
            <a:xfrm>
              <a:off x="2103121" y="3263580"/>
              <a:ext cx="8892613" cy="1126313"/>
            </a:xfrm>
            <a:prstGeom prst="rect">
              <a:avLst/>
            </a:prstGeom>
            <a:solidFill>
              <a:schemeClr val="accent5">
                <a:lumMod val="20000"/>
                <a:lumOff val="80000"/>
              </a:schemeClr>
            </a:solidFill>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6F324D7-C46D-4567-73F6-3383BA3D28D9}"/>
                    </a:ext>
                  </a:extLst>
                </p:cNvPr>
                <p:cNvSpPr txBox="1"/>
                <p:nvPr/>
              </p:nvSpPr>
              <p:spPr>
                <a:xfrm>
                  <a:off x="2241744" y="3468470"/>
                  <a:ext cx="7991836" cy="677430"/>
                </a:xfrm>
                <a:prstGeom prst="rect">
                  <a:avLst/>
                </a:prstGeom>
                <a:noFill/>
              </p:spPr>
              <p:txBody>
                <a:bodyPr wrap="square">
                  <a:spAutoFit/>
                </a:bodyPr>
                <a:lstStyle/>
                <a:p>
                  <a:pPr/>
                  <a14:m>
                    <m:oMathPara xmlns:m="http://schemas.openxmlformats.org/officeDocument/2006/math">
                      <m:oMath>
                        <m:r>
                          <a:rPr lang="da-DK" sz="2000" b="1" i="1" smtClean="0">
                            <a:solidFill>
                              <a:srgbClr val="000000"/>
                            </a:solidFill>
                            <a:latin typeface="Cambria Math" panose="02040503050406030204" pitchFamily="18" charset="0"/>
                          </a:rPr>
                          <m:t>𝑷𝒓𝒊𝒄𝒆</m:t>
                        </m:r>
                        <m:r>
                          <a:rPr lang="da-DK" sz="2000" b="1" i="1" smtClean="0">
                            <a:solidFill>
                              <a:srgbClr val="000000"/>
                            </a:solidFill>
                            <a:latin typeface="Cambria Math" panose="02040503050406030204" pitchFamily="18" charset="0"/>
                          </a:rPr>
                          <m:t> </m:t>
                        </m:r>
                        <m:r>
                          <a:rPr lang="da-DK" sz="2000" b="1" i="1" smtClean="0">
                            <a:solidFill>
                              <a:srgbClr val="000000"/>
                            </a:solidFill>
                            <a:latin typeface="Cambria Math" panose="02040503050406030204" pitchFamily="18" charset="0"/>
                          </a:rPr>
                          <m:t>𝒐𝒇</m:t>
                        </m:r>
                        <m:r>
                          <a:rPr lang="en-US" sz="2000" b="1" i="1" smtClean="0">
                            <a:solidFill>
                              <a:srgbClr val="000000"/>
                            </a:solidFill>
                            <a:latin typeface="Cambria Math" panose="02040503050406030204" pitchFamily="18" charset="0"/>
                          </a:rPr>
                          <m:t> </m:t>
                        </m:r>
                        <m:r>
                          <a:rPr lang="en-US" sz="2000" b="1" i="1" smtClean="0">
                            <a:solidFill>
                              <a:srgbClr val="000000"/>
                            </a:solidFill>
                            <a:latin typeface="Cambria Math" panose="02040503050406030204" pitchFamily="18" charset="0"/>
                          </a:rPr>
                          <m:t>𝑨𝒏𝒂𝒓𝒄𝒉𝒚</m:t>
                        </m:r>
                        <m:r>
                          <a:rPr lang="en-US" sz="2000" b="1" i="1" smtClean="0">
                            <a:solidFill>
                              <a:srgbClr val="000000"/>
                            </a:solidFill>
                            <a:latin typeface="Cambria Math" panose="02040503050406030204" pitchFamily="18" charset="0"/>
                          </a:rPr>
                          <m:t>=</m:t>
                        </m:r>
                        <m:r>
                          <a:rPr lang="en-US" sz="2000" b="1" i="1" smtClean="0">
                            <a:solidFill>
                              <a:srgbClr val="000000"/>
                            </a:solidFill>
                            <a:latin typeface="Cambria Math" panose="02040503050406030204" pitchFamily="18" charset="0"/>
                          </a:rPr>
                          <m:t>𝒎𝒂𝒙</m:t>
                        </m:r>
                        <m:f>
                          <m:fPr>
                            <m:ctrlPr>
                              <a:rPr lang="en-US" sz="2000" b="1" i="1">
                                <a:solidFill>
                                  <a:srgbClr val="000000"/>
                                </a:solidFill>
                                <a:latin typeface="Cambria Math" panose="02040503050406030204" pitchFamily="18" charset="0"/>
                              </a:rPr>
                            </m:ctrlPr>
                          </m:fPr>
                          <m:num>
                            <m:r>
                              <a:rPr lang="en-US" sz="2000" b="1" i="1">
                                <a:solidFill>
                                  <a:srgbClr val="000000"/>
                                </a:solidFill>
                                <a:latin typeface="Cambria Math" panose="02040503050406030204" pitchFamily="18" charset="0"/>
                              </a:rPr>
                              <m:t>𝑪𝒐𝒔𝒕</m:t>
                            </m:r>
                            <m:r>
                              <a:rPr lang="en-US" sz="2000" b="1" i="1">
                                <a:solidFill>
                                  <a:srgbClr val="000000"/>
                                </a:solidFill>
                                <a:latin typeface="Cambria Math" panose="02040503050406030204" pitchFamily="18" charset="0"/>
                              </a:rPr>
                              <m:t> </m:t>
                            </m:r>
                            <m:r>
                              <a:rPr lang="en-US" sz="2000" b="1" i="1" smtClean="0">
                                <a:solidFill>
                                  <a:srgbClr val="000000"/>
                                </a:solidFill>
                                <a:latin typeface="Cambria Math" panose="02040503050406030204" pitchFamily="18" charset="0"/>
                              </a:rPr>
                              <m:t>𝒐𝒇</m:t>
                            </m:r>
                            <m:r>
                              <a:rPr lang="en-US" sz="2000" b="1" i="1" smtClean="0">
                                <a:solidFill>
                                  <a:srgbClr val="000000"/>
                                </a:solidFill>
                                <a:latin typeface="Cambria Math" panose="02040503050406030204" pitchFamily="18" charset="0"/>
                              </a:rPr>
                              <m:t> </m:t>
                            </m:r>
                            <m:r>
                              <a:rPr lang="en-US" sz="2000" b="1" i="1" smtClean="0">
                                <a:solidFill>
                                  <a:srgbClr val="000000"/>
                                </a:solidFill>
                                <a:latin typeface="Cambria Math" panose="02040503050406030204" pitchFamily="18" charset="0"/>
                              </a:rPr>
                              <m:t>𝒕𝒉𝒆</m:t>
                            </m:r>
                            <m:r>
                              <a:rPr lang="en-US" sz="2000" b="1" i="1" smtClean="0">
                                <a:solidFill>
                                  <a:srgbClr val="000000"/>
                                </a:solidFill>
                                <a:latin typeface="Cambria Math" panose="02040503050406030204" pitchFamily="18" charset="0"/>
                              </a:rPr>
                              <m:t> </m:t>
                            </m:r>
                            <m:r>
                              <a:rPr lang="en-US" sz="2000" b="1" i="1" smtClean="0">
                                <a:solidFill>
                                  <a:srgbClr val="000000"/>
                                </a:solidFill>
                                <a:latin typeface="Cambria Math" panose="02040503050406030204" pitchFamily="18" charset="0"/>
                              </a:rPr>
                              <m:t>𝒆𝒎𝒆𝒓𝒈𝒆𝒏𝒕</m:t>
                            </m:r>
                            <m:r>
                              <a:rPr lang="en-US" sz="2000" b="1" i="1" smtClean="0">
                                <a:solidFill>
                                  <a:srgbClr val="000000"/>
                                </a:solidFill>
                                <a:latin typeface="Cambria Math" panose="02040503050406030204" pitchFamily="18" charset="0"/>
                              </a:rPr>
                              <m:t> </m:t>
                            </m:r>
                            <m:r>
                              <a:rPr lang="en-US" sz="2000" b="1" i="1" smtClean="0">
                                <a:solidFill>
                                  <a:srgbClr val="000000"/>
                                </a:solidFill>
                                <a:latin typeface="Cambria Math" panose="02040503050406030204" pitchFamily="18" charset="0"/>
                              </a:rPr>
                              <m:t>𝒎𝒂𝒓𝒌𝒆𝒕</m:t>
                            </m:r>
                            <m:r>
                              <a:rPr lang="en-US" sz="2000" b="1" i="1" smtClean="0">
                                <a:solidFill>
                                  <a:srgbClr val="000000"/>
                                </a:solidFill>
                                <a:latin typeface="Cambria Math" panose="02040503050406030204" pitchFamily="18" charset="0"/>
                              </a:rPr>
                              <m:t> </m:t>
                            </m:r>
                            <m:r>
                              <a:rPr lang="en-US" sz="2000" b="1" i="1" smtClean="0">
                                <a:solidFill>
                                  <a:srgbClr val="000000"/>
                                </a:solidFill>
                                <a:latin typeface="Cambria Math" panose="02040503050406030204" pitchFamily="18" charset="0"/>
                              </a:rPr>
                              <m:t>𝒐𝒖𝒕𝒄𝒐𝒎𝒆</m:t>
                            </m:r>
                          </m:num>
                          <m:den>
                            <m:r>
                              <a:rPr lang="en-US" sz="2000" b="1" i="1">
                                <a:solidFill>
                                  <a:srgbClr val="000000"/>
                                </a:solidFill>
                                <a:latin typeface="Cambria Math" panose="02040503050406030204" pitchFamily="18" charset="0"/>
                              </a:rPr>
                              <m:t>𝑴𝒊𝒏𝒊𝒎𝒖𝒎</m:t>
                            </m:r>
                            <m:r>
                              <a:rPr lang="en-US" sz="2000" b="1" i="1">
                                <a:solidFill>
                                  <a:srgbClr val="000000"/>
                                </a:solidFill>
                                <a:latin typeface="Cambria Math" panose="02040503050406030204" pitchFamily="18" charset="0"/>
                              </a:rPr>
                              <m:t> </m:t>
                            </m:r>
                            <m:r>
                              <a:rPr lang="en-US" sz="2000" b="1" i="1">
                                <a:solidFill>
                                  <a:srgbClr val="000000"/>
                                </a:solidFill>
                                <a:latin typeface="Cambria Math" panose="02040503050406030204" pitchFamily="18" charset="0"/>
                              </a:rPr>
                              <m:t>𝒄𝒐𝒔𝒕</m:t>
                            </m:r>
                          </m:den>
                        </m:f>
                      </m:oMath>
                    </m:oMathPara>
                  </a14:m>
                  <a:endParaRPr lang="en-DK" sz="2000" b="1" dirty="0"/>
                </a:p>
              </p:txBody>
            </p:sp>
          </mc:Choice>
          <mc:Fallback xmlns="">
            <p:sp>
              <p:nvSpPr>
                <p:cNvPr id="10" name="TextBox 9">
                  <a:extLst>
                    <a:ext uri="{FF2B5EF4-FFF2-40B4-BE49-F238E27FC236}">
                      <a16:creationId xmlns:a16="http://schemas.microsoft.com/office/drawing/2014/main" id="{16F324D7-C46D-4567-73F6-3383BA3D28D9}"/>
                    </a:ext>
                  </a:extLst>
                </p:cNvPr>
                <p:cNvSpPr txBox="1">
                  <a:spLocks noRot="1" noChangeAspect="1" noMove="1" noResize="1" noEditPoints="1" noAdjustHandles="1" noChangeArrowheads="1" noChangeShapeType="1" noTextEdit="1"/>
                </p:cNvSpPr>
                <p:nvPr/>
              </p:nvSpPr>
              <p:spPr>
                <a:xfrm>
                  <a:off x="2241744" y="3468470"/>
                  <a:ext cx="7991836" cy="677430"/>
                </a:xfrm>
                <a:prstGeom prst="rect">
                  <a:avLst/>
                </a:prstGeom>
                <a:blipFill>
                  <a:blip r:embed="rId2"/>
                  <a:stretch>
                    <a:fillRect/>
                  </a:stretch>
                </a:blipFill>
              </p:spPr>
              <p:txBody>
                <a:bodyPr/>
                <a:lstStyle/>
                <a:p>
                  <a:r>
                    <a:rPr lang="en-US">
                      <a:noFill/>
                    </a:rPr>
                    <a:t> </a:t>
                  </a:r>
                </a:p>
              </p:txBody>
            </p:sp>
          </mc:Fallback>
        </mc:AlternateContent>
      </p:grpSp>
      <p:grpSp>
        <p:nvGrpSpPr>
          <p:cNvPr id="16" name="Group 15">
            <a:extLst>
              <a:ext uri="{FF2B5EF4-FFF2-40B4-BE49-F238E27FC236}">
                <a16:creationId xmlns:a16="http://schemas.microsoft.com/office/drawing/2014/main" id="{F096D4B3-EB96-CE2A-D0A6-2E40DDEBC3F6}"/>
              </a:ext>
            </a:extLst>
          </p:cNvPr>
          <p:cNvGrpSpPr/>
          <p:nvPr/>
        </p:nvGrpSpPr>
        <p:grpSpPr>
          <a:xfrm>
            <a:off x="1349122" y="4458644"/>
            <a:ext cx="10841291" cy="1468753"/>
            <a:chOff x="1254365" y="4783820"/>
            <a:chExt cx="10076763" cy="1468753"/>
          </a:xfrm>
        </p:grpSpPr>
        <p:sp>
          <p:nvSpPr>
            <p:cNvPr id="15" name="Rectangle 14">
              <a:extLst>
                <a:ext uri="{FF2B5EF4-FFF2-40B4-BE49-F238E27FC236}">
                  <a16:creationId xmlns:a16="http://schemas.microsoft.com/office/drawing/2014/main" id="{64AD82B2-019E-9EAD-3A7A-6F6349314837}"/>
                </a:ext>
              </a:extLst>
            </p:cNvPr>
            <p:cNvSpPr/>
            <p:nvPr/>
          </p:nvSpPr>
          <p:spPr bwMode="auto">
            <a:xfrm>
              <a:off x="1254365" y="4783820"/>
              <a:ext cx="8585257" cy="1239741"/>
            </a:xfrm>
            <a:prstGeom prst="rect">
              <a:avLst/>
            </a:prstGeom>
            <a:solidFill>
              <a:schemeClr val="bg1">
                <a:lumMod val="95000"/>
              </a:schemeClr>
            </a:solidFill>
            <a:ln>
              <a:solidFill>
                <a:schemeClr val="tx1">
                  <a:lumMod val="50000"/>
                  <a:lumOff val="5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DK" sz="1600" b="0" i="0" u="none" strike="noStrike" cap="none" normalizeH="0" baseline="0" dirty="0" err="1">
                <a:ln>
                  <a:noFill/>
                </a:ln>
                <a:solidFill>
                  <a:srgbClr val="FFFFFF"/>
                </a:solidFill>
                <a:effectLst/>
                <a:latin typeface="+mn-lt"/>
                <a:ea typeface="ＭＳ Ｐゴシック" pitchFamily="-80" charset="-128"/>
              </a:endParaRPr>
            </a:p>
          </p:txBody>
        </p:sp>
        <p:sp>
          <p:nvSpPr>
            <p:cNvPr id="9" name="Content Placeholder 2">
              <a:extLst>
                <a:ext uri="{FF2B5EF4-FFF2-40B4-BE49-F238E27FC236}">
                  <a16:creationId xmlns:a16="http://schemas.microsoft.com/office/drawing/2014/main" id="{2EC3260C-283C-CF86-260D-4A24534895FC}"/>
                </a:ext>
              </a:extLst>
            </p:cNvPr>
            <p:cNvSpPr txBox="1">
              <a:spLocks/>
            </p:cNvSpPr>
            <p:nvPr/>
          </p:nvSpPr>
          <p:spPr bwMode="auto">
            <a:xfrm>
              <a:off x="1456873" y="4977707"/>
              <a:ext cx="9874255" cy="12748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lvl1pPr marL="198000" indent="-198000" algn="l" rtl="0" eaLnBrk="1" fontAlgn="base" hangingPunct="1">
                <a:spcBef>
                  <a:spcPct val="20000"/>
                </a:spcBef>
                <a:spcAft>
                  <a:spcPct val="0"/>
                </a:spcAft>
                <a:buChar char="•"/>
                <a:defRPr sz="1800">
                  <a:solidFill>
                    <a:schemeClr val="tx1"/>
                  </a:solidFill>
                  <a:latin typeface="+mn-lt"/>
                  <a:ea typeface="+mn-ea"/>
                  <a:cs typeface="+mn-cs"/>
                </a:defRPr>
              </a:lvl1pPr>
              <a:lvl2pPr marL="414000" indent="-198000" algn="l" rtl="0" eaLnBrk="1" fontAlgn="base" hangingPunct="1">
                <a:spcBef>
                  <a:spcPct val="20000"/>
                </a:spcBef>
                <a:spcAft>
                  <a:spcPct val="0"/>
                </a:spcAft>
                <a:buChar char="–"/>
                <a:defRPr sz="1800">
                  <a:solidFill>
                    <a:schemeClr val="tx1"/>
                  </a:solidFill>
                  <a:latin typeface="+mn-lt"/>
                  <a:ea typeface="+mn-ea"/>
                </a:defRPr>
              </a:lvl2pPr>
              <a:lvl3pPr marL="615600" indent="-198000" algn="l" rtl="0" eaLnBrk="1" fontAlgn="base" hangingPunct="1">
                <a:spcBef>
                  <a:spcPct val="20000"/>
                </a:spcBef>
                <a:spcAft>
                  <a:spcPct val="0"/>
                </a:spcAft>
                <a:buChar char="•"/>
                <a:defRPr sz="1800">
                  <a:solidFill>
                    <a:schemeClr val="tx1"/>
                  </a:solidFill>
                  <a:latin typeface="+mn-lt"/>
                  <a:ea typeface="+mn-ea"/>
                </a:defRPr>
              </a:lvl3pPr>
              <a:lvl4pPr marL="828000" indent="-198000" algn="l" rtl="0" eaLnBrk="1" fontAlgn="base" hangingPunct="1">
                <a:spcBef>
                  <a:spcPct val="20000"/>
                </a:spcBef>
                <a:spcAft>
                  <a:spcPct val="0"/>
                </a:spcAft>
                <a:buChar char="–"/>
                <a:defRPr sz="1800">
                  <a:solidFill>
                    <a:schemeClr val="tx1"/>
                  </a:solidFill>
                  <a:latin typeface="+mn-lt"/>
                  <a:ea typeface="+mn-ea"/>
                </a:defRPr>
              </a:lvl4pPr>
              <a:lvl5pPr marL="1026000" indent="-198000" algn="l" rtl="0" eaLnBrk="1" fontAlgn="base" hangingPunct="1">
                <a:spcBef>
                  <a:spcPct val="20000"/>
                </a:spcBef>
                <a:spcAft>
                  <a:spcPct val="0"/>
                </a:spcAft>
                <a:buChar char="»"/>
                <a:defRPr sz="1800">
                  <a:solidFill>
                    <a:schemeClr val="tx1"/>
                  </a:solidFill>
                  <a:latin typeface="+mn-lt"/>
                  <a:ea typeface="+mn-ea"/>
                </a:defRPr>
              </a:lvl5pPr>
              <a:lvl6pPr marL="1026000" indent="-198000" algn="l" rtl="0" eaLnBrk="1" fontAlgn="base" hangingPunct="1">
                <a:spcBef>
                  <a:spcPct val="20000"/>
                </a:spcBef>
                <a:spcAft>
                  <a:spcPct val="0"/>
                </a:spcAft>
                <a:buChar char="»"/>
                <a:defRPr sz="1800">
                  <a:solidFill>
                    <a:schemeClr val="tx1"/>
                  </a:solidFill>
                  <a:latin typeface="+mn-lt"/>
                  <a:ea typeface="+mn-ea"/>
                </a:defRPr>
              </a:lvl6pPr>
              <a:lvl7pPr marL="1026000" indent="-198000" algn="l" rtl="0" eaLnBrk="1" fontAlgn="base" hangingPunct="1">
                <a:spcBef>
                  <a:spcPct val="20000"/>
                </a:spcBef>
                <a:spcAft>
                  <a:spcPct val="0"/>
                </a:spcAft>
                <a:buChar char="»"/>
                <a:defRPr sz="1800">
                  <a:solidFill>
                    <a:schemeClr val="tx1"/>
                  </a:solidFill>
                  <a:latin typeface="+mn-lt"/>
                  <a:ea typeface="+mn-ea"/>
                </a:defRPr>
              </a:lvl7pPr>
              <a:lvl8pPr marL="1026000" indent="-198000" algn="l" rtl="0" eaLnBrk="1" fontAlgn="base" hangingPunct="1">
                <a:spcBef>
                  <a:spcPct val="20000"/>
                </a:spcBef>
                <a:spcAft>
                  <a:spcPct val="0"/>
                </a:spcAft>
                <a:buChar char="»"/>
                <a:defRPr sz="1800">
                  <a:solidFill>
                    <a:schemeClr val="tx1"/>
                  </a:solidFill>
                  <a:latin typeface="+mn-lt"/>
                  <a:ea typeface="+mn-ea"/>
                </a:defRPr>
              </a:lvl8pPr>
              <a:lvl9pPr marL="1026000" indent="-198000" algn="l" rtl="0" eaLnBrk="1" fontAlgn="base" hangingPunct="1">
                <a:spcBef>
                  <a:spcPct val="20000"/>
                </a:spcBef>
                <a:spcAft>
                  <a:spcPct val="0"/>
                </a:spcAft>
                <a:buChar char="»"/>
                <a:defRPr sz="1800">
                  <a:solidFill>
                    <a:schemeClr val="tx1"/>
                  </a:solidFill>
                  <a:latin typeface="+mn-lt"/>
                  <a:ea typeface="+mn-ea"/>
                </a:defRPr>
              </a:lvl9pPr>
            </a:lstStyle>
            <a:p>
              <a:pPr marL="0" indent="0">
                <a:buNone/>
              </a:pPr>
              <a:r>
                <a:rPr lang="en-US" sz="2000" b="1" kern="0" dirty="0"/>
                <a:t>𝑷𝒓𝒊𝒄𝒆 𝒐𝒇 𝑨𝒏𝒂𝒓𝒄𝒉𝒚 = </a:t>
              </a:r>
              <a:r>
                <a:rPr lang="en-US" sz="2000" b="1" kern="0" dirty="0">
                  <a:solidFill>
                    <a:srgbClr val="00B050"/>
                  </a:solidFill>
                </a:rPr>
                <a:t>1</a:t>
              </a:r>
              <a:r>
                <a:rPr lang="en-US" sz="2000" kern="0" dirty="0"/>
                <a:t>, society pays </a:t>
              </a:r>
              <a:r>
                <a:rPr lang="en-US" sz="2000" b="1" kern="0" dirty="0">
                  <a:solidFill>
                    <a:srgbClr val="21D063"/>
                  </a:solidFill>
                </a:rPr>
                <a:t>as little as possible </a:t>
              </a:r>
              <a:r>
                <a:rPr lang="en-US" sz="2000" kern="0" dirty="0"/>
                <a:t>to satisfy demand</a:t>
              </a:r>
            </a:p>
            <a:p>
              <a:pPr marL="0" indent="0">
                <a:buNone/>
              </a:pPr>
              <a:endParaRPr lang="en-US" sz="1000" kern="0" dirty="0"/>
            </a:p>
            <a:p>
              <a:pPr marL="0" indent="0">
                <a:buNone/>
              </a:pPr>
              <a:r>
                <a:rPr lang="en-US" sz="2000" b="1" kern="0" dirty="0"/>
                <a:t>𝑷𝒓𝒊𝒄𝒆 𝒐𝒇 𝑨𝒏𝒂𝒓𝒄𝒉𝒚 = </a:t>
              </a:r>
              <a:r>
                <a:rPr lang="en-US" sz="2000" b="1" kern="0" dirty="0">
                  <a:solidFill>
                    <a:srgbClr val="FF0000"/>
                  </a:solidFill>
                </a:rPr>
                <a:t>2</a:t>
              </a:r>
              <a:r>
                <a:rPr lang="en-US" sz="2000" kern="0" dirty="0"/>
                <a:t>, we might pay </a:t>
              </a:r>
              <a:r>
                <a:rPr lang="en-US" sz="2000" b="1" kern="0" dirty="0">
                  <a:solidFill>
                    <a:srgbClr val="FF0000"/>
                  </a:solidFill>
                </a:rPr>
                <a:t>twice as much</a:t>
              </a:r>
              <a:r>
                <a:rPr lang="en-US" sz="2000" kern="0" dirty="0"/>
                <a:t> to satisfy (same) demand</a:t>
              </a:r>
              <a:endParaRPr lang="da-DK" sz="2000" b="1" i="1" kern="0" dirty="0">
                <a:latin typeface="Cambria Math" panose="02040503050406030204" pitchFamily="18" charset="0"/>
                <a:ea typeface="Cambria Math" panose="02040503050406030204" pitchFamily="18" charset="0"/>
              </a:endParaRPr>
            </a:p>
            <a:p>
              <a:pPr marL="0" indent="0">
                <a:buFontTx/>
                <a:buNone/>
              </a:pPr>
              <a:endParaRPr lang="da-DK" sz="2000" b="1" kern="0" dirty="0">
                <a:latin typeface="Cambria Math" panose="02040503050406030204" pitchFamily="18" charset="0"/>
                <a:ea typeface="Cambria Math" panose="02040503050406030204" pitchFamily="18" charset="0"/>
              </a:endParaRPr>
            </a:p>
            <a:p>
              <a:pPr marL="0" indent="0">
                <a:buFontTx/>
                <a:buNone/>
              </a:pPr>
              <a:endParaRPr lang="da-DK" sz="2000" b="1" kern="0" dirty="0">
                <a:latin typeface="Cambria Math" panose="02040503050406030204" pitchFamily="18" charset="0"/>
                <a:ea typeface="Cambria Math" panose="02040503050406030204" pitchFamily="18" charset="0"/>
              </a:endParaRPr>
            </a:p>
            <a:p>
              <a:pPr marL="0" indent="0">
                <a:buFontTx/>
                <a:buNone/>
              </a:pPr>
              <a:r>
                <a:rPr lang="da-DK" sz="2000" b="1" kern="0" dirty="0">
                  <a:latin typeface="Cambria Math" panose="02040503050406030204" pitchFamily="18" charset="0"/>
                  <a:ea typeface="Cambria Math" panose="02040503050406030204" pitchFamily="18" charset="0"/>
                </a:rPr>
                <a:t>		</a:t>
              </a:r>
              <a:endParaRPr lang="en-DK" sz="2000" b="1" kern="0" dirty="0"/>
            </a:p>
          </p:txBody>
        </p:sp>
      </p:grpSp>
      <p:sp>
        <p:nvSpPr>
          <p:cNvPr id="18" name="Oval 17">
            <a:extLst>
              <a:ext uri="{FF2B5EF4-FFF2-40B4-BE49-F238E27FC236}">
                <a16:creationId xmlns:a16="http://schemas.microsoft.com/office/drawing/2014/main" id="{80C9B829-CF8E-2ADD-C676-658A1F15A11D}"/>
              </a:ext>
            </a:extLst>
          </p:cNvPr>
          <p:cNvSpPr/>
          <p:nvPr/>
        </p:nvSpPr>
        <p:spPr bwMode="auto">
          <a:xfrm>
            <a:off x="6106892" y="2754647"/>
            <a:ext cx="3586566" cy="588456"/>
          </a:xfrm>
          <a:prstGeom prst="ellipse">
            <a:avLst/>
          </a:prstGeom>
          <a:noFill/>
          <a:ln w="38100" cap="flat" cmpd="sng" algn="ctr">
            <a:solidFill>
              <a:schemeClr val="accent1">
                <a:lumMod val="60000"/>
                <a:lumOff val="40000"/>
              </a:schemeClr>
            </a:solid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US" sz="1600" b="0" i="0" u="none" strike="noStrike" cap="none" normalizeH="0" baseline="0" dirty="0" err="1">
              <a:ln>
                <a:noFill/>
              </a:ln>
              <a:solidFill>
                <a:srgbClr val="FFFFFF"/>
              </a:solidFill>
              <a:effectLst/>
              <a:latin typeface="+mn-lt"/>
              <a:ea typeface="ＭＳ Ｐゴシック" pitchFamily="-80" charset="-128"/>
            </a:endParaRPr>
          </a:p>
        </p:txBody>
      </p:sp>
      <p:sp>
        <p:nvSpPr>
          <p:cNvPr id="24" name="TextBox 23">
            <a:extLst>
              <a:ext uri="{FF2B5EF4-FFF2-40B4-BE49-F238E27FC236}">
                <a16:creationId xmlns:a16="http://schemas.microsoft.com/office/drawing/2014/main" id="{699F662D-FEA1-3B3C-A1D0-7F70A919DF1A}"/>
              </a:ext>
            </a:extLst>
          </p:cNvPr>
          <p:cNvSpPr txBox="1"/>
          <p:nvPr/>
        </p:nvSpPr>
        <p:spPr>
          <a:xfrm>
            <a:off x="1493109" y="1795996"/>
            <a:ext cx="66" cy="229741"/>
          </a:xfrm>
          <a:prstGeom prst="rect">
            <a:avLst/>
          </a:prstGeom>
          <a:noFill/>
        </p:spPr>
        <p:txBody>
          <a:bodyPr wrap="none" lIns="0" tIns="0" rIns="0" bIns="0" rtlCol="0">
            <a:spAutoFit/>
          </a:bodyPr>
          <a:lstStyle/>
          <a:p>
            <a:pPr algn="l">
              <a:spcBef>
                <a:spcPts val="432"/>
              </a:spcBef>
            </a:pPr>
            <a:endParaRPr lang="en-US" dirty="0">
              <a:latin typeface="+mn-lt"/>
            </a:endParaRPr>
          </a:p>
        </p:txBody>
      </p:sp>
      <p:sp>
        <p:nvSpPr>
          <p:cNvPr id="17" name="TextBox 16">
            <a:extLst>
              <a:ext uri="{FF2B5EF4-FFF2-40B4-BE49-F238E27FC236}">
                <a16:creationId xmlns:a16="http://schemas.microsoft.com/office/drawing/2014/main" id="{3CE519D8-2128-4330-3F2E-BBC5544F3B2A}"/>
              </a:ext>
            </a:extLst>
          </p:cNvPr>
          <p:cNvSpPr txBox="1"/>
          <p:nvPr/>
        </p:nvSpPr>
        <p:spPr>
          <a:xfrm>
            <a:off x="6925657" y="990338"/>
            <a:ext cx="5193021" cy="338554"/>
          </a:xfrm>
          <a:prstGeom prst="rect">
            <a:avLst/>
          </a:prstGeom>
          <a:noFill/>
        </p:spPr>
        <p:txBody>
          <a:bodyPr wrap="square">
            <a:spAutoFit/>
          </a:bodyPr>
          <a:lstStyle/>
          <a:p>
            <a:pPr algn="l">
              <a:spcBef>
                <a:spcPts val="432"/>
              </a:spcBef>
            </a:pPr>
            <a:r>
              <a:rPr lang="en-US" sz="1600" dirty="0">
                <a:latin typeface="+mn-lt"/>
              </a:rPr>
              <a:t>“when each participant tries to maximize </a:t>
            </a:r>
            <a:r>
              <a:rPr lang="en-US" dirty="0">
                <a:latin typeface="+mn-lt"/>
              </a:rPr>
              <a:t>their </a:t>
            </a:r>
            <a:r>
              <a:rPr lang="en-US" sz="1600" dirty="0">
                <a:latin typeface="+mn-lt"/>
              </a:rPr>
              <a:t>profit”</a:t>
            </a:r>
          </a:p>
        </p:txBody>
      </p:sp>
      <p:cxnSp>
        <p:nvCxnSpPr>
          <p:cNvPr id="20" name="Straight Arrow Connector 19">
            <a:extLst>
              <a:ext uri="{FF2B5EF4-FFF2-40B4-BE49-F238E27FC236}">
                <a16:creationId xmlns:a16="http://schemas.microsoft.com/office/drawing/2014/main" id="{357A04B0-F078-2D51-AE87-421C1B1FE48C}"/>
              </a:ext>
            </a:extLst>
          </p:cNvPr>
          <p:cNvCxnSpPr/>
          <p:nvPr/>
        </p:nvCxnSpPr>
        <p:spPr bwMode="auto">
          <a:xfrm flipV="1">
            <a:off x="7848677" y="1328892"/>
            <a:ext cx="190745" cy="1444505"/>
          </a:xfrm>
          <a:prstGeom prst="straightConnector1">
            <a:avLst/>
          </a:prstGeom>
          <a:solidFill>
            <a:schemeClr val="accent1"/>
          </a:solidFill>
          <a:ln w="38100" cap="flat" cmpd="sng" algn="ctr">
            <a:solidFill>
              <a:srgbClr val="FF000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6" name="Picture 2" descr="Christian Anarchy Symbol Sticker Decal for Car Truck SUV Window Bumper (Red)">
            <a:extLst>
              <a:ext uri="{FF2B5EF4-FFF2-40B4-BE49-F238E27FC236}">
                <a16:creationId xmlns:a16="http://schemas.microsoft.com/office/drawing/2014/main" id="{6E0EDD84-C1F7-7A82-DCEB-C599DD8E93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95461" y="3106458"/>
            <a:ext cx="213642" cy="206704"/>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5C86ACA4-19FE-11A2-F71F-71EFA02AF8FE}"/>
              </a:ext>
            </a:extLst>
          </p:cNvPr>
          <p:cNvSpPr/>
          <p:nvPr/>
        </p:nvSpPr>
        <p:spPr bwMode="auto">
          <a:xfrm>
            <a:off x="4150990" y="2996952"/>
            <a:ext cx="648072" cy="432048"/>
          </a:xfrm>
          <a:prstGeom prst="ellipse">
            <a:avLst/>
          </a:prstGeom>
          <a:noFill/>
          <a:ln w="38100" cap="flat" cmpd="sng" algn="ctr">
            <a:solidFill>
              <a:schemeClr val="accent1">
                <a:lumMod val="60000"/>
                <a:lumOff val="40000"/>
              </a:schemeClr>
            </a:solid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US" sz="1600" b="0" i="0" u="none" strike="noStrike" cap="none" normalizeH="0" baseline="0" dirty="0" err="1">
              <a:ln>
                <a:noFill/>
              </a:ln>
              <a:solidFill>
                <a:srgbClr val="FFFFFF"/>
              </a:solidFill>
              <a:effectLst/>
              <a:latin typeface="+mn-lt"/>
              <a:ea typeface="ＭＳ Ｐゴシック" pitchFamily="-80" charset="-128"/>
            </a:endParaRPr>
          </a:p>
        </p:txBody>
      </p:sp>
      <p:cxnSp>
        <p:nvCxnSpPr>
          <p:cNvPr id="7" name="Straight Arrow Connector 6">
            <a:extLst>
              <a:ext uri="{FF2B5EF4-FFF2-40B4-BE49-F238E27FC236}">
                <a16:creationId xmlns:a16="http://schemas.microsoft.com/office/drawing/2014/main" id="{77AC99C0-F931-B919-91DD-C1BD2B5D85DF}"/>
              </a:ext>
            </a:extLst>
          </p:cNvPr>
          <p:cNvCxnSpPr/>
          <p:nvPr/>
        </p:nvCxnSpPr>
        <p:spPr bwMode="auto">
          <a:xfrm flipH="1" flipV="1">
            <a:off x="3190384" y="1718414"/>
            <a:ext cx="1152128" cy="1296144"/>
          </a:xfrm>
          <a:prstGeom prst="straightConnector1">
            <a:avLst/>
          </a:prstGeom>
          <a:solidFill>
            <a:schemeClr val="accent1"/>
          </a:solidFill>
          <a:ln w="38100" cap="flat" cmpd="sng" algn="ctr">
            <a:solidFill>
              <a:schemeClr val="accent1">
                <a:lumMod val="60000"/>
                <a:lumOff val="40000"/>
              </a:schemeClr>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TextBox 10">
            <a:extLst>
              <a:ext uri="{FF2B5EF4-FFF2-40B4-BE49-F238E27FC236}">
                <a16:creationId xmlns:a16="http://schemas.microsoft.com/office/drawing/2014/main" id="{B1B9EECC-08ED-4EFD-A65E-1C494F6658EB}"/>
              </a:ext>
            </a:extLst>
          </p:cNvPr>
          <p:cNvSpPr txBox="1"/>
          <p:nvPr/>
        </p:nvSpPr>
        <p:spPr>
          <a:xfrm>
            <a:off x="1607431" y="1367224"/>
            <a:ext cx="3694922" cy="246221"/>
          </a:xfrm>
          <a:prstGeom prst="rect">
            <a:avLst/>
          </a:prstGeom>
          <a:noFill/>
        </p:spPr>
        <p:txBody>
          <a:bodyPr wrap="none" lIns="0" tIns="0" rIns="0" bIns="0" rtlCol="0">
            <a:spAutoFit/>
          </a:bodyPr>
          <a:lstStyle/>
          <a:p>
            <a:pPr algn="l">
              <a:spcBef>
                <a:spcPts val="432"/>
              </a:spcBef>
            </a:pPr>
            <a:r>
              <a:rPr lang="en-US" dirty="0">
                <a:latin typeface="+mn-lt"/>
              </a:rPr>
              <a:t>There might be many possible outcomes</a:t>
            </a:r>
          </a:p>
        </p:txBody>
      </p:sp>
      <p:sp>
        <p:nvSpPr>
          <p:cNvPr id="3" name="Date Placeholder 2">
            <a:extLst>
              <a:ext uri="{FF2B5EF4-FFF2-40B4-BE49-F238E27FC236}">
                <a16:creationId xmlns:a16="http://schemas.microsoft.com/office/drawing/2014/main" id="{6737E642-2D4B-AD60-3181-929E7A9AE4D3}"/>
              </a:ext>
            </a:extLst>
          </p:cNvPr>
          <p:cNvSpPr>
            <a:spLocks noGrp="1"/>
          </p:cNvSpPr>
          <p:nvPr>
            <p:ph type="dt" sz="half" idx="10"/>
          </p:nvPr>
        </p:nvSpPr>
        <p:spPr/>
        <p:txBody>
          <a:bodyPr/>
          <a:lstStyle/>
          <a:p>
            <a:fld id="{2E52CA23-0CE8-43BB-941A-FEBBC4FEFEEC}" type="datetime1">
              <a:rPr lang="da-DK" smtClean="0"/>
              <a:t>03-09-2026</a:t>
            </a:fld>
            <a:endParaRPr lang="en-GB"/>
          </a:p>
        </p:txBody>
      </p:sp>
      <p:sp>
        <p:nvSpPr>
          <p:cNvPr id="4" name="Footer Placeholder 3">
            <a:extLst>
              <a:ext uri="{FF2B5EF4-FFF2-40B4-BE49-F238E27FC236}">
                <a16:creationId xmlns:a16="http://schemas.microsoft.com/office/drawing/2014/main" id="{1D7A7B29-600E-387E-20AC-1CF380931913}"/>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9FFCEAC9-D431-7AAE-E767-9058A90742E1}"/>
              </a:ext>
            </a:extLst>
          </p:cNvPr>
          <p:cNvSpPr>
            <a:spLocks noGrp="1"/>
          </p:cNvSpPr>
          <p:nvPr>
            <p:ph type="sldNum" sz="quarter" idx="12"/>
          </p:nvPr>
        </p:nvSpPr>
        <p:spPr/>
        <p:txBody>
          <a:bodyPr/>
          <a:lstStyle/>
          <a:p>
            <a:fld id="{103EA872-A674-449B-A120-B97244F8E91D}" type="slidenum">
              <a:rPr lang="da-DK" smtClean="0"/>
              <a:pPr/>
              <a:t>17</a:t>
            </a:fld>
            <a:endParaRPr lang="da-DK" dirty="0"/>
          </a:p>
        </p:txBody>
      </p:sp>
    </p:spTree>
    <p:extLst>
      <p:ext uri="{BB962C8B-B14F-4D97-AF65-F5344CB8AC3E}">
        <p14:creationId xmlns:p14="http://schemas.microsoft.com/office/powerpoint/2010/main" val="3618293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7" grpId="0"/>
      <p:bldP spid="5" grpId="0" animBg="1"/>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25C76-AB1B-7DE7-8EBF-20F2919FA647}"/>
            </a:ext>
          </a:extLst>
        </p:cNvPr>
        <p:cNvGrpSpPr/>
        <p:nvPr/>
      </p:nvGrpSpPr>
      <p:grpSpPr>
        <a:xfrm>
          <a:off x="0" y="0"/>
          <a:ext cx="0" cy="0"/>
          <a:chOff x="0" y="0"/>
          <a:chExt cx="0" cy="0"/>
        </a:xfrm>
      </p:grpSpPr>
      <p:sp>
        <p:nvSpPr>
          <p:cNvPr id="22" name="Title 21">
            <a:extLst>
              <a:ext uri="{FF2B5EF4-FFF2-40B4-BE49-F238E27FC236}">
                <a16:creationId xmlns:a16="http://schemas.microsoft.com/office/drawing/2014/main" id="{4860E253-98C0-70DA-C3EA-8E419439C9E6}"/>
              </a:ext>
            </a:extLst>
          </p:cNvPr>
          <p:cNvSpPr>
            <a:spLocks noGrp="1"/>
          </p:cNvSpPr>
          <p:nvPr>
            <p:ph type="ctrTitle"/>
          </p:nvPr>
        </p:nvSpPr>
        <p:spPr>
          <a:xfrm>
            <a:off x="262558" y="1772816"/>
            <a:ext cx="10840028" cy="2822575"/>
          </a:xfrm>
        </p:spPr>
        <p:txBody>
          <a:bodyPr/>
          <a:lstStyle/>
          <a:p>
            <a:r>
              <a:rPr lang="en-GB" sz="5400" dirty="0"/>
              <a:t>Should we be angry?</a:t>
            </a:r>
          </a:p>
        </p:txBody>
      </p:sp>
    </p:spTree>
    <p:custDataLst>
      <p:custData r:id="rId1"/>
      <p:custData r:id="rId2"/>
    </p:custDataLst>
    <p:extLst>
      <p:ext uri="{BB962C8B-B14F-4D97-AF65-F5344CB8AC3E}">
        <p14:creationId xmlns:p14="http://schemas.microsoft.com/office/powerpoint/2010/main" val="707760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820247B-85AD-14B1-4EBB-9153912CE9F5}"/>
              </a:ext>
            </a:extLst>
          </p:cNvPr>
          <p:cNvSpPr>
            <a:spLocks noGrp="1"/>
          </p:cNvSpPr>
          <p:nvPr>
            <p:ph type="dt" sz="half" idx="10"/>
          </p:nvPr>
        </p:nvSpPr>
        <p:spPr/>
        <p:txBody>
          <a:bodyPr/>
          <a:lstStyle/>
          <a:p>
            <a:fld id="{BEEB9A00-F315-4EE7-9A87-3F736866C396}" type="datetime1">
              <a:rPr lang="da-DK" smtClean="0"/>
              <a:t>03-09-2026</a:t>
            </a:fld>
            <a:endParaRPr lang="en-GB"/>
          </a:p>
        </p:txBody>
      </p:sp>
      <p:sp>
        <p:nvSpPr>
          <p:cNvPr id="5" name="Footer Placeholder 4">
            <a:extLst>
              <a:ext uri="{FF2B5EF4-FFF2-40B4-BE49-F238E27FC236}">
                <a16:creationId xmlns:a16="http://schemas.microsoft.com/office/drawing/2014/main" id="{66D5EEB9-6172-E342-FBF9-1CE136F4F8E9}"/>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D4407D7A-7EFE-A41F-51F8-5B1B0E5F744A}"/>
              </a:ext>
            </a:extLst>
          </p:cNvPr>
          <p:cNvSpPr>
            <a:spLocks noGrp="1"/>
          </p:cNvSpPr>
          <p:nvPr>
            <p:ph type="sldNum" sz="quarter" idx="12"/>
          </p:nvPr>
        </p:nvSpPr>
        <p:spPr/>
        <p:txBody>
          <a:bodyPr/>
          <a:lstStyle/>
          <a:p>
            <a:fld id="{103EA872-A674-449B-A120-B97244F8E91D}" type="slidenum">
              <a:rPr lang="da-DK" smtClean="0"/>
              <a:pPr/>
              <a:t>19</a:t>
            </a:fld>
            <a:endParaRPr lang="da-DK" dirty="0"/>
          </a:p>
        </p:txBody>
      </p:sp>
      <p:cxnSp>
        <p:nvCxnSpPr>
          <p:cNvPr id="7" name="Straight Connector 6">
            <a:extLst>
              <a:ext uri="{FF2B5EF4-FFF2-40B4-BE49-F238E27FC236}">
                <a16:creationId xmlns:a16="http://schemas.microsoft.com/office/drawing/2014/main" id="{B8A06E11-E000-920D-2BDE-CF10E055E0F7}"/>
              </a:ext>
            </a:extLst>
          </p:cNvPr>
          <p:cNvCxnSpPr>
            <a:cxnSpLocks/>
          </p:cNvCxnSpPr>
          <p:nvPr/>
        </p:nvCxnSpPr>
        <p:spPr bwMode="auto">
          <a:xfrm>
            <a:off x="6113918" y="764704"/>
            <a:ext cx="18790" cy="4250722"/>
          </a:xfrm>
          <a:prstGeom prst="line">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extBox 7">
            <a:extLst>
              <a:ext uri="{FF2B5EF4-FFF2-40B4-BE49-F238E27FC236}">
                <a16:creationId xmlns:a16="http://schemas.microsoft.com/office/drawing/2014/main" id="{2D7A309C-8963-B1B1-439D-624577376AA4}"/>
              </a:ext>
            </a:extLst>
          </p:cNvPr>
          <p:cNvSpPr txBox="1"/>
          <p:nvPr/>
        </p:nvSpPr>
        <p:spPr>
          <a:xfrm>
            <a:off x="1558702" y="836712"/>
            <a:ext cx="3869642" cy="369332"/>
          </a:xfrm>
          <a:prstGeom prst="rect">
            <a:avLst/>
          </a:prstGeom>
          <a:noFill/>
        </p:spPr>
        <p:txBody>
          <a:bodyPr wrap="square" lIns="0" tIns="0" rIns="0" bIns="0" rtlCol="0">
            <a:spAutoFit/>
          </a:bodyPr>
          <a:lstStyle/>
          <a:p>
            <a:pPr algn="l">
              <a:spcBef>
                <a:spcPts val="432"/>
              </a:spcBef>
            </a:pPr>
            <a:r>
              <a:rPr lang="en-US" sz="2400" dirty="0">
                <a:latin typeface="+mn-lt"/>
              </a:rPr>
              <a:t>In case you said we should:</a:t>
            </a:r>
          </a:p>
        </p:txBody>
      </p:sp>
      <p:sp>
        <p:nvSpPr>
          <p:cNvPr id="9" name="TextBox 8">
            <a:extLst>
              <a:ext uri="{FF2B5EF4-FFF2-40B4-BE49-F238E27FC236}">
                <a16:creationId xmlns:a16="http://schemas.microsoft.com/office/drawing/2014/main" id="{087D068A-4814-CF14-5A2D-465F51D9DA37}"/>
              </a:ext>
            </a:extLst>
          </p:cNvPr>
          <p:cNvSpPr txBox="1"/>
          <p:nvPr/>
        </p:nvSpPr>
        <p:spPr>
          <a:xfrm>
            <a:off x="6818282" y="836712"/>
            <a:ext cx="4108497" cy="369332"/>
          </a:xfrm>
          <a:prstGeom prst="rect">
            <a:avLst/>
          </a:prstGeom>
          <a:noFill/>
        </p:spPr>
        <p:txBody>
          <a:bodyPr wrap="none" lIns="0" tIns="0" rIns="0" bIns="0" rtlCol="0">
            <a:spAutoFit/>
          </a:bodyPr>
          <a:lstStyle/>
          <a:p>
            <a:pPr algn="l">
              <a:spcBef>
                <a:spcPts val="432"/>
              </a:spcBef>
            </a:pPr>
            <a:r>
              <a:rPr lang="en-US" sz="2400" dirty="0">
                <a:latin typeface="+mn-lt"/>
              </a:rPr>
              <a:t>In case you said we shouldn’t:</a:t>
            </a:r>
          </a:p>
        </p:txBody>
      </p:sp>
      <p:sp>
        <p:nvSpPr>
          <p:cNvPr id="10" name="TextBox 9">
            <a:extLst>
              <a:ext uri="{FF2B5EF4-FFF2-40B4-BE49-F238E27FC236}">
                <a16:creationId xmlns:a16="http://schemas.microsoft.com/office/drawing/2014/main" id="{3BEC2182-4211-97B9-44FB-975DB1F662F9}"/>
              </a:ext>
            </a:extLst>
          </p:cNvPr>
          <p:cNvSpPr txBox="1"/>
          <p:nvPr/>
        </p:nvSpPr>
        <p:spPr>
          <a:xfrm>
            <a:off x="1702718" y="1844824"/>
            <a:ext cx="4336041" cy="1631216"/>
          </a:xfrm>
          <a:prstGeom prst="rect">
            <a:avLst/>
          </a:prstGeom>
          <a:noFill/>
        </p:spPr>
        <p:txBody>
          <a:bodyPr wrap="square" lIns="0" tIns="0" rIns="0" bIns="0" rtlCol="0">
            <a:spAutoFit/>
          </a:bodyPr>
          <a:lstStyle/>
          <a:p>
            <a:pPr marL="285750" indent="-285750" algn="l">
              <a:spcBef>
                <a:spcPts val="432"/>
              </a:spcBef>
              <a:buFont typeface="Arial" panose="020B0604020202020204" pitchFamily="34" charset="0"/>
              <a:buChar char="•"/>
            </a:pPr>
            <a:r>
              <a:rPr lang="en-US" dirty="0">
                <a:latin typeface="+mn-lt"/>
              </a:rPr>
              <a:t>It is rational for them to act like that.</a:t>
            </a:r>
          </a:p>
          <a:p>
            <a:pPr marL="285750" indent="-285750" algn="l">
              <a:spcBef>
                <a:spcPts val="432"/>
              </a:spcBef>
              <a:buFont typeface="Arial" panose="020B0604020202020204" pitchFamily="34" charset="0"/>
              <a:buChar char="•"/>
            </a:pPr>
            <a:r>
              <a:rPr lang="en-US" dirty="0">
                <a:latin typeface="+mn-lt"/>
              </a:rPr>
              <a:t>Thay could occur loses when others act strategically but they do not.</a:t>
            </a:r>
          </a:p>
          <a:p>
            <a:pPr marL="285750" indent="-285750" algn="l">
              <a:spcBef>
                <a:spcPts val="432"/>
              </a:spcBef>
              <a:buFont typeface="Arial" panose="020B0604020202020204" pitchFamily="34" charset="0"/>
              <a:buChar char="•"/>
            </a:pPr>
            <a:r>
              <a:rPr lang="en-US" dirty="0">
                <a:latin typeface="+mn-lt"/>
              </a:rPr>
              <a:t>In some countries it might even be illegal to not do what is best for the company.</a:t>
            </a:r>
          </a:p>
          <a:p>
            <a:pPr marL="285750" indent="-285750" algn="l">
              <a:spcBef>
                <a:spcPts val="432"/>
              </a:spcBef>
              <a:buFont typeface="Arial" panose="020B0604020202020204" pitchFamily="34" charset="0"/>
              <a:buChar char="•"/>
            </a:pPr>
            <a:r>
              <a:rPr lang="en-US" dirty="0">
                <a:latin typeface="+mn-lt"/>
              </a:rPr>
              <a:t>That is just how our world works.</a:t>
            </a:r>
          </a:p>
        </p:txBody>
      </p:sp>
      <p:sp>
        <p:nvSpPr>
          <p:cNvPr id="11" name="TextBox 10">
            <a:extLst>
              <a:ext uri="{FF2B5EF4-FFF2-40B4-BE49-F238E27FC236}">
                <a16:creationId xmlns:a16="http://schemas.microsoft.com/office/drawing/2014/main" id="{CAFE34AE-1395-6C89-6FE8-03F6D22E5BB7}"/>
              </a:ext>
            </a:extLst>
          </p:cNvPr>
          <p:cNvSpPr txBox="1"/>
          <p:nvPr/>
        </p:nvSpPr>
        <p:spPr>
          <a:xfrm>
            <a:off x="6743279" y="1916832"/>
            <a:ext cx="4824536" cy="2123658"/>
          </a:xfrm>
          <a:prstGeom prst="rect">
            <a:avLst/>
          </a:prstGeom>
          <a:noFill/>
        </p:spPr>
        <p:txBody>
          <a:bodyPr wrap="square" lIns="0" tIns="0" rIns="0" bIns="0" rtlCol="0">
            <a:spAutoFit/>
          </a:bodyPr>
          <a:lstStyle/>
          <a:p>
            <a:pPr marL="285750" indent="-285750" algn="l">
              <a:spcBef>
                <a:spcPts val="432"/>
              </a:spcBef>
              <a:buFont typeface="Arial" panose="020B0604020202020204" pitchFamily="34" charset="0"/>
              <a:buChar char="•"/>
            </a:pPr>
            <a:r>
              <a:rPr lang="en-US" dirty="0">
                <a:latin typeface="+mn-lt"/>
              </a:rPr>
              <a:t>We are losing money as a society. That means we are investing work and resources without getting anything out of it.</a:t>
            </a:r>
          </a:p>
          <a:p>
            <a:pPr marL="285750" indent="-285750" algn="l">
              <a:spcBef>
                <a:spcPts val="432"/>
              </a:spcBef>
              <a:buFont typeface="Arial" panose="020B0604020202020204" pitchFamily="34" charset="0"/>
              <a:buChar char="•"/>
            </a:pPr>
            <a:r>
              <a:rPr lang="en-US" dirty="0">
                <a:latin typeface="+mn-lt"/>
              </a:rPr>
              <a:t>We should not burn fossil fuels if we do not need to do so.</a:t>
            </a:r>
          </a:p>
          <a:p>
            <a:pPr marL="285750" indent="-285750" algn="l">
              <a:spcBef>
                <a:spcPts val="432"/>
              </a:spcBef>
              <a:buFont typeface="Arial" panose="020B0604020202020204" pitchFamily="34" charset="0"/>
              <a:buChar char="•"/>
            </a:pPr>
            <a:r>
              <a:rPr lang="en-US" dirty="0">
                <a:latin typeface="+mn-lt"/>
              </a:rPr>
              <a:t>In some systems it is illegal to lie about your producing costs.</a:t>
            </a:r>
          </a:p>
          <a:p>
            <a:pPr marL="285750" indent="-285750" algn="l">
              <a:spcBef>
                <a:spcPts val="432"/>
              </a:spcBef>
              <a:buFont typeface="Arial" panose="020B0604020202020204" pitchFamily="34" charset="0"/>
              <a:buChar char="•"/>
            </a:pPr>
            <a:endParaRPr lang="en-US" dirty="0">
              <a:latin typeface="+mn-lt"/>
            </a:endParaRPr>
          </a:p>
        </p:txBody>
      </p:sp>
    </p:spTree>
    <p:extLst>
      <p:ext uri="{BB962C8B-B14F-4D97-AF65-F5344CB8AC3E}">
        <p14:creationId xmlns:p14="http://schemas.microsoft.com/office/powerpoint/2010/main" val="3180041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F39CF-F844-84DA-CF84-4EC9696BC8FE}"/>
              </a:ext>
            </a:extLst>
          </p:cNvPr>
          <p:cNvSpPr>
            <a:spLocks noGrp="1"/>
          </p:cNvSpPr>
          <p:nvPr>
            <p:ph type="title"/>
          </p:nvPr>
        </p:nvSpPr>
        <p:spPr/>
        <p:txBody>
          <a:bodyPr/>
          <a:lstStyle/>
          <a:p>
            <a:r>
              <a:rPr lang="en-US" dirty="0"/>
              <a:t>Let’s see how others handle such situation</a:t>
            </a:r>
          </a:p>
        </p:txBody>
      </p:sp>
      <p:sp>
        <p:nvSpPr>
          <p:cNvPr id="4" name="Date Placeholder 3">
            <a:extLst>
              <a:ext uri="{FF2B5EF4-FFF2-40B4-BE49-F238E27FC236}">
                <a16:creationId xmlns:a16="http://schemas.microsoft.com/office/drawing/2014/main" id="{28503AD6-33A0-3FE7-54F7-DAA71467641F}"/>
              </a:ext>
            </a:extLst>
          </p:cNvPr>
          <p:cNvSpPr>
            <a:spLocks noGrp="1"/>
          </p:cNvSpPr>
          <p:nvPr>
            <p:ph type="dt" sz="half" idx="10"/>
          </p:nvPr>
        </p:nvSpPr>
        <p:spPr/>
        <p:txBody>
          <a:bodyPr/>
          <a:lstStyle/>
          <a:p>
            <a:fld id="{E03C800B-FB61-4825-A914-A6516E1E9B64}" type="datetime1">
              <a:rPr lang="da-DK" smtClean="0"/>
              <a:t>04-09-2026</a:t>
            </a:fld>
            <a:endParaRPr lang="en-GB"/>
          </a:p>
        </p:txBody>
      </p:sp>
      <p:sp>
        <p:nvSpPr>
          <p:cNvPr id="5" name="Footer Placeholder 4">
            <a:extLst>
              <a:ext uri="{FF2B5EF4-FFF2-40B4-BE49-F238E27FC236}">
                <a16:creationId xmlns:a16="http://schemas.microsoft.com/office/drawing/2014/main" id="{52A4E29E-38D0-9A0D-DC91-658F24ED83CE}"/>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217BB63B-25BE-274F-9C4D-92596B0C6B8E}"/>
              </a:ext>
            </a:extLst>
          </p:cNvPr>
          <p:cNvSpPr>
            <a:spLocks noGrp="1"/>
          </p:cNvSpPr>
          <p:nvPr>
            <p:ph type="sldNum" sz="quarter" idx="12"/>
          </p:nvPr>
        </p:nvSpPr>
        <p:spPr/>
        <p:txBody>
          <a:bodyPr/>
          <a:lstStyle/>
          <a:p>
            <a:fld id="{103EA872-A674-449B-A120-B97244F8E91D}" type="slidenum">
              <a:rPr lang="da-DK" smtClean="0"/>
              <a:pPr/>
              <a:t>20</a:t>
            </a:fld>
            <a:endParaRPr lang="da-DK" dirty="0"/>
          </a:p>
        </p:txBody>
      </p:sp>
      <p:sp>
        <p:nvSpPr>
          <p:cNvPr id="8" name="Content Placeholder 7">
            <a:extLst>
              <a:ext uri="{FF2B5EF4-FFF2-40B4-BE49-F238E27FC236}">
                <a16:creationId xmlns:a16="http://schemas.microsoft.com/office/drawing/2014/main" id="{85FFCA40-9E5C-E238-90D4-F9D3B1132F6A}"/>
              </a:ext>
            </a:extLst>
          </p:cNvPr>
          <p:cNvSpPr>
            <a:spLocks noGrp="1"/>
          </p:cNvSpPr>
          <p:nvPr>
            <p:ph idx="1"/>
          </p:nvPr>
        </p:nvSpPr>
        <p:spPr/>
        <p:txBody>
          <a:bodyPr/>
          <a:lstStyle/>
          <a:p>
            <a:r>
              <a:rPr lang="en-US" dirty="0">
                <a:hlinkClick r:id="rId2"/>
              </a:rPr>
              <a:t>https://www.youtube.com/watch?v=hdK4vPz0qaI&amp;t=10s</a:t>
            </a:r>
            <a:endParaRPr lang="en-US" dirty="0"/>
          </a:p>
          <a:p>
            <a:endParaRPr lang="en-US" dirty="0"/>
          </a:p>
          <a:p>
            <a:r>
              <a:rPr lang="en-US" dirty="0"/>
              <a:t>One can also watch:</a:t>
            </a:r>
          </a:p>
          <a:p>
            <a:pPr lvl="1"/>
            <a:r>
              <a:rPr lang="en-US" dirty="0">
                <a:hlinkClick r:id="rId3"/>
              </a:rPr>
              <a:t>https://www.youtube.com/watch?v=TbuD-6BbnQw&amp;t=184s</a:t>
            </a:r>
            <a:endParaRPr lang="en-US" dirty="0"/>
          </a:p>
          <a:p>
            <a:pPr lvl="1"/>
            <a:r>
              <a:rPr lang="en-US" dirty="0">
                <a:hlinkClick r:id="rId4"/>
              </a:rPr>
              <a:t>https://www.youtube.com/watch?v=M0mHp3iyWGg</a:t>
            </a:r>
            <a:endParaRPr lang="en-US" dirty="0"/>
          </a:p>
          <a:p>
            <a:pPr marL="216000" lvl="1" indent="0">
              <a:buNone/>
            </a:pPr>
            <a:endParaRPr lang="en-US" dirty="0"/>
          </a:p>
        </p:txBody>
      </p:sp>
    </p:spTree>
    <p:extLst>
      <p:ext uri="{BB962C8B-B14F-4D97-AF65-F5344CB8AC3E}">
        <p14:creationId xmlns:p14="http://schemas.microsoft.com/office/powerpoint/2010/main" val="2099915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4686" y="260648"/>
            <a:ext cx="9312374" cy="540000"/>
          </a:xfrm>
        </p:spPr>
        <p:txBody>
          <a:bodyPr/>
          <a:lstStyle/>
          <a:p>
            <a:r>
              <a:t>Losing on purpose: London 2012</a:t>
            </a:r>
          </a:p>
        </p:txBody>
      </p:sp>
      <p:sp>
        <p:nvSpPr>
          <p:cNvPr id="3" name="Content Placeholder 2"/>
          <p:cNvSpPr>
            <a:spLocks noGrp="1"/>
          </p:cNvSpPr>
          <p:nvPr>
            <p:ph idx="1"/>
          </p:nvPr>
        </p:nvSpPr>
        <p:spPr>
          <a:xfrm>
            <a:off x="1439019" y="1124744"/>
            <a:ext cx="9312374" cy="3550000"/>
          </a:xfrm>
        </p:spPr>
        <p:txBody>
          <a:bodyPr wrap="square" anchor="t"/>
          <a:lstStyle/>
          <a:p>
            <a:pPr marL="0" indent="0" algn="l">
              <a:buNone/>
            </a:pPr>
            <a:r>
              <a:rPr sz="1700" b="1" dirty="0">
                <a:solidFill>
                  <a:srgbClr val="990000"/>
                </a:solidFill>
              </a:rPr>
              <a:t>The setup   </a:t>
            </a:r>
            <a:r>
              <a:rPr sz="1500" b="0" dirty="0">
                <a:solidFill>
                  <a:srgbClr val="404040"/>
                </a:solidFill>
              </a:rPr>
              <a:t>London 2012 introduced a round-robin group stage before the knockouts</a:t>
            </a:r>
            <a:r>
              <a:rPr lang="en-US" sz="1500" b="0" dirty="0">
                <a:solidFill>
                  <a:srgbClr val="404040"/>
                </a:solidFill>
              </a:rPr>
              <a:t>, </a:t>
            </a:r>
            <a:r>
              <a:rPr sz="1500" b="0" dirty="0">
                <a:solidFill>
                  <a:srgbClr val="404040"/>
                </a:solidFill>
              </a:rPr>
              <a:t>the first time in Olympic badminton history.</a:t>
            </a:r>
          </a:p>
          <a:p>
            <a:pPr marL="0">
              <a:defRPr sz="600"/>
            </a:pPr>
            <a:endParaRPr sz="1500" b="0" dirty="0">
              <a:solidFill>
                <a:srgbClr val="404040"/>
              </a:solidFill>
            </a:endParaRPr>
          </a:p>
          <a:p>
            <a:pPr marL="0" indent="0" algn="l">
              <a:buNone/>
            </a:pPr>
            <a:r>
              <a:rPr sz="1700" b="1" dirty="0">
                <a:solidFill>
                  <a:srgbClr val="990000"/>
                </a:solidFill>
              </a:rPr>
              <a:t>The incentive   </a:t>
            </a:r>
            <a:r>
              <a:rPr lang="en-US" sz="1500" b="0" dirty="0">
                <a:solidFill>
                  <a:srgbClr val="404040"/>
                </a:solidFill>
              </a:rPr>
              <a:t>A </a:t>
            </a:r>
            <a:r>
              <a:rPr sz="1500" b="0" dirty="0">
                <a:solidFill>
                  <a:srgbClr val="404040"/>
                </a:solidFill>
              </a:rPr>
              <a:t>shock upset reshuffled the bracket</a:t>
            </a:r>
            <a:r>
              <a:rPr lang="en-US" sz="1500" b="0" dirty="0">
                <a:solidFill>
                  <a:srgbClr val="404040"/>
                </a:solidFill>
              </a:rPr>
              <a:t>.</a:t>
            </a:r>
            <a:r>
              <a:rPr sz="1500" b="0" dirty="0">
                <a:solidFill>
                  <a:srgbClr val="404040"/>
                </a:solidFill>
              </a:rPr>
              <a:t> </a:t>
            </a:r>
            <a:r>
              <a:rPr lang="en-US" sz="1500" dirty="0">
                <a:solidFill>
                  <a:srgbClr val="404040"/>
                </a:solidFill>
              </a:rPr>
              <a:t>S</a:t>
            </a:r>
            <a:r>
              <a:rPr sz="1500" b="0" dirty="0">
                <a:solidFill>
                  <a:srgbClr val="404040"/>
                </a:solidFill>
              </a:rPr>
              <a:t>everal top pairs realized that winning their last group match could mean a tougher </a:t>
            </a:r>
            <a:r>
              <a:rPr lang="en-US" sz="1500" b="0" dirty="0">
                <a:solidFill>
                  <a:srgbClr val="404040"/>
                </a:solidFill>
              </a:rPr>
              <a:t>tournament tree</a:t>
            </a:r>
            <a:r>
              <a:rPr sz="1500" b="0" dirty="0">
                <a:solidFill>
                  <a:srgbClr val="404040"/>
                </a:solidFill>
              </a:rPr>
              <a:t> than losing it.</a:t>
            </a:r>
            <a:r>
              <a:rPr lang="en-US" sz="1500" b="0" dirty="0">
                <a:solidFill>
                  <a:srgbClr val="404040"/>
                </a:solidFill>
              </a:rPr>
              <a:t> (All because a Danish team performed better than expected.)</a:t>
            </a:r>
            <a:endParaRPr sz="1500" b="0" dirty="0">
              <a:solidFill>
                <a:srgbClr val="404040"/>
              </a:solidFill>
            </a:endParaRPr>
          </a:p>
          <a:p>
            <a:pPr marL="0">
              <a:defRPr sz="600"/>
            </a:pPr>
            <a:endParaRPr sz="1500" b="0" dirty="0">
              <a:solidFill>
                <a:srgbClr val="404040"/>
              </a:solidFill>
            </a:endParaRPr>
          </a:p>
          <a:p>
            <a:pPr marL="0" indent="0" algn="l">
              <a:buNone/>
            </a:pPr>
            <a:r>
              <a:rPr sz="1700" b="1" dirty="0">
                <a:solidFill>
                  <a:srgbClr val="990000"/>
                </a:solidFill>
              </a:rPr>
              <a:t>What happened   </a:t>
            </a:r>
            <a:r>
              <a:rPr sz="1500" b="0" dirty="0">
                <a:solidFill>
                  <a:srgbClr val="404040"/>
                </a:solidFill>
              </a:rPr>
              <a:t>Four pairs served into the net</a:t>
            </a:r>
            <a:r>
              <a:rPr lang="en-US" sz="1500" dirty="0">
                <a:solidFill>
                  <a:srgbClr val="404040"/>
                </a:solidFill>
              </a:rPr>
              <a:t> and</a:t>
            </a:r>
            <a:r>
              <a:rPr lang="en-US" sz="1500" b="0" dirty="0">
                <a:solidFill>
                  <a:srgbClr val="404040"/>
                </a:solidFill>
              </a:rPr>
              <a:t> </a:t>
            </a:r>
            <a:r>
              <a:rPr sz="1500" b="0" dirty="0">
                <a:solidFill>
                  <a:srgbClr val="404040"/>
                </a:solidFill>
              </a:rPr>
              <a:t>hit shots long, in front of a booing crowd, until the </a:t>
            </a:r>
            <a:r>
              <a:rPr lang="en-US" sz="1500" b="0" dirty="0">
                <a:solidFill>
                  <a:srgbClr val="404040"/>
                </a:solidFill>
              </a:rPr>
              <a:t>referee stopped the matches.</a:t>
            </a:r>
            <a:endParaRPr sz="1500" b="0" dirty="0">
              <a:solidFill>
                <a:srgbClr val="404040"/>
              </a:solidFill>
            </a:endParaRPr>
          </a:p>
          <a:p>
            <a:pPr marL="0">
              <a:defRPr sz="600"/>
            </a:pPr>
            <a:endParaRPr sz="1500" b="0" dirty="0">
              <a:solidFill>
                <a:srgbClr val="404040"/>
              </a:solidFill>
            </a:endParaRPr>
          </a:p>
          <a:p>
            <a:pPr marL="0" indent="0" algn="l">
              <a:buNone/>
            </a:pPr>
            <a:r>
              <a:rPr sz="1700" b="1" dirty="0">
                <a:solidFill>
                  <a:srgbClr val="990000"/>
                </a:solidFill>
              </a:rPr>
              <a:t>The ruling   </a:t>
            </a:r>
            <a:r>
              <a:rPr sz="1500" b="0" dirty="0">
                <a:solidFill>
                  <a:srgbClr val="404040"/>
                </a:solidFill>
              </a:rPr>
              <a:t>The Badminton World Federation disqualified all eight players for “not using one’s best efforts to win.”</a:t>
            </a:r>
          </a:p>
          <a:p>
            <a:pPr marL="0">
              <a:defRPr sz="600"/>
            </a:pPr>
            <a:endParaRPr sz="1500" b="0" dirty="0">
              <a:solidFill>
                <a:srgbClr val="404040"/>
              </a:solidFill>
            </a:endParaRPr>
          </a:p>
        </p:txBody>
      </p:sp>
      <p:sp>
        <p:nvSpPr>
          <p:cNvPr id="4" name="Rounded Rectangle 3"/>
          <p:cNvSpPr/>
          <p:nvPr/>
        </p:nvSpPr>
        <p:spPr>
          <a:xfrm>
            <a:off x="1435608" y="4526280"/>
            <a:ext cx="9308592" cy="868680"/>
          </a:xfrm>
          <a:prstGeom prst="roundRect">
            <a:avLst>
              <a:gd name="adj" fmla="val 8000"/>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wrap="square" lIns="180000" rIns="180000" rtlCol="0" anchor="ctr"/>
          <a:lstStyle/>
          <a:p>
            <a:pPr algn="ctr"/>
            <a:r>
              <a:rPr sz="2400" b="1" i="1">
                <a:solidFill>
                  <a:srgbClr val="FFFFFF"/>
                </a:solidFill>
              </a:rPr>
              <a:t>Nobody broke a rule. The rules were the problem.</a:t>
            </a:r>
          </a:p>
        </p:txBody>
      </p:sp>
      <p:sp>
        <p:nvSpPr>
          <p:cNvPr id="5" name="Date Placeholder 3">
            <a:extLst>
              <a:ext uri="{FF2B5EF4-FFF2-40B4-BE49-F238E27FC236}">
                <a16:creationId xmlns:a16="http://schemas.microsoft.com/office/drawing/2014/main" id="{700D2652-C195-10BA-1A3E-34B8A6AD4E2A}"/>
              </a:ext>
            </a:extLst>
          </p:cNvPr>
          <p:cNvSpPr>
            <a:spLocks noGrp="1"/>
          </p:cNvSpPr>
          <p:nvPr>
            <p:ph type="dt" sz="half" idx="10"/>
          </p:nvPr>
        </p:nvSpPr>
        <p:spPr/>
        <p:txBody>
          <a:bodyPr/>
          <a:lstStyle/>
          <a:p>
            <a:fld id="{2CF17744-1E6B-4F0C-A698-AA4FFAEE9770}" type="datetime1">
              <a:rPr lang="da-DK" smtClean="0"/>
              <a:t>03-09-2026</a:t>
            </a:fld>
            <a:endParaRPr lang="en-GB"/>
          </a:p>
        </p:txBody>
      </p:sp>
      <p:sp>
        <p:nvSpPr>
          <p:cNvPr id="6" name="Footer Placeholder 4">
            <a:extLst>
              <a:ext uri="{FF2B5EF4-FFF2-40B4-BE49-F238E27FC236}">
                <a16:creationId xmlns:a16="http://schemas.microsoft.com/office/drawing/2014/main" id="{4FC23D93-73CA-5FD8-5D16-67B4FBC6311A}"/>
              </a:ext>
            </a:extLst>
          </p:cNvPr>
          <p:cNvSpPr>
            <a:spLocks noGrp="1"/>
          </p:cNvSpPr>
          <p:nvPr>
            <p:ph type="ftr" sz="quarter" idx="11"/>
          </p:nvPr>
        </p:nvSpPr>
        <p:spPr/>
        <p:txBody>
          <a:bodyPr/>
          <a:lstStyle/>
          <a:p>
            <a:r>
              <a:rPr lang="en-US"/>
              <a:t>Game Theory in Electricity Markets - Week 1</a:t>
            </a:r>
            <a:endParaRPr lang="da-DK" dirty="0"/>
          </a:p>
        </p:txBody>
      </p:sp>
      <p:sp>
        <p:nvSpPr>
          <p:cNvPr id="7" name="Slide Number Placeholder 5">
            <a:extLst>
              <a:ext uri="{FF2B5EF4-FFF2-40B4-BE49-F238E27FC236}">
                <a16:creationId xmlns:a16="http://schemas.microsoft.com/office/drawing/2014/main" id="{971190B5-9616-8524-EAB4-112793AC1862}"/>
              </a:ext>
            </a:extLst>
          </p:cNvPr>
          <p:cNvSpPr>
            <a:spLocks noGrp="1"/>
          </p:cNvSpPr>
          <p:nvPr>
            <p:ph type="sldNum" sz="quarter" idx="12"/>
          </p:nvPr>
        </p:nvSpPr>
        <p:spPr/>
        <p:txBody>
          <a:bodyPr/>
          <a:lstStyle/>
          <a:p>
            <a:fld id="{103EA872-A674-449B-A120-B97244F8E91D}" type="slidenum">
              <a:rPr lang="da-DK" smtClean="0"/>
              <a:pPr/>
              <a:t>21</a:t>
            </a:fld>
            <a:endParaRPr lang="da-DK"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4686" y="260648"/>
            <a:ext cx="9312374" cy="540000"/>
          </a:xfrm>
        </p:spPr>
        <p:txBody>
          <a:bodyPr/>
          <a:lstStyle/>
          <a:p>
            <a:r>
              <a:t>The Disgrace of Gijón: 1982</a:t>
            </a:r>
          </a:p>
        </p:txBody>
      </p:sp>
      <p:sp>
        <p:nvSpPr>
          <p:cNvPr id="3" name="Content Placeholder 2"/>
          <p:cNvSpPr>
            <a:spLocks noGrp="1"/>
          </p:cNvSpPr>
          <p:nvPr>
            <p:ph idx="1"/>
          </p:nvPr>
        </p:nvSpPr>
        <p:spPr>
          <a:xfrm>
            <a:off x="1439019" y="1124744"/>
            <a:ext cx="9312374" cy="3550000"/>
          </a:xfrm>
        </p:spPr>
        <p:txBody>
          <a:bodyPr wrap="square" anchor="t"/>
          <a:lstStyle/>
          <a:p>
            <a:pPr marL="0" indent="0" algn="l">
              <a:buNone/>
            </a:pPr>
            <a:r>
              <a:rPr sz="1700" b="1" dirty="0">
                <a:solidFill>
                  <a:srgbClr val="990000"/>
                </a:solidFill>
              </a:rPr>
              <a:t>The setup   </a:t>
            </a:r>
            <a:r>
              <a:rPr sz="1400" b="0" dirty="0">
                <a:solidFill>
                  <a:srgbClr val="404040"/>
                </a:solidFill>
              </a:rPr>
              <a:t>1982 World Cup, final group match: West Germany vs Austria</a:t>
            </a:r>
            <a:r>
              <a:rPr lang="en-US" sz="1400" b="0" dirty="0">
                <a:solidFill>
                  <a:srgbClr val="404040"/>
                </a:solidFill>
              </a:rPr>
              <a:t>. It is</a:t>
            </a:r>
            <a:r>
              <a:rPr sz="1400" b="0" dirty="0">
                <a:solidFill>
                  <a:srgbClr val="404040"/>
                </a:solidFill>
              </a:rPr>
              <a:t> played a day after Algeria had already finished their own group games.</a:t>
            </a:r>
          </a:p>
          <a:p>
            <a:pPr marL="0">
              <a:defRPr sz="600"/>
            </a:pPr>
            <a:endParaRPr sz="1400" b="0" dirty="0">
              <a:solidFill>
                <a:srgbClr val="404040"/>
              </a:solidFill>
            </a:endParaRPr>
          </a:p>
          <a:p>
            <a:pPr marL="0" indent="0" algn="l">
              <a:buNone/>
            </a:pPr>
            <a:r>
              <a:rPr sz="1700" b="1" dirty="0">
                <a:solidFill>
                  <a:srgbClr val="990000"/>
                </a:solidFill>
              </a:rPr>
              <a:t>The incentive   </a:t>
            </a:r>
            <a:r>
              <a:rPr sz="1400" b="0" dirty="0">
                <a:solidFill>
                  <a:srgbClr val="404040"/>
                </a:solidFill>
              </a:rPr>
              <a:t>West Germany and Austria both knew Algeria's results in advance: a West German win by one or two goals would send both of them through on goal difference, eliminating Algeria.</a:t>
            </a:r>
          </a:p>
          <a:p>
            <a:pPr marL="0">
              <a:defRPr sz="600"/>
            </a:pPr>
            <a:endParaRPr sz="1400" b="0" dirty="0">
              <a:solidFill>
                <a:srgbClr val="404040"/>
              </a:solidFill>
            </a:endParaRPr>
          </a:p>
          <a:p>
            <a:pPr marL="0" indent="0" algn="l">
              <a:buNone/>
            </a:pPr>
            <a:r>
              <a:rPr sz="1700" b="1" dirty="0">
                <a:solidFill>
                  <a:srgbClr val="990000"/>
                </a:solidFill>
              </a:rPr>
              <a:t>What happened   </a:t>
            </a:r>
            <a:r>
              <a:rPr sz="1400" b="0" dirty="0">
                <a:solidFill>
                  <a:srgbClr val="404040"/>
                </a:solidFill>
              </a:rPr>
              <a:t>Horst </a:t>
            </a:r>
            <a:r>
              <a:rPr sz="1400" b="0" dirty="0" err="1">
                <a:solidFill>
                  <a:srgbClr val="404040"/>
                </a:solidFill>
              </a:rPr>
              <a:t>Hrubesch</a:t>
            </a:r>
            <a:r>
              <a:rPr sz="1400" b="0" dirty="0">
                <a:solidFill>
                  <a:srgbClr val="404040"/>
                </a:solidFill>
              </a:rPr>
              <a:t> scored for West Germany in the 10th minute. For the remaining 80 minutes, both teams just passed the ball around, protecting the exact scoreline they both needed. Fans chanted “</a:t>
            </a:r>
            <a:r>
              <a:rPr sz="1400" b="0" dirty="0" err="1">
                <a:solidFill>
                  <a:srgbClr val="404040"/>
                </a:solidFill>
              </a:rPr>
              <a:t>Que</a:t>
            </a:r>
            <a:r>
              <a:rPr sz="1400" b="0" dirty="0">
                <a:solidFill>
                  <a:srgbClr val="404040"/>
                </a:solidFill>
              </a:rPr>
              <a:t> se </a:t>
            </a:r>
            <a:r>
              <a:rPr sz="1400" b="0" dirty="0" err="1">
                <a:solidFill>
                  <a:srgbClr val="404040"/>
                </a:solidFill>
              </a:rPr>
              <a:t>besen</a:t>
            </a:r>
            <a:r>
              <a:rPr sz="1400" b="0" dirty="0">
                <a:solidFill>
                  <a:srgbClr val="404040"/>
                </a:solidFill>
              </a:rPr>
              <a:t>!” (“Let them kiss!”)</a:t>
            </a:r>
            <a:r>
              <a:rPr lang="en-US" sz="1400" b="0" dirty="0">
                <a:solidFill>
                  <a:srgbClr val="404040"/>
                </a:solidFill>
              </a:rPr>
              <a:t>.</a:t>
            </a:r>
            <a:r>
              <a:rPr sz="1400" b="0" dirty="0">
                <a:solidFill>
                  <a:srgbClr val="404040"/>
                </a:solidFill>
              </a:rPr>
              <a:t> </a:t>
            </a:r>
            <a:r>
              <a:rPr lang="en-US" sz="1400" dirty="0">
                <a:solidFill>
                  <a:srgbClr val="404040"/>
                </a:solidFill>
              </a:rPr>
              <a:t>A</a:t>
            </a:r>
            <a:r>
              <a:rPr sz="1400" b="0" dirty="0">
                <a:solidFill>
                  <a:srgbClr val="404040"/>
                </a:solidFill>
              </a:rPr>
              <a:t> German commentator refused to keep commentating.</a:t>
            </a:r>
          </a:p>
          <a:p>
            <a:pPr marL="0">
              <a:defRPr sz="600"/>
            </a:pPr>
            <a:endParaRPr sz="1400" b="0" dirty="0">
              <a:solidFill>
                <a:srgbClr val="404040"/>
              </a:solidFill>
            </a:endParaRPr>
          </a:p>
          <a:p>
            <a:pPr marL="0" indent="0" algn="l">
              <a:buNone/>
            </a:pPr>
            <a:r>
              <a:rPr sz="1700" b="1" dirty="0">
                <a:solidFill>
                  <a:srgbClr val="990000"/>
                </a:solidFill>
              </a:rPr>
              <a:t>The ruling   </a:t>
            </a:r>
            <a:r>
              <a:rPr sz="1400" b="0" dirty="0">
                <a:solidFill>
                  <a:srgbClr val="404040"/>
                </a:solidFill>
              </a:rPr>
              <a:t>No rule was broken, so no one was disqualified</a:t>
            </a:r>
            <a:r>
              <a:rPr lang="en-US" sz="1400" b="0" dirty="0">
                <a:solidFill>
                  <a:srgbClr val="404040"/>
                </a:solidFill>
              </a:rPr>
              <a:t>. The</a:t>
            </a:r>
            <a:r>
              <a:rPr sz="1400" b="0" dirty="0">
                <a:solidFill>
                  <a:srgbClr val="404040"/>
                </a:solidFill>
              </a:rPr>
              <a:t> FIFA rewrote the rules: from 1986 onward, every group's final two matches kick off at the same time.</a:t>
            </a:r>
          </a:p>
          <a:p>
            <a:pPr marL="0">
              <a:defRPr sz="600"/>
            </a:pPr>
            <a:endParaRPr sz="1400" b="0" dirty="0">
              <a:solidFill>
                <a:srgbClr val="404040"/>
              </a:solidFill>
            </a:endParaRPr>
          </a:p>
        </p:txBody>
      </p:sp>
      <p:sp>
        <p:nvSpPr>
          <p:cNvPr id="4" name="Rounded Rectangle 3"/>
          <p:cNvSpPr/>
          <p:nvPr/>
        </p:nvSpPr>
        <p:spPr>
          <a:xfrm>
            <a:off x="1435608" y="4526280"/>
            <a:ext cx="9308592" cy="868680"/>
          </a:xfrm>
          <a:prstGeom prst="roundRect">
            <a:avLst>
              <a:gd name="adj" fmla="val 8000"/>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wrap="square" lIns="180000" rIns="180000" rtlCol="0" anchor="ctr"/>
          <a:lstStyle/>
          <a:p>
            <a:pPr algn="ctr"/>
            <a:r>
              <a:rPr sz="2200" b="1" i="1" dirty="0">
                <a:solidFill>
                  <a:srgbClr val="FFFFFF"/>
                </a:solidFill>
              </a:rPr>
              <a:t>This time nobody was punished </a:t>
            </a:r>
            <a:r>
              <a:rPr lang="en-US" sz="2200" b="1" i="1" dirty="0">
                <a:solidFill>
                  <a:srgbClr val="FFFFFF"/>
                </a:solidFill>
              </a:rPr>
              <a:t>the</a:t>
            </a:r>
            <a:r>
              <a:rPr sz="2200" b="1" i="1" dirty="0">
                <a:solidFill>
                  <a:srgbClr val="FFFFFF"/>
                </a:solidFill>
              </a:rPr>
              <a:t> FIFA </a:t>
            </a:r>
            <a:r>
              <a:rPr lang="en-US" sz="2200" b="1" i="1" dirty="0">
                <a:solidFill>
                  <a:srgbClr val="FFFFFF"/>
                </a:solidFill>
              </a:rPr>
              <a:t>changed</a:t>
            </a:r>
            <a:r>
              <a:rPr sz="2200" b="1" i="1" dirty="0">
                <a:solidFill>
                  <a:srgbClr val="FFFFFF"/>
                </a:solidFill>
              </a:rPr>
              <a:t> the </a:t>
            </a:r>
            <a:r>
              <a:rPr lang="en-US" sz="2200" b="1" i="1" dirty="0">
                <a:solidFill>
                  <a:srgbClr val="FFFFFF"/>
                </a:solidFill>
              </a:rPr>
              <a:t>rules</a:t>
            </a:r>
            <a:r>
              <a:rPr sz="2200" b="1" i="1" dirty="0">
                <a:solidFill>
                  <a:srgbClr val="FFFFFF"/>
                </a:solidFill>
              </a:rPr>
              <a:t> instead.</a:t>
            </a:r>
          </a:p>
        </p:txBody>
      </p:sp>
      <p:sp>
        <p:nvSpPr>
          <p:cNvPr id="5" name="Date Placeholder 3">
            <a:extLst>
              <a:ext uri="{FF2B5EF4-FFF2-40B4-BE49-F238E27FC236}">
                <a16:creationId xmlns:a16="http://schemas.microsoft.com/office/drawing/2014/main" id="{700D2652-C195-10BA-1A3E-34B8A6AD4E2A}"/>
              </a:ext>
            </a:extLst>
          </p:cNvPr>
          <p:cNvSpPr>
            <a:spLocks noGrp="1"/>
          </p:cNvSpPr>
          <p:nvPr>
            <p:ph type="dt" sz="half" idx="10"/>
          </p:nvPr>
        </p:nvSpPr>
        <p:spPr/>
        <p:txBody>
          <a:bodyPr/>
          <a:lstStyle/>
          <a:p>
            <a:fld id="{3667CF0A-3380-4889-BDEA-A3A1D23505C2}" type="datetime1">
              <a:rPr lang="da-DK" smtClean="0"/>
              <a:t>03-09-2026</a:t>
            </a:fld>
            <a:endParaRPr lang="en-GB"/>
          </a:p>
        </p:txBody>
      </p:sp>
      <p:sp>
        <p:nvSpPr>
          <p:cNvPr id="6" name="Footer Placeholder 4">
            <a:extLst>
              <a:ext uri="{FF2B5EF4-FFF2-40B4-BE49-F238E27FC236}">
                <a16:creationId xmlns:a16="http://schemas.microsoft.com/office/drawing/2014/main" id="{4FC23D93-73CA-5FD8-5D16-67B4FBC6311A}"/>
              </a:ext>
            </a:extLst>
          </p:cNvPr>
          <p:cNvSpPr>
            <a:spLocks noGrp="1"/>
          </p:cNvSpPr>
          <p:nvPr>
            <p:ph type="ftr" sz="quarter" idx="11"/>
          </p:nvPr>
        </p:nvSpPr>
        <p:spPr/>
        <p:txBody>
          <a:bodyPr/>
          <a:lstStyle/>
          <a:p>
            <a:r>
              <a:rPr lang="en-US"/>
              <a:t>Game Theory in Electricity Markets - Week 1</a:t>
            </a:r>
            <a:endParaRPr lang="da-DK" dirty="0"/>
          </a:p>
        </p:txBody>
      </p:sp>
      <p:sp>
        <p:nvSpPr>
          <p:cNvPr id="7" name="Slide Number Placeholder 5">
            <a:extLst>
              <a:ext uri="{FF2B5EF4-FFF2-40B4-BE49-F238E27FC236}">
                <a16:creationId xmlns:a16="http://schemas.microsoft.com/office/drawing/2014/main" id="{971190B5-9616-8524-EAB4-112793AC1862}"/>
              </a:ext>
            </a:extLst>
          </p:cNvPr>
          <p:cNvSpPr>
            <a:spLocks noGrp="1"/>
          </p:cNvSpPr>
          <p:nvPr>
            <p:ph type="sldNum" sz="quarter" idx="12"/>
          </p:nvPr>
        </p:nvSpPr>
        <p:spPr/>
        <p:txBody>
          <a:bodyPr/>
          <a:lstStyle/>
          <a:p>
            <a:fld id="{103EA872-A674-449B-A120-B97244F8E91D}" type="slidenum">
              <a:rPr lang="da-DK" smtClean="0"/>
              <a:pPr/>
              <a:t>22</a:t>
            </a:fld>
            <a:endParaRPr lang="da-DK"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4686" y="260648"/>
            <a:ext cx="9312374" cy="540000"/>
          </a:xfrm>
        </p:spPr>
        <p:txBody>
          <a:bodyPr/>
          <a:lstStyle/>
          <a:p>
            <a:r>
              <a:t>Why we need mechanism design</a:t>
            </a:r>
          </a:p>
        </p:txBody>
      </p:sp>
      <p:sp>
        <p:nvSpPr>
          <p:cNvPr id="3" name="Content Placeholder 2"/>
          <p:cNvSpPr>
            <a:spLocks noGrp="1"/>
          </p:cNvSpPr>
          <p:nvPr>
            <p:ph idx="1"/>
          </p:nvPr>
        </p:nvSpPr>
        <p:spPr>
          <a:xfrm>
            <a:off x="1439019" y="1124744"/>
            <a:ext cx="9312374" cy="3550000"/>
          </a:xfrm>
        </p:spPr>
        <p:txBody>
          <a:bodyPr wrap="square" anchor="t"/>
          <a:lstStyle/>
          <a:p>
            <a:pPr marL="0" indent="0" algn="l">
              <a:buNone/>
            </a:pPr>
            <a:r>
              <a:rPr sz="1700" b="1" dirty="0">
                <a:solidFill>
                  <a:srgbClr val="990000"/>
                </a:solidFill>
              </a:rPr>
              <a:t>The pattern   </a:t>
            </a:r>
            <a:r>
              <a:rPr sz="1400" b="0" dirty="0">
                <a:solidFill>
                  <a:srgbClr val="404040"/>
                </a:solidFill>
              </a:rPr>
              <a:t>In Gijón and in London, skilled, rational people made the strategically optimal choice</a:t>
            </a:r>
            <a:r>
              <a:rPr lang="en-US" sz="1400" b="0" dirty="0">
                <a:solidFill>
                  <a:srgbClr val="404040"/>
                </a:solidFill>
              </a:rPr>
              <a:t> </a:t>
            </a:r>
            <a:r>
              <a:rPr sz="1400" b="0" dirty="0">
                <a:solidFill>
                  <a:srgbClr val="404040"/>
                </a:solidFill>
              </a:rPr>
              <a:t>and it made everyone worse off.</a:t>
            </a:r>
          </a:p>
          <a:p>
            <a:pPr marL="0">
              <a:defRPr sz="600"/>
            </a:pPr>
            <a:endParaRPr sz="1400" b="0" dirty="0">
              <a:solidFill>
                <a:srgbClr val="404040"/>
              </a:solidFill>
            </a:endParaRPr>
          </a:p>
          <a:p>
            <a:pPr marL="0" indent="0" algn="l">
              <a:buNone/>
            </a:pPr>
            <a:r>
              <a:rPr sz="1700" b="1" dirty="0">
                <a:solidFill>
                  <a:srgbClr val="990000"/>
                </a:solidFill>
              </a:rPr>
              <a:t>The parallel   </a:t>
            </a:r>
            <a:r>
              <a:rPr sz="1400" b="0" dirty="0">
                <a:solidFill>
                  <a:srgbClr val="404040"/>
                </a:solidFill>
              </a:rPr>
              <a:t>An electricity market is the same kind of game. </a:t>
            </a:r>
            <a:r>
              <a:rPr lang="en-US" sz="1400" dirty="0">
                <a:solidFill>
                  <a:srgbClr val="404040"/>
                </a:solidFill>
              </a:rPr>
              <a:t>S</a:t>
            </a:r>
            <a:r>
              <a:rPr sz="1400" b="0" dirty="0">
                <a:solidFill>
                  <a:srgbClr val="404040"/>
                </a:solidFill>
              </a:rPr>
              <a:t>trategic bidding pushed </a:t>
            </a:r>
            <a:r>
              <a:rPr lang="en-US" sz="1400" b="0" dirty="0">
                <a:solidFill>
                  <a:srgbClr val="404040"/>
                </a:solidFill>
              </a:rPr>
              <a:t>up </a:t>
            </a:r>
            <a:r>
              <a:rPr sz="1400" b="0" dirty="0">
                <a:solidFill>
                  <a:srgbClr val="404040"/>
                </a:solidFill>
              </a:rPr>
              <a:t>total cost </a:t>
            </a:r>
            <a:r>
              <a:rPr lang="en-US" sz="1400" b="0" dirty="0">
                <a:solidFill>
                  <a:srgbClr val="404040"/>
                </a:solidFill>
              </a:rPr>
              <a:t>significantly.</a:t>
            </a:r>
            <a:r>
              <a:rPr sz="1400" b="0" dirty="0">
                <a:solidFill>
                  <a:srgbClr val="404040"/>
                </a:solidFill>
              </a:rPr>
              <a:t> </a:t>
            </a:r>
            <a:r>
              <a:rPr lang="en-US" sz="1400" b="0" dirty="0">
                <a:solidFill>
                  <a:srgbClr val="404040"/>
                </a:solidFill>
              </a:rPr>
              <a:t>This extra cost is </a:t>
            </a:r>
            <a:r>
              <a:rPr lang="en-US" sz="1400" b="0" dirty="0" err="1">
                <a:solidFill>
                  <a:srgbClr val="404040"/>
                </a:solidFill>
              </a:rPr>
              <a:t>payed</a:t>
            </a:r>
            <a:r>
              <a:rPr sz="1400" b="0" dirty="0">
                <a:solidFill>
                  <a:srgbClr val="404040"/>
                </a:solidFill>
              </a:rPr>
              <a:t> by everyone on the grid.</a:t>
            </a:r>
          </a:p>
          <a:p>
            <a:pPr marL="0">
              <a:defRPr sz="600"/>
            </a:pPr>
            <a:endParaRPr sz="1400" b="0" dirty="0">
              <a:solidFill>
                <a:srgbClr val="404040"/>
              </a:solidFill>
            </a:endParaRPr>
          </a:p>
          <a:p>
            <a:pPr marL="0" indent="0" algn="l">
              <a:buNone/>
            </a:pPr>
            <a:r>
              <a:rPr sz="1700" b="1" dirty="0">
                <a:solidFill>
                  <a:srgbClr val="990000"/>
                </a:solidFill>
              </a:rPr>
              <a:t>The stakes   </a:t>
            </a:r>
            <a:r>
              <a:rPr sz="1400" b="0" dirty="0">
                <a:solidFill>
                  <a:srgbClr val="404040"/>
                </a:solidFill>
              </a:rPr>
              <a:t>A badminton match is one bad afternoon. A market clears every settlement period</a:t>
            </a:r>
            <a:r>
              <a:rPr lang="en-US" sz="1400" b="0" dirty="0">
                <a:solidFill>
                  <a:srgbClr val="404040"/>
                </a:solidFill>
              </a:rPr>
              <a:t> (15 min)</a:t>
            </a:r>
            <a:r>
              <a:rPr sz="1400" b="0" dirty="0">
                <a:solidFill>
                  <a:srgbClr val="404040"/>
                </a:solidFill>
              </a:rPr>
              <a:t>, forever, and the bill goes to households and industry</a:t>
            </a:r>
            <a:r>
              <a:rPr lang="en-US" sz="1400" b="0" dirty="0">
                <a:solidFill>
                  <a:srgbClr val="404040"/>
                </a:solidFill>
              </a:rPr>
              <a:t>. That’s worse than</a:t>
            </a:r>
            <a:r>
              <a:rPr sz="1400" b="0" dirty="0">
                <a:solidFill>
                  <a:srgbClr val="404040"/>
                </a:solidFill>
              </a:rPr>
              <a:t> a stadium of booing fans.</a:t>
            </a:r>
          </a:p>
          <a:p>
            <a:pPr marL="0">
              <a:defRPr sz="600"/>
            </a:pPr>
            <a:endParaRPr sz="1400" b="0" dirty="0">
              <a:solidFill>
                <a:srgbClr val="404040"/>
              </a:solidFill>
            </a:endParaRPr>
          </a:p>
          <a:p>
            <a:pPr marL="0" indent="0" algn="l">
              <a:buNone/>
            </a:pPr>
            <a:r>
              <a:rPr sz="1700" b="1" dirty="0">
                <a:solidFill>
                  <a:srgbClr val="990000"/>
                </a:solidFill>
              </a:rPr>
              <a:t>The task   </a:t>
            </a:r>
            <a:r>
              <a:rPr sz="1400" b="0" dirty="0">
                <a:solidFill>
                  <a:srgbClr val="404040"/>
                </a:solidFill>
              </a:rPr>
              <a:t>Mechanism design asks the Gijón question before the </a:t>
            </a:r>
            <a:r>
              <a:rPr lang="en-US" sz="1400" dirty="0">
                <a:solidFill>
                  <a:srgbClr val="404040"/>
                </a:solidFill>
              </a:rPr>
              <a:t>game</a:t>
            </a:r>
            <a:r>
              <a:rPr sz="1400" b="0" dirty="0">
                <a:solidFill>
                  <a:srgbClr val="404040"/>
                </a:solidFill>
              </a:rPr>
              <a:t>, not after: how do we design the rules of the market so that self-interested bidding still gives</a:t>
            </a:r>
            <a:r>
              <a:rPr lang="en-US" sz="1400" b="0" dirty="0">
                <a:solidFill>
                  <a:srgbClr val="404040"/>
                </a:solidFill>
              </a:rPr>
              <a:t> low</a:t>
            </a:r>
            <a:r>
              <a:rPr sz="1400" b="0" dirty="0">
                <a:solidFill>
                  <a:srgbClr val="404040"/>
                </a:solidFill>
              </a:rPr>
              <a:t> Price of Anarchy?</a:t>
            </a:r>
          </a:p>
          <a:p>
            <a:pPr marL="0">
              <a:defRPr sz="600"/>
            </a:pPr>
            <a:endParaRPr sz="1400" b="0" dirty="0">
              <a:solidFill>
                <a:srgbClr val="404040"/>
              </a:solidFill>
            </a:endParaRPr>
          </a:p>
        </p:txBody>
      </p:sp>
      <p:sp>
        <p:nvSpPr>
          <p:cNvPr id="4" name="Rounded Rectangle 3"/>
          <p:cNvSpPr/>
          <p:nvPr/>
        </p:nvSpPr>
        <p:spPr>
          <a:xfrm>
            <a:off x="1435608" y="4526280"/>
            <a:ext cx="9308592" cy="868680"/>
          </a:xfrm>
          <a:prstGeom prst="roundRect">
            <a:avLst>
              <a:gd name="adj" fmla="val 8000"/>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wrap="square" lIns="180000" rIns="180000" rtlCol="0" anchor="ctr"/>
          <a:lstStyle/>
          <a:p>
            <a:pPr algn="ctr"/>
            <a:r>
              <a:rPr sz="2400" b="1" i="1" dirty="0">
                <a:solidFill>
                  <a:srgbClr val="FFFFFF"/>
                </a:solidFill>
              </a:rPr>
              <a:t>We can't fix the players. We can design the game.</a:t>
            </a:r>
          </a:p>
        </p:txBody>
      </p:sp>
      <p:sp>
        <p:nvSpPr>
          <p:cNvPr id="5" name="Date Placeholder 3">
            <a:extLst>
              <a:ext uri="{FF2B5EF4-FFF2-40B4-BE49-F238E27FC236}">
                <a16:creationId xmlns:a16="http://schemas.microsoft.com/office/drawing/2014/main" id="{700D2652-C195-10BA-1A3E-34B8A6AD4E2A}"/>
              </a:ext>
            </a:extLst>
          </p:cNvPr>
          <p:cNvSpPr>
            <a:spLocks noGrp="1"/>
          </p:cNvSpPr>
          <p:nvPr>
            <p:ph type="dt" sz="half" idx="10"/>
          </p:nvPr>
        </p:nvSpPr>
        <p:spPr/>
        <p:txBody>
          <a:bodyPr/>
          <a:lstStyle/>
          <a:p>
            <a:fld id="{97D5C52C-0E24-4F95-9214-44548BB0D44C}" type="datetime1">
              <a:rPr lang="da-DK" smtClean="0"/>
              <a:t>03-09-2026</a:t>
            </a:fld>
            <a:endParaRPr lang="en-GB"/>
          </a:p>
        </p:txBody>
      </p:sp>
      <p:sp>
        <p:nvSpPr>
          <p:cNvPr id="6" name="Footer Placeholder 4">
            <a:extLst>
              <a:ext uri="{FF2B5EF4-FFF2-40B4-BE49-F238E27FC236}">
                <a16:creationId xmlns:a16="http://schemas.microsoft.com/office/drawing/2014/main" id="{4FC23D93-73CA-5FD8-5D16-67B4FBC6311A}"/>
              </a:ext>
            </a:extLst>
          </p:cNvPr>
          <p:cNvSpPr>
            <a:spLocks noGrp="1"/>
          </p:cNvSpPr>
          <p:nvPr>
            <p:ph type="ftr" sz="quarter" idx="11"/>
          </p:nvPr>
        </p:nvSpPr>
        <p:spPr/>
        <p:txBody>
          <a:bodyPr/>
          <a:lstStyle/>
          <a:p>
            <a:r>
              <a:rPr lang="en-US"/>
              <a:t>Game Theory in Electricity Markets - Week 1</a:t>
            </a:r>
            <a:endParaRPr lang="da-DK" dirty="0"/>
          </a:p>
        </p:txBody>
      </p:sp>
      <p:sp>
        <p:nvSpPr>
          <p:cNvPr id="7" name="Slide Number Placeholder 5">
            <a:extLst>
              <a:ext uri="{FF2B5EF4-FFF2-40B4-BE49-F238E27FC236}">
                <a16:creationId xmlns:a16="http://schemas.microsoft.com/office/drawing/2014/main" id="{971190B5-9616-8524-EAB4-112793AC1862}"/>
              </a:ext>
            </a:extLst>
          </p:cNvPr>
          <p:cNvSpPr>
            <a:spLocks noGrp="1"/>
          </p:cNvSpPr>
          <p:nvPr>
            <p:ph type="sldNum" sz="quarter" idx="12"/>
          </p:nvPr>
        </p:nvSpPr>
        <p:spPr/>
        <p:txBody>
          <a:bodyPr/>
          <a:lstStyle/>
          <a:p>
            <a:fld id="{103EA872-A674-449B-A120-B97244F8E91D}" type="slidenum">
              <a:rPr lang="da-DK" smtClean="0"/>
              <a:pPr/>
              <a:t>23</a:t>
            </a:fld>
            <a:endParaRPr lang="da-DK"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4686" y="260648"/>
            <a:ext cx="9312374" cy="540000"/>
          </a:xfrm>
        </p:spPr>
        <p:txBody>
          <a:bodyPr/>
          <a:lstStyle/>
          <a:p>
            <a:r>
              <a:rPr dirty="0"/>
              <a:t>Why is this so hard?</a:t>
            </a:r>
          </a:p>
        </p:txBody>
      </p:sp>
      <p:sp>
        <p:nvSpPr>
          <p:cNvPr id="4" name="TextBox 3"/>
          <p:cNvSpPr txBox="1"/>
          <p:nvPr/>
        </p:nvSpPr>
        <p:spPr>
          <a:xfrm>
            <a:off x="1463040" y="1188720"/>
            <a:ext cx="4114800" cy="411480"/>
          </a:xfrm>
          <a:prstGeom prst="rect">
            <a:avLst/>
          </a:prstGeom>
          <a:noFill/>
        </p:spPr>
        <p:txBody>
          <a:bodyPr wrap="square">
            <a:spAutoFit/>
          </a:bodyPr>
          <a:lstStyle/>
          <a:p>
            <a:pPr algn="ctr"/>
            <a:r>
              <a:rPr sz="2100" b="1" dirty="0">
                <a:solidFill>
                  <a:srgbClr val="990000"/>
                </a:solidFill>
              </a:rPr>
              <a:t>Price of Anarchy</a:t>
            </a:r>
          </a:p>
        </p:txBody>
      </p:sp>
      <p:sp>
        <p:nvSpPr>
          <p:cNvPr id="5" name="Rounded Rectangle 4"/>
          <p:cNvSpPr/>
          <p:nvPr/>
        </p:nvSpPr>
        <p:spPr>
          <a:xfrm>
            <a:off x="1463040" y="1600200"/>
            <a:ext cx="4114800" cy="4434840"/>
          </a:xfrm>
          <a:prstGeom prst="roundRect">
            <a:avLst>
              <a:gd name="adj" fmla="val 6000"/>
            </a:avLst>
          </a:prstGeom>
          <a:solidFill>
            <a:srgbClr val="FFFFFF"/>
          </a:solidFill>
          <a:ln w="25400">
            <a:solidFill>
              <a:srgbClr val="99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91056" y="1645920"/>
            <a:ext cx="3858768" cy="369332"/>
          </a:xfrm>
          <a:prstGeom prst="rect">
            <a:avLst/>
          </a:prstGeom>
          <a:noFill/>
        </p:spPr>
        <p:txBody>
          <a:bodyPr wrap="square" lIns="0" tIns="0" rIns="0" bIns="0">
            <a:spAutoFit/>
          </a:bodyPr>
          <a:lstStyle/>
          <a:p>
            <a:pPr algn="l"/>
            <a:r>
              <a:rPr sz="1200" b="1" dirty="0">
                <a:solidFill>
                  <a:srgbClr val="990000"/>
                </a:solidFill>
              </a:rPr>
              <a:t>Level 3 — </a:t>
            </a:r>
            <a:r>
              <a:rPr lang="en-US" sz="1200" b="1" dirty="0">
                <a:solidFill>
                  <a:srgbClr val="990000"/>
                </a:solidFill>
              </a:rPr>
              <a:t>Maximize the cost ratio over all such settings</a:t>
            </a:r>
            <a:endParaRPr sz="1200" b="1" dirty="0">
              <a:solidFill>
                <a:srgbClr val="990000"/>
              </a:solidFill>
            </a:endParaRPr>
          </a:p>
        </p:txBody>
      </p:sp>
      <p:sp>
        <p:nvSpPr>
          <p:cNvPr id="7" name="Rounded Rectangle 6"/>
          <p:cNvSpPr/>
          <p:nvPr/>
        </p:nvSpPr>
        <p:spPr>
          <a:xfrm>
            <a:off x="1810512" y="2057400"/>
            <a:ext cx="3419856" cy="3703320"/>
          </a:xfrm>
          <a:prstGeom prst="roundRect">
            <a:avLst>
              <a:gd name="adj" fmla="val 6000"/>
            </a:avLst>
          </a:prstGeom>
          <a:solidFill>
            <a:srgbClr val="FFFFFF"/>
          </a:solidFill>
          <a:ln w="25400">
            <a:solidFill>
              <a:srgbClr val="2F3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38528" y="2103120"/>
            <a:ext cx="3163824" cy="184666"/>
          </a:xfrm>
          <a:prstGeom prst="rect">
            <a:avLst/>
          </a:prstGeom>
          <a:noFill/>
        </p:spPr>
        <p:txBody>
          <a:bodyPr wrap="square" lIns="0" tIns="0" rIns="0" bIns="0">
            <a:spAutoFit/>
          </a:bodyPr>
          <a:lstStyle/>
          <a:p>
            <a:r>
              <a:rPr sz="1200" b="1" dirty="0">
                <a:solidFill>
                  <a:srgbClr val="2F3EEA"/>
                </a:solidFill>
              </a:rPr>
              <a:t>Level 2 — </a:t>
            </a:r>
            <a:r>
              <a:rPr lang="en-US" sz="1200" b="1" dirty="0">
                <a:solidFill>
                  <a:srgbClr val="2F3EEA"/>
                </a:solidFill>
              </a:rPr>
              <a:t>Players maximize revenue</a:t>
            </a:r>
            <a:endParaRPr sz="1200" b="1" dirty="0">
              <a:solidFill>
                <a:srgbClr val="2F3EEA"/>
              </a:solidFill>
            </a:endParaRPr>
          </a:p>
        </p:txBody>
      </p:sp>
      <p:sp>
        <p:nvSpPr>
          <p:cNvPr id="9" name="Rounded Rectangle 8"/>
          <p:cNvSpPr/>
          <p:nvPr/>
        </p:nvSpPr>
        <p:spPr>
          <a:xfrm>
            <a:off x="2157984" y="2514600"/>
            <a:ext cx="2724912" cy="2971800"/>
          </a:xfrm>
          <a:prstGeom prst="roundRect">
            <a:avLst>
              <a:gd name="adj" fmla="val 6000"/>
            </a:avLst>
          </a:prstGeom>
          <a:solidFill>
            <a:srgbClr val="FFFFFF"/>
          </a:solidFill>
          <a:ln w="25400">
            <a:solidFill>
              <a:srgbClr val="FC7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286000" y="2560320"/>
            <a:ext cx="2468880" cy="577081"/>
          </a:xfrm>
          <a:prstGeom prst="rect">
            <a:avLst/>
          </a:prstGeom>
          <a:noFill/>
        </p:spPr>
        <p:txBody>
          <a:bodyPr wrap="square" lIns="0" tIns="0" rIns="0" bIns="0">
            <a:spAutoFit/>
          </a:bodyPr>
          <a:lstStyle/>
          <a:p>
            <a:r>
              <a:rPr sz="1250" b="1" dirty="0">
                <a:solidFill>
                  <a:srgbClr val="FC7634"/>
                </a:solidFill>
              </a:rPr>
              <a:t>Level 1 — </a:t>
            </a:r>
            <a:r>
              <a:rPr lang="en-US" sz="1250" b="1" dirty="0">
                <a:solidFill>
                  <a:srgbClr val="FC7634"/>
                </a:solidFill>
              </a:rPr>
              <a:t>The operator clears the market, given fixed bids</a:t>
            </a:r>
            <a:endParaRPr sz="1250" b="1" dirty="0">
              <a:solidFill>
                <a:srgbClr val="FC7634"/>
              </a:solidFill>
            </a:endParaRPr>
          </a:p>
        </p:txBody>
      </p:sp>
      <p:sp>
        <p:nvSpPr>
          <p:cNvPr id="11" name="TextBox 10"/>
          <p:cNvSpPr txBox="1"/>
          <p:nvPr/>
        </p:nvSpPr>
        <p:spPr>
          <a:xfrm>
            <a:off x="2286000" y="3188295"/>
            <a:ext cx="2468880" cy="384721"/>
          </a:xfrm>
          <a:prstGeom prst="rect">
            <a:avLst/>
          </a:prstGeom>
          <a:noFill/>
        </p:spPr>
        <p:txBody>
          <a:bodyPr wrap="square" lIns="0" tIns="0" rIns="0">
            <a:spAutoFit/>
          </a:bodyPr>
          <a:lstStyle/>
          <a:p>
            <a:pPr algn="l"/>
            <a:r>
              <a:rPr lang="en-US" sz="1100" dirty="0">
                <a:solidFill>
                  <a:srgbClr val="404040"/>
                </a:solidFill>
              </a:rPr>
              <a:t>The market clearing in itself is an optimization problem!</a:t>
            </a:r>
            <a:endParaRPr sz="1100" dirty="0">
              <a:solidFill>
                <a:srgbClr val="404040"/>
              </a:solidFill>
            </a:endParaRPr>
          </a:p>
        </p:txBody>
      </p:sp>
      <p:sp>
        <p:nvSpPr>
          <p:cNvPr id="12" name="TextBox 11"/>
          <p:cNvSpPr txBox="1"/>
          <p:nvPr/>
        </p:nvSpPr>
        <p:spPr>
          <a:xfrm>
            <a:off x="6263640" y="1188720"/>
            <a:ext cx="4114800" cy="411480"/>
          </a:xfrm>
          <a:prstGeom prst="rect">
            <a:avLst/>
          </a:prstGeom>
          <a:noFill/>
        </p:spPr>
        <p:txBody>
          <a:bodyPr wrap="square">
            <a:spAutoFit/>
          </a:bodyPr>
          <a:lstStyle/>
          <a:p>
            <a:pPr algn="ctr"/>
            <a:r>
              <a:rPr sz="2100" b="1" dirty="0">
                <a:solidFill>
                  <a:srgbClr val="171748"/>
                </a:solidFill>
              </a:rPr>
              <a:t>Mechanism Design</a:t>
            </a:r>
          </a:p>
        </p:txBody>
      </p:sp>
      <p:sp>
        <p:nvSpPr>
          <p:cNvPr id="13" name="Rounded Rectangle 12"/>
          <p:cNvSpPr/>
          <p:nvPr/>
        </p:nvSpPr>
        <p:spPr>
          <a:xfrm>
            <a:off x="6263640" y="1600200"/>
            <a:ext cx="4114800" cy="4434840"/>
          </a:xfrm>
          <a:prstGeom prst="roundRect">
            <a:avLst>
              <a:gd name="adj" fmla="val 6000"/>
            </a:avLst>
          </a:prstGeom>
          <a:solidFill>
            <a:srgbClr val="FFFFFF"/>
          </a:solidFill>
          <a:ln w="25400">
            <a:solidFill>
              <a:srgbClr val="1717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91655" y="1645920"/>
            <a:ext cx="3858768" cy="184666"/>
          </a:xfrm>
          <a:prstGeom prst="rect">
            <a:avLst/>
          </a:prstGeom>
          <a:noFill/>
        </p:spPr>
        <p:txBody>
          <a:bodyPr wrap="square" lIns="0" tIns="0" rIns="0" bIns="0">
            <a:spAutoFit/>
          </a:bodyPr>
          <a:lstStyle/>
          <a:p>
            <a:pPr algn="l"/>
            <a:r>
              <a:rPr sz="1200" b="1" dirty="0">
                <a:solidFill>
                  <a:srgbClr val="171748"/>
                </a:solidFill>
              </a:rPr>
              <a:t>Level 4 — </a:t>
            </a:r>
            <a:r>
              <a:rPr lang="en-US" sz="1200" b="1" dirty="0">
                <a:solidFill>
                  <a:srgbClr val="171748"/>
                </a:solidFill>
              </a:rPr>
              <a:t>Minimize over the space of rules</a:t>
            </a:r>
            <a:endParaRPr sz="1200" b="1" dirty="0">
              <a:solidFill>
                <a:srgbClr val="171748"/>
              </a:solidFill>
            </a:endParaRPr>
          </a:p>
        </p:txBody>
      </p:sp>
      <p:sp>
        <p:nvSpPr>
          <p:cNvPr id="15" name="Rounded Rectangle 14"/>
          <p:cNvSpPr/>
          <p:nvPr/>
        </p:nvSpPr>
        <p:spPr>
          <a:xfrm>
            <a:off x="6537959" y="1984248"/>
            <a:ext cx="3566160" cy="3831335"/>
          </a:xfrm>
          <a:prstGeom prst="roundRect">
            <a:avLst>
              <a:gd name="adj" fmla="val 6000"/>
            </a:avLst>
          </a:prstGeom>
          <a:solidFill>
            <a:srgbClr val="FFFFFF"/>
          </a:solidFill>
          <a:ln w="25400">
            <a:solidFill>
              <a:srgbClr val="99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65975" y="2029967"/>
            <a:ext cx="3310128" cy="369332"/>
          </a:xfrm>
          <a:prstGeom prst="rect">
            <a:avLst/>
          </a:prstGeom>
          <a:noFill/>
        </p:spPr>
        <p:txBody>
          <a:bodyPr wrap="square" lIns="0" tIns="0" rIns="0" bIns="0">
            <a:spAutoFit/>
          </a:bodyPr>
          <a:lstStyle/>
          <a:p>
            <a:r>
              <a:rPr lang="en-US" sz="1200" b="1" dirty="0">
                <a:solidFill>
                  <a:srgbClr val="990000"/>
                </a:solidFill>
              </a:rPr>
              <a:t>Level 3 — Maximize the cost ratio over all such settings</a:t>
            </a:r>
          </a:p>
        </p:txBody>
      </p:sp>
      <p:sp>
        <p:nvSpPr>
          <p:cNvPr id="17" name="Rounded Rectangle 16"/>
          <p:cNvSpPr/>
          <p:nvPr/>
        </p:nvSpPr>
        <p:spPr>
          <a:xfrm>
            <a:off x="6775703" y="2487168"/>
            <a:ext cx="3090672" cy="3127247"/>
          </a:xfrm>
          <a:prstGeom prst="roundRect">
            <a:avLst>
              <a:gd name="adj" fmla="val 6000"/>
            </a:avLst>
          </a:prstGeom>
          <a:solidFill>
            <a:srgbClr val="FFFFFF"/>
          </a:solidFill>
          <a:ln w="25400">
            <a:solidFill>
              <a:srgbClr val="2F3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03719" y="2532887"/>
            <a:ext cx="2834639" cy="369332"/>
          </a:xfrm>
          <a:prstGeom prst="rect">
            <a:avLst/>
          </a:prstGeom>
          <a:noFill/>
        </p:spPr>
        <p:txBody>
          <a:bodyPr wrap="square" lIns="0" tIns="0" rIns="0" bIns="0">
            <a:spAutoFit/>
          </a:bodyPr>
          <a:lstStyle/>
          <a:p>
            <a:r>
              <a:rPr sz="1200" b="1" dirty="0">
                <a:solidFill>
                  <a:srgbClr val="2F3EEA"/>
                </a:solidFill>
              </a:rPr>
              <a:t>Level 2 — </a:t>
            </a:r>
            <a:r>
              <a:rPr lang="en-US" sz="1200" b="1" dirty="0">
                <a:solidFill>
                  <a:srgbClr val="2F3EEA"/>
                </a:solidFill>
              </a:rPr>
              <a:t>Players maximize revenue</a:t>
            </a:r>
            <a:endParaRPr sz="1200" b="1" dirty="0">
              <a:solidFill>
                <a:srgbClr val="2F3EEA"/>
              </a:solidFill>
            </a:endParaRPr>
          </a:p>
        </p:txBody>
      </p:sp>
      <p:sp>
        <p:nvSpPr>
          <p:cNvPr id="19" name="Rounded Rectangle 18"/>
          <p:cNvSpPr/>
          <p:nvPr/>
        </p:nvSpPr>
        <p:spPr>
          <a:xfrm>
            <a:off x="7013447" y="2990087"/>
            <a:ext cx="2615184" cy="2423159"/>
          </a:xfrm>
          <a:prstGeom prst="roundRect">
            <a:avLst>
              <a:gd name="adj" fmla="val 6000"/>
            </a:avLst>
          </a:prstGeom>
          <a:solidFill>
            <a:srgbClr val="FFFFFF"/>
          </a:solidFill>
          <a:ln w="25400">
            <a:solidFill>
              <a:srgbClr val="FC7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41463" y="3035807"/>
            <a:ext cx="2359152" cy="577081"/>
          </a:xfrm>
          <a:prstGeom prst="rect">
            <a:avLst/>
          </a:prstGeom>
          <a:noFill/>
        </p:spPr>
        <p:txBody>
          <a:bodyPr wrap="square" lIns="0" tIns="0" rIns="0" bIns="0">
            <a:spAutoFit/>
          </a:bodyPr>
          <a:lstStyle/>
          <a:p>
            <a:r>
              <a:rPr sz="1250" b="1" dirty="0">
                <a:solidFill>
                  <a:srgbClr val="FC7634"/>
                </a:solidFill>
              </a:rPr>
              <a:t>Level 1 — </a:t>
            </a:r>
            <a:r>
              <a:rPr lang="en-US" sz="1250" b="1" dirty="0">
                <a:solidFill>
                  <a:srgbClr val="FC7634"/>
                </a:solidFill>
              </a:rPr>
              <a:t>The operator clears the market, given fixed bids</a:t>
            </a:r>
            <a:endParaRPr sz="1250" b="1" dirty="0">
              <a:solidFill>
                <a:srgbClr val="FC7634"/>
              </a:solidFill>
            </a:endParaRPr>
          </a:p>
        </p:txBody>
      </p:sp>
      <p:sp>
        <p:nvSpPr>
          <p:cNvPr id="21" name="TextBox 20"/>
          <p:cNvSpPr txBox="1"/>
          <p:nvPr/>
        </p:nvSpPr>
        <p:spPr>
          <a:xfrm>
            <a:off x="7141463" y="3692351"/>
            <a:ext cx="2359152" cy="384721"/>
          </a:xfrm>
          <a:prstGeom prst="rect">
            <a:avLst/>
          </a:prstGeom>
          <a:noFill/>
        </p:spPr>
        <p:txBody>
          <a:bodyPr wrap="square" lIns="0" tIns="0" rIns="0">
            <a:spAutoFit/>
          </a:bodyPr>
          <a:lstStyle/>
          <a:p>
            <a:r>
              <a:rPr lang="en-US" sz="1100" dirty="0">
                <a:solidFill>
                  <a:srgbClr val="404040"/>
                </a:solidFill>
              </a:rPr>
              <a:t>The market clearing in itself is an optimization problem!</a:t>
            </a:r>
          </a:p>
        </p:txBody>
      </p:sp>
      <p:sp>
        <p:nvSpPr>
          <p:cNvPr id="23" name="Date Placeholder 3">
            <a:extLst>
              <a:ext uri="{FF2B5EF4-FFF2-40B4-BE49-F238E27FC236}">
                <a16:creationId xmlns:a16="http://schemas.microsoft.com/office/drawing/2014/main" id="{700D2652-C195-10BA-1A3E-34B8A6AD4E2A}"/>
              </a:ext>
            </a:extLst>
          </p:cNvPr>
          <p:cNvSpPr>
            <a:spLocks noGrp="1"/>
          </p:cNvSpPr>
          <p:nvPr>
            <p:ph type="dt" sz="half" idx="10"/>
          </p:nvPr>
        </p:nvSpPr>
        <p:spPr/>
        <p:txBody>
          <a:bodyPr/>
          <a:lstStyle/>
          <a:p>
            <a:fld id="{9F067263-22A9-42DB-B1F4-986C0C96B403}" type="datetime1">
              <a:rPr lang="da-DK" smtClean="0"/>
              <a:t>03-09-2026</a:t>
            </a:fld>
            <a:endParaRPr lang="en-GB"/>
          </a:p>
        </p:txBody>
      </p:sp>
      <p:sp>
        <p:nvSpPr>
          <p:cNvPr id="24" name="Footer Placeholder 4">
            <a:extLst>
              <a:ext uri="{FF2B5EF4-FFF2-40B4-BE49-F238E27FC236}">
                <a16:creationId xmlns:a16="http://schemas.microsoft.com/office/drawing/2014/main" id="{4FC23D93-73CA-5FD8-5D16-67B4FBC6311A}"/>
              </a:ext>
            </a:extLst>
          </p:cNvPr>
          <p:cNvSpPr>
            <a:spLocks noGrp="1"/>
          </p:cNvSpPr>
          <p:nvPr>
            <p:ph type="ftr" sz="quarter" idx="11"/>
          </p:nvPr>
        </p:nvSpPr>
        <p:spPr/>
        <p:txBody>
          <a:bodyPr/>
          <a:lstStyle/>
          <a:p>
            <a:r>
              <a:rPr lang="en-US"/>
              <a:t>Game Theory in Electricity Markets - Week 1</a:t>
            </a:r>
            <a:endParaRPr lang="da-DK" dirty="0"/>
          </a:p>
        </p:txBody>
      </p:sp>
      <p:sp>
        <p:nvSpPr>
          <p:cNvPr id="25" name="Slide Number Placeholder 5">
            <a:extLst>
              <a:ext uri="{FF2B5EF4-FFF2-40B4-BE49-F238E27FC236}">
                <a16:creationId xmlns:a16="http://schemas.microsoft.com/office/drawing/2014/main" id="{971190B5-9616-8524-EAB4-112793AC1862}"/>
              </a:ext>
            </a:extLst>
          </p:cNvPr>
          <p:cNvSpPr>
            <a:spLocks noGrp="1"/>
          </p:cNvSpPr>
          <p:nvPr>
            <p:ph type="sldNum" sz="quarter" idx="12"/>
          </p:nvPr>
        </p:nvSpPr>
        <p:spPr/>
        <p:txBody>
          <a:bodyPr/>
          <a:lstStyle/>
          <a:p>
            <a:fld id="{103EA872-A674-449B-A120-B97244F8E91D}" type="slidenum">
              <a:rPr lang="da-DK" smtClean="0"/>
              <a:pPr/>
              <a:t>24</a:t>
            </a:fld>
            <a:endParaRPr lang="da-DK" dirty="0"/>
          </a:p>
        </p:txBody>
      </p:sp>
      <p:sp>
        <p:nvSpPr>
          <p:cNvPr id="26" name="TextBox 25">
            <a:extLst>
              <a:ext uri="{FF2B5EF4-FFF2-40B4-BE49-F238E27FC236}">
                <a16:creationId xmlns:a16="http://schemas.microsoft.com/office/drawing/2014/main" id="{B2DE3E1F-1CC1-3DA2-9EC6-8C2139627589}"/>
              </a:ext>
            </a:extLst>
          </p:cNvPr>
          <p:cNvSpPr txBox="1"/>
          <p:nvPr/>
        </p:nvSpPr>
        <p:spPr>
          <a:xfrm>
            <a:off x="6684336" y="2023620"/>
            <a:ext cx="3310128" cy="184666"/>
          </a:xfrm>
          <a:prstGeom prst="rect">
            <a:avLst/>
          </a:prstGeom>
          <a:noFill/>
        </p:spPr>
        <p:txBody>
          <a:bodyPr wrap="square" lIns="0" tIns="0" rIns="0" bIns="0">
            <a:spAutoFit/>
          </a:bodyPr>
          <a:lstStyle/>
          <a:p>
            <a:r>
              <a:rPr lang="en-US" sz="1200" b="1" dirty="0">
                <a:solidFill>
                  <a:srgbClr val="990000"/>
                </a:solidFill>
              </a:rPr>
              <a:t>Price of Anarchy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P spid="18" grpId="0"/>
      <p:bldP spid="19" grpId="0" animBg="1"/>
      <p:bldP spid="20" grpId="0"/>
      <p:bldP spid="21" grpId="0"/>
      <p:bldP spid="2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33E0A8F-0BF9-C38C-28FD-798DADC0B848}"/>
              </a:ext>
            </a:extLst>
          </p:cNvPr>
          <p:cNvSpPr>
            <a:spLocks noGrp="1"/>
          </p:cNvSpPr>
          <p:nvPr>
            <p:ph type="dt" sz="half" idx="10"/>
          </p:nvPr>
        </p:nvSpPr>
        <p:spPr/>
        <p:txBody>
          <a:bodyPr/>
          <a:lstStyle/>
          <a:p>
            <a:fld id="{98608D87-A373-4DD2-9B06-6754B459C040}" type="datetime1">
              <a:rPr lang="da-DK" smtClean="0"/>
              <a:t>03-09-2026</a:t>
            </a:fld>
            <a:endParaRPr lang="en-GB"/>
          </a:p>
        </p:txBody>
      </p:sp>
      <p:sp>
        <p:nvSpPr>
          <p:cNvPr id="5" name="Footer Placeholder 4">
            <a:extLst>
              <a:ext uri="{FF2B5EF4-FFF2-40B4-BE49-F238E27FC236}">
                <a16:creationId xmlns:a16="http://schemas.microsoft.com/office/drawing/2014/main" id="{4DE1C51A-6E34-506A-1E31-9D7A7442D126}"/>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8541712A-C369-FDF6-9E5A-29D1264B79E3}"/>
              </a:ext>
            </a:extLst>
          </p:cNvPr>
          <p:cNvSpPr>
            <a:spLocks noGrp="1"/>
          </p:cNvSpPr>
          <p:nvPr>
            <p:ph type="sldNum" sz="quarter" idx="12"/>
          </p:nvPr>
        </p:nvSpPr>
        <p:spPr/>
        <p:txBody>
          <a:bodyPr/>
          <a:lstStyle/>
          <a:p>
            <a:fld id="{103EA872-A674-449B-A120-B97244F8E91D}" type="slidenum">
              <a:rPr lang="da-DK" smtClean="0"/>
              <a:pPr/>
              <a:t>25</a:t>
            </a:fld>
            <a:endParaRPr lang="da-DK" dirty="0"/>
          </a:p>
        </p:txBody>
      </p:sp>
      <p:grpSp>
        <p:nvGrpSpPr>
          <p:cNvPr id="7" name="Group 6">
            <a:extLst>
              <a:ext uri="{FF2B5EF4-FFF2-40B4-BE49-F238E27FC236}">
                <a16:creationId xmlns:a16="http://schemas.microsoft.com/office/drawing/2014/main" id="{08932434-9C9F-DDEB-63FA-E75C0B87D698}"/>
              </a:ext>
            </a:extLst>
          </p:cNvPr>
          <p:cNvGrpSpPr/>
          <p:nvPr/>
        </p:nvGrpSpPr>
        <p:grpSpPr>
          <a:xfrm>
            <a:off x="7031310" y="1052736"/>
            <a:ext cx="4114800" cy="4846320"/>
            <a:chOff x="6263640" y="1188720"/>
            <a:chExt cx="4114800" cy="4846320"/>
          </a:xfrm>
        </p:grpSpPr>
        <p:sp>
          <p:nvSpPr>
            <p:cNvPr id="8" name="TextBox 7">
              <a:extLst>
                <a:ext uri="{FF2B5EF4-FFF2-40B4-BE49-F238E27FC236}">
                  <a16:creationId xmlns:a16="http://schemas.microsoft.com/office/drawing/2014/main" id="{A93EDE10-7F78-241F-DC43-C2475879D5E2}"/>
                </a:ext>
              </a:extLst>
            </p:cNvPr>
            <p:cNvSpPr txBox="1"/>
            <p:nvPr/>
          </p:nvSpPr>
          <p:spPr>
            <a:xfrm>
              <a:off x="6263640" y="1188720"/>
              <a:ext cx="4114800" cy="411480"/>
            </a:xfrm>
            <a:prstGeom prst="rect">
              <a:avLst/>
            </a:prstGeom>
            <a:noFill/>
          </p:spPr>
          <p:txBody>
            <a:bodyPr wrap="square">
              <a:spAutoFit/>
            </a:bodyPr>
            <a:lstStyle/>
            <a:p>
              <a:pPr algn="ctr"/>
              <a:r>
                <a:rPr sz="2100" b="1" dirty="0">
                  <a:solidFill>
                    <a:srgbClr val="171748"/>
                  </a:solidFill>
                </a:rPr>
                <a:t>Mechanism Design</a:t>
              </a:r>
            </a:p>
          </p:txBody>
        </p:sp>
        <p:sp>
          <p:nvSpPr>
            <p:cNvPr id="9" name="Rounded Rectangle 12">
              <a:extLst>
                <a:ext uri="{FF2B5EF4-FFF2-40B4-BE49-F238E27FC236}">
                  <a16:creationId xmlns:a16="http://schemas.microsoft.com/office/drawing/2014/main" id="{25CC9ED8-1685-1865-591C-2887D230AC64}"/>
                </a:ext>
              </a:extLst>
            </p:cNvPr>
            <p:cNvSpPr/>
            <p:nvPr/>
          </p:nvSpPr>
          <p:spPr>
            <a:xfrm>
              <a:off x="6263640" y="1600200"/>
              <a:ext cx="4114800" cy="4434840"/>
            </a:xfrm>
            <a:prstGeom prst="roundRect">
              <a:avLst>
                <a:gd name="adj" fmla="val 6000"/>
              </a:avLst>
            </a:prstGeom>
            <a:solidFill>
              <a:srgbClr val="FFFFFF"/>
            </a:solidFill>
            <a:ln w="25400">
              <a:solidFill>
                <a:srgbClr val="1717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7366641F-40EE-AB18-1B2D-A9482ECF08BA}"/>
                </a:ext>
              </a:extLst>
            </p:cNvPr>
            <p:cNvSpPr txBox="1"/>
            <p:nvPr/>
          </p:nvSpPr>
          <p:spPr>
            <a:xfrm>
              <a:off x="6391655" y="1645920"/>
              <a:ext cx="3858768" cy="184666"/>
            </a:xfrm>
            <a:prstGeom prst="rect">
              <a:avLst/>
            </a:prstGeom>
            <a:noFill/>
          </p:spPr>
          <p:txBody>
            <a:bodyPr wrap="square" lIns="0" tIns="0" rIns="0" bIns="0">
              <a:spAutoFit/>
            </a:bodyPr>
            <a:lstStyle/>
            <a:p>
              <a:pPr algn="l"/>
              <a:r>
                <a:rPr sz="1200" b="1" dirty="0">
                  <a:solidFill>
                    <a:srgbClr val="171748"/>
                  </a:solidFill>
                </a:rPr>
                <a:t>Level 4 — </a:t>
              </a:r>
              <a:r>
                <a:rPr lang="en-US" sz="1200" b="1" dirty="0">
                  <a:solidFill>
                    <a:srgbClr val="171748"/>
                  </a:solidFill>
                </a:rPr>
                <a:t>Minimize over the space of rules</a:t>
              </a:r>
              <a:endParaRPr sz="1200" b="1" dirty="0">
                <a:solidFill>
                  <a:srgbClr val="171748"/>
                </a:solidFill>
              </a:endParaRPr>
            </a:p>
          </p:txBody>
        </p:sp>
        <p:sp>
          <p:nvSpPr>
            <p:cNvPr id="11" name="Rounded Rectangle 14">
              <a:extLst>
                <a:ext uri="{FF2B5EF4-FFF2-40B4-BE49-F238E27FC236}">
                  <a16:creationId xmlns:a16="http://schemas.microsoft.com/office/drawing/2014/main" id="{1FD63945-CDBB-4156-D47A-9A91806C181C}"/>
                </a:ext>
              </a:extLst>
            </p:cNvPr>
            <p:cNvSpPr/>
            <p:nvPr/>
          </p:nvSpPr>
          <p:spPr>
            <a:xfrm>
              <a:off x="6537959" y="1984248"/>
              <a:ext cx="3566160" cy="3831335"/>
            </a:xfrm>
            <a:prstGeom prst="roundRect">
              <a:avLst>
                <a:gd name="adj" fmla="val 6000"/>
              </a:avLst>
            </a:prstGeom>
            <a:solidFill>
              <a:srgbClr val="FFFFFF"/>
            </a:solidFill>
            <a:ln w="25400">
              <a:solidFill>
                <a:srgbClr val="99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DBF08878-E523-5F37-6F33-D867FC45D66C}"/>
                </a:ext>
              </a:extLst>
            </p:cNvPr>
            <p:cNvSpPr txBox="1"/>
            <p:nvPr/>
          </p:nvSpPr>
          <p:spPr>
            <a:xfrm>
              <a:off x="6665975" y="2029967"/>
              <a:ext cx="3310128" cy="369332"/>
            </a:xfrm>
            <a:prstGeom prst="rect">
              <a:avLst/>
            </a:prstGeom>
            <a:noFill/>
          </p:spPr>
          <p:txBody>
            <a:bodyPr wrap="square" lIns="0" tIns="0" rIns="0" bIns="0">
              <a:spAutoFit/>
            </a:bodyPr>
            <a:lstStyle/>
            <a:p>
              <a:r>
                <a:rPr sz="1200" b="1" dirty="0">
                  <a:solidFill>
                    <a:srgbClr val="990000"/>
                  </a:solidFill>
                </a:rPr>
                <a:t>Level 3 — </a:t>
              </a:r>
              <a:r>
                <a:rPr lang="en-US" sz="1200" b="1" dirty="0">
                  <a:solidFill>
                    <a:srgbClr val="990000"/>
                  </a:solidFill>
                </a:rPr>
                <a:t>Maximize over all such settings</a:t>
              </a:r>
              <a:endParaRPr sz="1200" b="1" dirty="0">
                <a:solidFill>
                  <a:srgbClr val="990000"/>
                </a:solidFill>
              </a:endParaRPr>
            </a:p>
          </p:txBody>
        </p:sp>
        <p:sp>
          <p:nvSpPr>
            <p:cNvPr id="13" name="Rounded Rectangle 16">
              <a:extLst>
                <a:ext uri="{FF2B5EF4-FFF2-40B4-BE49-F238E27FC236}">
                  <a16:creationId xmlns:a16="http://schemas.microsoft.com/office/drawing/2014/main" id="{20D5A3D9-601A-26AA-00B0-85C3BE3E464C}"/>
                </a:ext>
              </a:extLst>
            </p:cNvPr>
            <p:cNvSpPr/>
            <p:nvPr/>
          </p:nvSpPr>
          <p:spPr>
            <a:xfrm>
              <a:off x="6775703" y="2487168"/>
              <a:ext cx="3090672" cy="3127247"/>
            </a:xfrm>
            <a:prstGeom prst="roundRect">
              <a:avLst>
                <a:gd name="adj" fmla="val 6000"/>
              </a:avLst>
            </a:prstGeom>
            <a:solidFill>
              <a:srgbClr val="FFFFFF"/>
            </a:solidFill>
            <a:ln w="25400">
              <a:solidFill>
                <a:srgbClr val="2F3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D9146E2A-B52A-028D-F915-6C67F0B6A72C}"/>
                </a:ext>
              </a:extLst>
            </p:cNvPr>
            <p:cNvSpPr txBox="1"/>
            <p:nvPr/>
          </p:nvSpPr>
          <p:spPr>
            <a:xfrm>
              <a:off x="6903719" y="2532887"/>
              <a:ext cx="2834639" cy="369332"/>
            </a:xfrm>
            <a:prstGeom prst="rect">
              <a:avLst/>
            </a:prstGeom>
            <a:noFill/>
          </p:spPr>
          <p:txBody>
            <a:bodyPr wrap="square" lIns="0" tIns="0" rIns="0" bIns="0">
              <a:spAutoFit/>
            </a:bodyPr>
            <a:lstStyle/>
            <a:p>
              <a:r>
                <a:rPr sz="1200" b="1" dirty="0">
                  <a:solidFill>
                    <a:srgbClr val="2F3EEA"/>
                  </a:solidFill>
                </a:rPr>
                <a:t>Level 2 — </a:t>
              </a:r>
              <a:r>
                <a:rPr lang="en-US" sz="1200" b="1" dirty="0">
                  <a:solidFill>
                    <a:srgbClr val="2F3EEA"/>
                  </a:solidFill>
                </a:rPr>
                <a:t>Players maximize revenue</a:t>
              </a:r>
              <a:endParaRPr sz="1200" b="1" dirty="0">
                <a:solidFill>
                  <a:srgbClr val="2F3EEA"/>
                </a:solidFill>
              </a:endParaRPr>
            </a:p>
          </p:txBody>
        </p:sp>
        <p:sp>
          <p:nvSpPr>
            <p:cNvPr id="15" name="Rounded Rectangle 18">
              <a:extLst>
                <a:ext uri="{FF2B5EF4-FFF2-40B4-BE49-F238E27FC236}">
                  <a16:creationId xmlns:a16="http://schemas.microsoft.com/office/drawing/2014/main" id="{2B30706C-4807-A568-6A29-D98938149C65}"/>
                </a:ext>
              </a:extLst>
            </p:cNvPr>
            <p:cNvSpPr/>
            <p:nvPr/>
          </p:nvSpPr>
          <p:spPr>
            <a:xfrm>
              <a:off x="7013447" y="2990087"/>
              <a:ext cx="2615184" cy="2423159"/>
            </a:xfrm>
            <a:prstGeom prst="roundRect">
              <a:avLst>
                <a:gd name="adj" fmla="val 6000"/>
              </a:avLst>
            </a:prstGeom>
            <a:solidFill>
              <a:srgbClr val="FFFFFF"/>
            </a:solidFill>
            <a:ln w="25400">
              <a:solidFill>
                <a:srgbClr val="FC7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80299E59-1137-4940-2E24-1C61A478C112}"/>
                </a:ext>
              </a:extLst>
            </p:cNvPr>
            <p:cNvSpPr txBox="1"/>
            <p:nvPr/>
          </p:nvSpPr>
          <p:spPr>
            <a:xfrm>
              <a:off x="7141463" y="3035807"/>
              <a:ext cx="2359152" cy="577081"/>
            </a:xfrm>
            <a:prstGeom prst="rect">
              <a:avLst/>
            </a:prstGeom>
            <a:noFill/>
          </p:spPr>
          <p:txBody>
            <a:bodyPr wrap="square" lIns="0" tIns="0" rIns="0" bIns="0">
              <a:spAutoFit/>
            </a:bodyPr>
            <a:lstStyle/>
            <a:p>
              <a:r>
                <a:rPr sz="1250" b="1" dirty="0">
                  <a:solidFill>
                    <a:srgbClr val="FC7634"/>
                  </a:solidFill>
                </a:rPr>
                <a:t>Level 1 — </a:t>
              </a:r>
              <a:r>
                <a:rPr lang="en-US" sz="1250" b="1" dirty="0">
                  <a:solidFill>
                    <a:srgbClr val="FC7634"/>
                  </a:solidFill>
                </a:rPr>
                <a:t>The operator clears the market, given fixed bids</a:t>
              </a:r>
              <a:endParaRPr sz="1250" b="1" dirty="0">
                <a:solidFill>
                  <a:srgbClr val="FC7634"/>
                </a:solidFill>
              </a:endParaRPr>
            </a:p>
          </p:txBody>
        </p:sp>
        <p:sp>
          <p:nvSpPr>
            <p:cNvPr id="17" name="TextBox 16">
              <a:extLst>
                <a:ext uri="{FF2B5EF4-FFF2-40B4-BE49-F238E27FC236}">
                  <a16:creationId xmlns:a16="http://schemas.microsoft.com/office/drawing/2014/main" id="{81637D5F-C587-B4B2-BBFE-BADF731F3433}"/>
                </a:ext>
              </a:extLst>
            </p:cNvPr>
            <p:cNvSpPr txBox="1"/>
            <p:nvPr/>
          </p:nvSpPr>
          <p:spPr>
            <a:xfrm>
              <a:off x="7141463" y="3684319"/>
              <a:ext cx="2359152" cy="384721"/>
            </a:xfrm>
            <a:prstGeom prst="rect">
              <a:avLst/>
            </a:prstGeom>
            <a:noFill/>
          </p:spPr>
          <p:txBody>
            <a:bodyPr wrap="square" lIns="0" tIns="0" rIns="0">
              <a:spAutoFit/>
            </a:bodyPr>
            <a:lstStyle/>
            <a:p>
              <a:r>
                <a:rPr lang="en-US" sz="1100" dirty="0">
                  <a:solidFill>
                    <a:srgbClr val="404040"/>
                  </a:solidFill>
                </a:rPr>
                <a:t>The market clearing in itself is an optimization problem!</a:t>
              </a:r>
            </a:p>
          </p:txBody>
        </p:sp>
      </p:grpSp>
      <p:cxnSp>
        <p:nvCxnSpPr>
          <p:cNvPr id="18" name="Straight Connector 17">
            <a:extLst>
              <a:ext uri="{FF2B5EF4-FFF2-40B4-BE49-F238E27FC236}">
                <a16:creationId xmlns:a16="http://schemas.microsoft.com/office/drawing/2014/main" id="{49FBD376-F168-48A0-4387-57B921928CF2}"/>
              </a:ext>
            </a:extLst>
          </p:cNvPr>
          <p:cNvCxnSpPr>
            <a:cxnSpLocks/>
          </p:cNvCxnSpPr>
          <p:nvPr/>
        </p:nvCxnSpPr>
        <p:spPr bwMode="auto">
          <a:xfrm>
            <a:off x="6113918" y="764704"/>
            <a:ext cx="18790" cy="4250722"/>
          </a:xfrm>
          <a:prstGeom prst="line">
            <a:avLst/>
          </a:pr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Box 18">
            <a:extLst>
              <a:ext uri="{FF2B5EF4-FFF2-40B4-BE49-F238E27FC236}">
                <a16:creationId xmlns:a16="http://schemas.microsoft.com/office/drawing/2014/main" id="{EB29DC9C-CB1A-8D84-1390-CDBA728D6D29}"/>
              </a:ext>
            </a:extLst>
          </p:cNvPr>
          <p:cNvSpPr txBox="1"/>
          <p:nvPr/>
        </p:nvSpPr>
        <p:spPr>
          <a:xfrm>
            <a:off x="1046337" y="1258476"/>
            <a:ext cx="4392488" cy="984885"/>
          </a:xfrm>
          <a:prstGeom prst="rect">
            <a:avLst/>
          </a:prstGeom>
          <a:noFill/>
        </p:spPr>
        <p:txBody>
          <a:bodyPr wrap="square" lIns="0" tIns="0" rIns="0" bIns="0" rtlCol="0">
            <a:spAutoFit/>
          </a:bodyPr>
          <a:lstStyle/>
          <a:p>
            <a:pPr algn="l">
              <a:spcBef>
                <a:spcPts val="432"/>
              </a:spcBef>
            </a:pPr>
            <a:r>
              <a:rPr lang="en-US" dirty="0">
                <a:latin typeface="+mn-lt"/>
              </a:rPr>
              <a:t>Generally, already level 1 + 2 is computationally hard and needs additional assumptions, for example on how much players know about each other.</a:t>
            </a:r>
          </a:p>
        </p:txBody>
      </p:sp>
      <p:sp>
        <p:nvSpPr>
          <p:cNvPr id="20" name="TextBox 19">
            <a:extLst>
              <a:ext uri="{FF2B5EF4-FFF2-40B4-BE49-F238E27FC236}">
                <a16:creationId xmlns:a16="http://schemas.microsoft.com/office/drawing/2014/main" id="{F923B2AD-EB89-2F35-07B2-9DF9ABA2E4BA}"/>
              </a:ext>
            </a:extLst>
          </p:cNvPr>
          <p:cNvSpPr txBox="1"/>
          <p:nvPr/>
        </p:nvSpPr>
        <p:spPr>
          <a:xfrm>
            <a:off x="1018649" y="2581569"/>
            <a:ext cx="4392488" cy="984885"/>
          </a:xfrm>
          <a:prstGeom prst="rect">
            <a:avLst/>
          </a:prstGeom>
          <a:noFill/>
        </p:spPr>
        <p:txBody>
          <a:bodyPr wrap="square" lIns="0" tIns="0" rIns="0" bIns="0" rtlCol="0">
            <a:spAutoFit/>
          </a:bodyPr>
          <a:lstStyle/>
          <a:p>
            <a:pPr algn="l">
              <a:spcBef>
                <a:spcPts val="432"/>
              </a:spcBef>
            </a:pPr>
            <a:r>
              <a:rPr lang="en-US" dirty="0">
                <a:latin typeface="+mn-lt"/>
              </a:rPr>
              <a:t>Nevertheless, our goal and your final project will be to use mechanism design to make qualitative statements on how to lower the inefficiency in electricity markets.</a:t>
            </a:r>
          </a:p>
        </p:txBody>
      </p:sp>
      <p:sp>
        <p:nvSpPr>
          <p:cNvPr id="22" name="TextBox 21">
            <a:extLst>
              <a:ext uri="{FF2B5EF4-FFF2-40B4-BE49-F238E27FC236}">
                <a16:creationId xmlns:a16="http://schemas.microsoft.com/office/drawing/2014/main" id="{4087E1AF-7561-31D9-AC78-001277D410D2}"/>
              </a:ext>
            </a:extLst>
          </p:cNvPr>
          <p:cNvSpPr txBox="1"/>
          <p:nvPr/>
        </p:nvSpPr>
        <p:spPr>
          <a:xfrm>
            <a:off x="1004804" y="3904662"/>
            <a:ext cx="4420177" cy="738664"/>
          </a:xfrm>
          <a:prstGeom prst="rect">
            <a:avLst/>
          </a:prstGeom>
          <a:noFill/>
        </p:spPr>
        <p:txBody>
          <a:bodyPr wrap="square" lIns="0" tIns="0" rIns="0" bIns="0" rtlCol="0">
            <a:spAutoFit/>
          </a:bodyPr>
          <a:lstStyle/>
          <a:p>
            <a:pPr algn="l">
              <a:spcBef>
                <a:spcPts val="432"/>
              </a:spcBef>
            </a:pPr>
            <a:r>
              <a:rPr lang="en-US" dirty="0">
                <a:latin typeface="+mn-lt"/>
              </a:rPr>
              <a:t>This is an ongoing research topic. If you get interesting results, we may take them further in a master thesis and/or publish them together.</a:t>
            </a:r>
          </a:p>
        </p:txBody>
      </p:sp>
    </p:spTree>
    <p:extLst>
      <p:ext uri="{BB962C8B-B14F-4D97-AF65-F5344CB8AC3E}">
        <p14:creationId xmlns:p14="http://schemas.microsoft.com/office/powerpoint/2010/main" val="2563286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4686" y="260648"/>
            <a:ext cx="9312374" cy="540000"/>
          </a:xfrm>
        </p:spPr>
        <p:txBody>
          <a:bodyPr/>
          <a:lstStyle/>
          <a:p>
            <a:r>
              <a:rPr lang="en-US" dirty="0"/>
              <a:t>Plan for the next weeks</a:t>
            </a:r>
            <a:endParaRPr dirty="0"/>
          </a:p>
        </p:txBody>
      </p:sp>
      <p:sp>
        <p:nvSpPr>
          <p:cNvPr id="4" name="Chevron 3"/>
          <p:cNvSpPr/>
          <p:nvPr/>
        </p:nvSpPr>
        <p:spPr>
          <a:xfrm>
            <a:off x="1463040" y="2606040"/>
            <a:ext cx="1371600" cy="1417320"/>
          </a:xfrm>
          <a:prstGeom prst="chevron">
            <a:avLst>
              <a:gd name="adj" fmla="val 15000"/>
            </a:avLst>
          </a:prstGeom>
          <a:solidFill>
            <a:srgbClr val="595959"/>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50000" rIns="190000" rtlCol="0" anchor="ctr"/>
          <a:lstStyle/>
          <a:p>
            <a:pPr algn="ctr"/>
            <a:r>
              <a:rPr sz="1100" b="0">
                <a:solidFill>
                  <a:srgbClr val="FFFFFF"/>
                </a:solidFill>
              </a:rPr>
              <a:t>Today</a:t>
            </a:r>
          </a:p>
          <a:p>
            <a:pPr algn="ctr"/>
            <a:r>
              <a:rPr sz="1250" b="1">
                <a:solidFill>
                  <a:srgbClr val="FFFFFF"/>
                </a:solidFill>
              </a:rPr>
              <a:t>Warm-up</a:t>
            </a:r>
          </a:p>
        </p:txBody>
      </p:sp>
      <p:sp>
        <p:nvSpPr>
          <p:cNvPr id="5" name="Chevron 4"/>
          <p:cNvSpPr/>
          <p:nvPr/>
        </p:nvSpPr>
        <p:spPr>
          <a:xfrm>
            <a:off x="2697480" y="2606040"/>
            <a:ext cx="2103120" cy="1417320"/>
          </a:xfrm>
          <a:prstGeom prst="chevron">
            <a:avLst>
              <a:gd name="adj" fmla="val 15000"/>
            </a:avLst>
          </a:prstGeom>
          <a:solidFill>
            <a:srgbClr val="2F3EEA"/>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50000" rIns="190000" rtlCol="0" anchor="ctr"/>
          <a:lstStyle/>
          <a:p>
            <a:pPr algn="ctr"/>
            <a:r>
              <a:rPr sz="1100" b="0" dirty="0">
                <a:solidFill>
                  <a:srgbClr val="FFFFFF"/>
                </a:solidFill>
              </a:rPr>
              <a:t>Weeks </a:t>
            </a:r>
            <a:r>
              <a:rPr lang="en-US" sz="1100" b="0" dirty="0">
                <a:solidFill>
                  <a:srgbClr val="FFFFFF"/>
                </a:solidFill>
              </a:rPr>
              <a:t>2</a:t>
            </a:r>
            <a:r>
              <a:rPr sz="1100" b="0" dirty="0">
                <a:solidFill>
                  <a:srgbClr val="FFFFFF"/>
                </a:solidFill>
              </a:rPr>
              <a:t>–</a:t>
            </a:r>
            <a:r>
              <a:rPr lang="en-US" sz="1100" b="0" dirty="0">
                <a:solidFill>
                  <a:srgbClr val="FFFFFF"/>
                </a:solidFill>
              </a:rPr>
              <a:t>4</a:t>
            </a:r>
            <a:endParaRPr sz="1100" b="0" dirty="0">
              <a:solidFill>
                <a:srgbClr val="FFFFFF"/>
              </a:solidFill>
            </a:endParaRPr>
          </a:p>
          <a:p>
            <a:pPr algn="ctr"/>
            <a:r>
              <a:rPr lang="en-US" sz="1250" b="1" dirty="0">
                <a:solidFill>
                  <a:srgbClr val="FFFFFF"/>
                </a:solidFill>
              </a:rPr>
              <a:t>General Game</a:t>
            </a:r>
          </a:p>
          <a:p>
            <a:pPr algn="ctr"/>
            <a:r>
              <a:rPr lang="en-US" sz="1250" b="1" dirty="0">
                <a:solidFill>
                  <a:srgbClr val="FFFFFF"/>
                </a:solidFill>
              </a:rPr>
              <a:t>Theory </a:t>
            </a:r>
            <a:endParaRPr sz="1250" b="1" dirty="0">
              <a:solidFill>
                <a:srgbClr val="FFFFFF"/>
              </a:solidFill>
            </a:endParaRPr>
          </a:p>
        </p:txBody>
      </p:sp>
      <p:sp>
        <p:nvSpPr>
          <p:cNvPr id="6" name="Chevron 5"/>
          <p:cNvSpPr/>
          <p:nvPr/>
        </p:nvSpPr>
        <p:spPr>
          <a:xfrm>
            <a:off x="4663440" y="2606040"/>
            <a:ext cx="1600200" cy="1417320"/>
          </a:xfrm>
          <a:prstGeom prst="chevron">
            <a:avLst>
              <a:gd name="adj" fmla="val 15000"/>
            </a:avLst>
          </a:prstGeom>
          <a:solidFill>
            <a:srgbClr val="990000"/>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50000" rIns="190000" rtlCol="0" anchor="ctr"/>
          <a:lstStyle/>
          <a:p>
            <a:pPr algn="ctr"/>
            <a:r>
              <a:rPr sz="1100" b="0" dirty="0">
                <a:solidFill>
                  <a:srgbClr val="FFFFFF"/>
                </a:solidFill>
              </a:rPr>
              <a:t>Week </a:t>
            </a:r>
            <a:r>
              <a:rPr lang="en-US" sz="1100" b="0" dirty="0">
                <a:solidFill>
                  <a:srgbClr val="FFFFFF"/>
                </a:solidFill>
              </a:rPr>
              <a:t>5</a:t>
            </a:r>
            <a:endParaRPr sz="1100" b="0" dirty="0">
              <a:solidFill>
                <a:srgbClr val="FFFFFF"/>
              </a:solidFill>
            </a:endParaRPr>
          </a:p>
          <a:p>
            <a:pPr algn="ctr"/>
            <a:r>
              <a:rPr sz="1250" b="1" dirty="0">
                <a:solidFill>
                  <a:srgbClr val="FFFFFF"/>
                </a:solidFill>
              </a:rPr>
              <a:t>Price of Anarchy</a:t>
            </a:r>
          </a:p>
        </p:txBody>
      </p:sp>
      <p:sp>
        <p:nvSpPr>
          <p:cNvPr id="7" name="Chevron 6"/>
          <p:cNvSpPr/>
          <p:nvPr/>
        </p:nvSpPr>
        <p:spPr>
          <a:xfrm>
            <a:off x="6126479" y="2606040"/>
            <a:ext cx="1600200" cy="1417320"/>
          </a:xfrm>
          <a:prstGeom prst="chevron">
            <a:avLst>
              <a:gd name="adj" fmla="val 15000"/>
            </a:avLst>
          </a:prstGeom>
          <a:solidFill>
            <a:srgbClr val="171748"/>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50000" rIns="190000" rtlCol="0" anchor="ctr"/>
          <a:lstStyle/>
          <a:p>
            <a:pPr algn="ctr"/>
            <a:r>
              <a:rPr sz="1100" b="0" dirty="0">
                <a:solidFill>
                  <a:srgbClr val="FFFFFF"/>
                </a:solidFill>
              </a:rPr>
              <a:t>Week </a:t>
            </a:r>
            <a:r>
              <a:rPr lang="en-US" sz="1100" b="0" dirty="0">
                <a:solidFill>
                  <a:srgbClr val="FFFFFF"/>
                </a:solidFill>
              </a:rPr>
              <a:t>6</a:t>
            </a:r>
            <a:endParaRPr sz="1100" b="0" dirty="0">
              <a:solidFill>
                <a:srgbClr val="FFFFFF"/>
              </a:solidFill>
            </a:endParaRPr>
          </a:p>
          <a:p>
            <a:pPr algn="ctr"/>
            <a:r>
              <a:rPr sz="1250" b="1" dirty="0">
                <a:solidFill>
                  <a:srgbClr val="FFFFFF"/>
                </a:solidFill>
              </a:rPr>
              <a:t>Mechanism design</a:t>
            </a:r>
          </a:p>
        </p:txBody>
      </p:sp>
      <p:sp>
        <p:nvSpPr>
          <p:cNvPr id="8" name="Chevron 7"/>
          <p:cNvSpPr/>
          <p:nvPr/>
        </p:nvSpPr>
        <p:spPr>
          <a:xfrm>
            <a:off x="7589519" y="2606040"/>
            <a:ext cx="1828800" cy="1417320"/>
          </a:xfrm>
          <a:prstGeom prst="chevron">
            <a:avLst>
              <a:gd name="adj" fmla="val 15000"/>
            </a:avLst>
          </a:prstGeom>
          <a:solidFill>
            <a:srgbClr val="F6D04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50000" rIns="190000" rtlCol="0" anchor="ctr"/>
          <a:lstStyle/>
          <a:p>
            <a:pPr algn="ctr"/>
            <a:r>
              <a:rPr sz="1100" b="0" dirty="0">
                <a:solidFill>
                  <a:srgbClr val="1A1A1A"/>
                </a:solidFill>
              </a:rPr>
              <a:t>Week </a:t>
            </a:r>
            <a:r>
              <a:rPr lang="en-US" sz="1100" b="0" dirty="0">
                <a:solidFill>
                  <a:srgbClr val="1A1A1A"/>
                </a:solidFill>
              </a:rPr>
              <a:t>7</a:t>
            </a:r>
            <a:endParaRPr sz="1100" b="0" dirty="0">
              <a:solidFill>
                <a:srgbClr val="1A1A1A"/>
              </a:solidFill>
            </a:endParaRPr>
          </a:p>
          <a:p>
            <a:pPr algn="ctr"/>
            <a:r>
              <a:rPr sz="1250" b="1" dirty="0">
                <a:solidFill>
                  <a:srgbClr val="1A1A1A"/>
                </a:solidFill>
              </a:rPr>
              <a:t>Modeling markets</a:t>
            </a:r>
          </a:p>
        </p:txBody>
      </p:sp>
      <p:sp>
        <p:nvSpPr>
          <p:cNvPr id="9" name="Chevron 8"/>
          <p:cNvSpPr/>
          <p:nvPr/>
        </p:nvSpPr>
        <p:spPr>
          <a:xfrm>
            <a:off x="9281159" y="2606040"/>
            <a:ext cx="1828800" cy="1417320"/>
          </a:xfrm>
          <a:prstGeom prst="chevron">
            <a:avLst>
              <a:gd name="adj" fmla="val 15000"/>
            </a:avLst>
          </a:prstGeom>
          <a:solidFill>
            <a:srgbClr val="1FD08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50000" rIns="190000" rtlCol="0" anchor="ctr"/>
          <a:lstStyle/>
          <a:p>
            <a:pPr algn="ctr"/>
            <a:r>
              <a:rPr sz="1100" b="0" dirty="0">
                <a:solidFill>
                  <a:srgbClr val="1A1A1A"/>
                </a:solidFill>
              </a:rPr>
              <a:t>From week </a:t>
            </a:r>
            <a:r>
              <a:rPr lang="en-US" sz="1100" b="0" dirty="0">
                <a:solidFill>
                  <a:srgbClr val="1A1A1A"/>
                </a:solidFill>
              </a:rPr>
              <a:t>8</a:t>
            </a:r>
            <a:endParaRPr sz="1100" b="0" dirty="0">
              <a:solidFill>
                <a:srgbClr val="1A1A1A"/>
              </a:solidFill>
            </a:endParaRPr>
          </a:p>
          <a:p>
            <a:pPr algn="ctr"/>
            <a:r>
              <a:rPr sz="1250" b="1" dirty="0">
                <a:solidFill>
                  <a:srgbClr val="1A1A1A"/>
                </a:solidFill>
              </a:rPr>
              <a:t>Project phase</a:t>
            </a:r>
          </a:p>
        </p:txBody>
      </p:sp>
      <p:sp>
        <p:nvSpPr>
          <p:cNvPr id="10" name="TextBox 9"/>
          <p:cNvSpPr txBox="1"/>
          <p:nvPr/>
        </p:nvSpPr>
        <p:spPr>
          <a:xfrm>
            <a:off x="1463040" y="4343400"/>
            <a:ext cx="8686800" cy="292388"/>
          </a:xfrm>
          <a:prstGeom prst="rect">
            <a:avLst/>
          </a:prstGeom>
          <a:noFill/>
        </p:spPr>
        <p:txBody>
          <a:bodyPr wrap="square">
            <a:spAutoFit/>
          </a:bodyPr>
          <a:lstStyle/>
          <a:p>
            <a:pPr algn="l"/>
            <a:r>
              <a:rPr sz="1300" i="1" dirty="0">
                <a:solidFill>
                  <a:srgbClr val="404040"/>
                </a:solidFill>
              </a:rPr>
              <a:t>The project phase continues for the rest of the semester.</a:t>
            </a:r>
            <a:endParaRPr lang="en-US" sz="1300" i="1" dirty="0">
              <a:solidFill>
                <a:srgbClr val="404040"/>
              </a:solidFill>
            </a:endParaRPr>
          </a:p>
        </p:txBody>
      </p:sp>
      <p:sp>
        <p:nvSpPr>
          <p:cNvPr id="11" name="Date Placeholder 3">
            <a:extLst>
              <a:ext uri="{FF2B5EF4-FFF2-40B4-BE49-F238E27FC236}">
                <a16:creationId xmlns:a16="http://schemas.microsoft.com/office/drawing/2014/main" id="{700D2652-C195-10BA-1A3E-34B8A6AD4E2A}"/>
              </a:ext>
            </a:extLst>
          </p:cNvPr>
          <p:cNvSpPr>
            <a:spLocks noGrp="1"/>
          </p:cNvSpPr>
          <p:nvPr>
            <p:ph type="dt" sz="half" idx="10"/>
          </p:nvPr>
        </p:nvSpPr>
        <p:spPr/>
        <p:txBody>
          <a:bodyPr/>
          <a:lstStyle/>
          <a:p>
            <a:fld id="{B156F8D1-70D1-406F-AB13-B727BF5D2C13}" type="datetime1">
              <a:rPr lang="da-DK" smtClean="0"/>
              <a:t>03-09-2026</a:t>
            </a:fld>
            <a:endParaRPr lang="en-GB"/>
          </a:p>
        </p:txBody>
      </p:sp>
      <p:sp>
        <p:nvSpPr>
          <p:cNvPr id="12" name="Footer Placeholder 4">
            <a:extLst>
              <a:ext uri="{FF2B5EF4-FFF2-40B4-BE49-F238E27FC236}">
                <a16:creationId xmlns:a16="http://schemas.microsoft.com/office/drawing/2014/main" id="{4FC23D93-73CA-5FD8-5D16-67B4FBC6311A}"/>
              </a:ext>
            </a:extLst>
          </p:cNvPr>
          <p:cNvSpPr>
            <a:spLocks noGrp="1"/>
          </p:cNvSpPr>
          <p:nvPr>
            <p:ph type="ftr" sz="quarter" idx="11"/>
          </p:nvPr>
        </p:nvSpPr>
        <p:spPr/>
        <p:txBody>
          <a:bodyPr/>
          <a:lstStyle/>
          <a:p>
            <a:r>
              <a:rPr lang="en-US"/>
              <a:t>Game Theory in Electricity Markets - Week 1</a:t>
            </a:r>
            <a:endParaRPr lang="da-DK" dirty="0"/>
          </a:p>
        </p:txBody>
      </p:sp>
      <p:sp>
        <p:nvSpPr>
          <p:cNvPr id="13" name="Slide Number Placeholder 5">
            <a:extLst>
              <a:ext uri="{FF2B5EF4-FFF2-40B4-BE49-F238E27FC236}">
                <a16:creationId xmlns:a16="http://schemas.microsoft.com/office/drawing/2014/main" id="{971190B5-9616-8524-EAB4-112793AC1862}"/>
              </a:ext>
            </a:extLst>
          </p:cNvPr>
          <p:cNvSpPr>
            <a:spLocks noGrp="1"/>
          </p:cNvSpPr>
          <p:nvPr>
            <p:ph type="sldNum" sz="quarter" idx="12"/>
          </p:nvPr>
        </p:nvSpPr>
        <p:spPr/>
        <p:txBody>
          <a:bodyPr/>
          <a:lstStyle/>
          <a:p>
            <a:fld id="{103EA872-A674-449B-A120-B97244F8E91D}" type="slidenum">
              <a:rPr lang="da-DK" smtClean="0"/>
              <a:pPr/>
              <a:t>26</a:t>
            </a:fld>
            <a:endParaRPr lang="da-DK"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21F6B-6A43-C461-D9CC-FB3F5E7593EF}"/>
              </a:ext>
            </a:extLst>
          </p:cNvPr>
          <p:cNvSpPr>
            <a:spLocks noGrp="1"/>
          </p:cNvSpPr>
          <p:nvPr>
            <p:ph type="title"/>
          </p:nvPr>
        </p:nvSpPr>
        <p:spPr/>
        <p:txBody>
          <a:bodyPr/>
          <a:lstStyle/>
          <a:p>
            <a:r>
              <a:rPr lang="en-US" dirty="0"/>
              <a:t>The project</a:t>
            </a:r>
          </a:p>
        </p:txBody>
      </p:sp>
      <p:sp>
        <p:nvSpPr>
          <p:cNvPr id="3" name="Content Placeholder 2">
            <a:extLst>
              <a:ext uri="{FF2B5EF4-FFF2-40B4-BE49-F238E27FC236}">
                <a16:creationId xmlns:a16="http://schemas.microsoft.com/office/drawing/2014/main" id="{28EAFE9F-0BBE-4D33-EF05-ABAB1DAAE29B}"/>
              </a:ext>
            </a:extLst>
          </p:cNvPr>
          <p:cNvSpPr>
            <a:spLocks noGrp="1"/>
          </p:cNvSpPr>
          <p:nvPr>
            <p:ph idx="1"/>
          </p:nvPr>
        </p:nvSpPr>
        <p:spPr/>
        <p:txBody>
          <a:bodyPr/>
          <a:lstStyle/>
          <a:p>
            <a:r>
              <a:rPr lang="en-US" dirty="0"/>
              <a:t>You work in groups of 3</a:t>
            </a:r>
          </a:p>
          <a:p>
            <a:r>
              <a:rPr lang="en-US" dirty="0"/>
              <a:t>Your grade only depends on the quality and correctness of this report</a:t>
            </a:r>
          </a:p>
          <a:p>
            <a:r>
              <a:rPr lang="en-US" dirty="0"/>
              <a:t>With every group together I define the task of the report</a:t>
            </a:r>
          </a:p>
          <a:p>
            <a:r>
              <a:rPr lang="en-US" dirty="0"/>
              <a:t>Use AI as much as you want</a:t>
            </a:r>
          </a:p>
          <a:p>
            <a:r>
              <a:rPr lang="en-US" dirty="0"/>
              <a:t>The report needs to be short; maximum 8 standard latex pages</a:t>
            </a:r>
          </a:p>
          <a:p>
            <a:r>
              <a:rPr lang="en-US" dirty="0"/>
              <a:t>The idea is that you extend the result section of a paper by me to get further insights</a:t>
            </a:r>
          </a:p>
          <a:p>
            <a:r>
              <a:rPr lang="en-US" dirty="0"/>
              <a:t>The paper is “only” on how to bound </a:t>
            </a:r>
            <a:r>
              <a:rPr lang="en-US" dirty="0" err="1"/>
              <a:t>PoA</a:t>
            </a:r>
            <a:r>
              <a:rPr lang="en-US" dirty="0"/>
              <a:t>. Projects could be:</a:t>
            </a:r>
          </a:p>
          <a:p>
            <a:pPr lvl="1"/>
            <a:r>
              <a:rPr lang="en-US" dirty="0"/>
              <a:t>Use the method on different models for electricity markets</a:t>
            </a:r>
          </a:p>
          <a:p>
            <a:pPr lvl="1"/>
            <a:r>
              <a:rPr lang="en-US" dirty="0"/>
              <a:t>Use the method within mechanism design</a:t>
            </a:r>
          </a:p>
          <a:p>
            <a:pPr lvl="1"/>
            <a:r>
              <a:rPr lang="en-US" dirty="0"/>
              <a:t>Asses the quality of the bound</a:t>
            </a:r>
          </a:p>
          <a:p>
            <a:pPr lvl="1"/>
            <a:endParaRPr lang="en-US" dirty="0"/>
          </a:p>
        </p:txBody>
      </p:sp>
      <p:sp>
        <p:nvSpPr>
          <p:cNvPr id="4" name="Date Placeholder 3">
            <a:extLst>
              <a:ext uri="{FF2B5EF4-FFF2-40B4-BE49-F238E27FC236}">
                <a16:creationId xmlns:a16="http://schemas.microsoft.com/office/drawing/2014/main" id="{CFD70EED-7880-0EA8-2892-A12B27A51A56}"/>
              </a:ext>
            </a:extLst>
          </p:cNvPr>
          <p:cNvSpPr>
            <a:spLocks noGrp="1"/>
          </p:cNvSpPr>
          <p:nvPr>
            <p:ph type="dt" sz="half" idx="10"/>
          </p:nvPr>
        </p:nvSpPr>
        <p:spPr/>
        <p:txBody>
          <a:bodyPr/>
          <a:lstStyle/>
          <a:p>
            <a:fld id="{E03C800B-FB61-4825-A914-A6516E1E9B64}" type="datetime1">
              <a:rPr lang="da-DK" smtClean="0"/>
              <a:t>03-09-2026</a:t>
            </a:fld>
            <a:endParaRPr lang="en-GB"/>
          </a:p>
        </p:txBody>
      </p:sp>
      <p:sp>
        <p:nvSpPr>
          <p:cNvPr id="5" name="Footer Placeholder 4">
            <a:extLst>
              <a:ext uri="{FF2B5EF4-FFF2-40B4-BE49-F238E27FC236}">
                <a16:creationId xmlns:a16="http://schemas.microsoft.com/office/drawing/2014/main" id="{E415F2E7-02C2-EB85-723A-8B3286A28055}"/>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37F5B25F-A198-8EBB-EF3F-96B61A1B93AD}"/>
              </a:ext>
            </a:extLst>
          </p:cNvPr>
          <p:cNvSpPr>
            <a:spLocks noGrp="1"/>
          </p:cNvSpPr>
          <p:nvPr>
            <p:ph type="sldNum" sz="quarter" idx="12"/>
          </p:nvPr>
        </p:nvSpPr>
        <p:spPr/>
        <p:txBody>
          <a:bodyPr/>
          <a:lstStyle/>
          <a:p>
            <a:fld id="{103EA872-A674-449B-A120-B97244F8E91D}" type="slidenum">
              <a:rPr lang="da-DK" smtClean="0"/>
              <a:pPr/>
              <a:t>27</a:t>
            </a:fld>
            <a:endParaRPr lang="da-DK" dirty="0"/>
          </a:p>
        </p:txBody>
      </p:sp>
    </p:spTree>
    <p:extLst>
      <p:ext uri="{BB962C8B-B14F-4D97-AF65-F5344CB8AC3E}">
        <p14:creationId xmlns:p14="http://schemas.microsoft.com/office/powerpoint/2010/main" val="12784801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37945-3F99-A2AB-D1F0-B407EF747969}"/>
              </a:ext>
            </a:extLst>
          </p:cNvPr>
          <p:cNvSpPr>
            <a:spLocks noGrp="1"/>
          </p:cNvSpPr>
          <p:nvPr>
            <p:ph type="title"/>
          </p:nvPr>
        </p:nvSpPr>
        <p:spPr/>
        <p:txBody>
          <a:bodyPr/>
          <a:lstStyle/>
          <a:p>
            <a:r>
              <a:rPr lang="en-US" dirty="0"/>
              <a:t>Literature</a:t>
            </a:r>
          </a:p>
        </p:txBody>
      </p:sp>
      <p:sp>
        <p:nvSpPr>
          <p:cNvPr id="3" name="Content Placeholder 2">
            <a:extLst>
              <a:ext uri="{FF2B5EF4-FFF2-40B4-BE49-F238E27FC236}">
                <a16:creationId xmlns:a16="http://schemas.microsoft.com/office/drawing/2014/main" id="{14260C2E-9B82-FF89-BFFA-E8AD77C24250}"/>
              </a:ext>
            </a:extLst>
          </p:cNvPr>
          <p:cNvSpPr>
            <a:spLocks noGrp="1"/>
          </p:cNvSpPr>
          <p:nvPr>
            <p:ph idx="1"/>
          </p:nvPr>
        </p:nvSpPr>
        <p:spPr/>
        <p:txBody>
          <a:bodyPr/>
          <a:lstStyle/>
          <a:p>
            <a:r>
              <a:rPr lang="en-US" dirty="0"/>
              <a:t>Osborne, M. J., &amp; Rubinstein, A. (1994). </a:t>
            </a:r>
            <a:r>
              <a:rPr lang="en-US" i="1" dirty="0"/>
              <a:t>A Course in Game Theory</a:t>
            </a:r>
            <a:r>
              <a:rPr lang="en-US" dirty="0"/>
              <a:t>. MIT Press.</a:t>
            </a:r>
          </a:p>
          <a:p>
            <a:r>
              <a:rPr lang="en-US" dirty="0"/>
              <a:t>Nisan, N., Roughgarden, T., Tardos, É., &amp; Vazirani, V. V. (Eds.). (2007). </a:t>
            </a:r>
            <a:r>
              <a:rPr lang="en-US" i="1" dirty="0"/>
              <a:t>Algorithmic Game Theory</a:t>
            </a:r>
            <a:r>
              <a:rPr lang="en-US" dirty="0"/>
              <a:t>. Cambridge University Press.</a:t>
            </a:r>
          </a:p>
          <a:p>
            <a:r>
              <a:rPr lang="en-US" dirty="0"/>
              <a:t>Roughgarden, T. (2013). </a:t>
            </a:r>
            <a:r>
              <a:rPr lang="en-US" i="1" dirty="0"/>
              <a:t>Lecture Notes on Algorithmic Game Theory</a:t>
            </a:r>
            <a:r>
              <a:rPr lang="en-US" dirty="0"/>
              <a:t> (Stanford CS364A). </a:t>
            </a:r>
            <a:r>
              <a:rPr lang="en-US" dirty="0">
                <a:hlinkClick r:id="rId2"/>
              </a:rPr>
              <a:t>https://theory.stanford.edu/~tim/f13/f13.pdf</a:t>
            </a:r>
            <a:endParaRPr lang="en-US" dirty="0"/>
          </a:p>
          <a:p>
            <a:r>
              <a:rPr lang="en-US" dirty="0"/>
              <a:t>Solé </a:t>
            </a:r>
            <a:r>
              <a:rPr lang="en-US" dirty="0" err="1"/>
              <a:t>Àvila</a:t>
            </a:r>
            <a:r>
              <a:rPr lang="en-US" dirty="0"/>
              <a:t>, M., </a:t>
            </a:r>
            <a:r>
              <a:rPr lang="en-US" dirty="0" err="1"/>
              <a:t>Ebrahimy</a:t>
            </a:r>
            <a:r>
              <a:rPr lang="en-US" dirty="0"/>
              <a:t>, R., &amp; </a:t>
            </a:r>
            <a:r>
              <a:rPr lang="en-US" dirty="0" err="1"/>
              <a:t>Tsaousoglou</a:t>
            </a:r>
            <a:r>
              <a:rPr lang="en-US" dirty="0"/>
              <a:t>, G. (2025). </a:t>
            </a:r>
            <a:r>
              <a:rPr lang="en-US" i="1" dirty="0"/>
              <a:t>How Inefficient Can an Electricity Market Be?</a:t>
            </a:r>
            <a:r>
              <a:rPr lang="en-US" dirty="0"/>
              <a:t> In Proceedings of the 2025 IEEE Kiel </a:t>
            </a:r>
            <a:r>
              <a:rPr lang="en-US" dirty="0" err="1"/>
              <a:t>PowerTech</a:t>
            </a:r>
            <a:r>
              <a:rPr lang="en-US" dirty="0"/>
              <a:t> (pp. 1–6). IEEE.</a:t>
            </a:r>
          </a:p>
          <a:p>
            <a:r>
              <a:rPr lang="en-US" dirty="0"/>
              <a:t>Strauch, L, </a:t>
            </a:r>
            <a:r>
              <a:rPr lang="en-US" dirty="0" err="1"/>
              <a:t>Kamgarpour</a:t>
            </a:r>
            <a:r>
              <a:rPr lang="en-US" dirty="0"/>
              <a:t>, M. &amp; </a:t>
            </a:r>
            <a:r>
              <a:rPr lang="en-US" dirty="0" err="1"/>
              <a:t>Tsaousoglou</a:t>
            </a:r>
            <a:r>
              <a:rPr lang="en-US" dirty="0"/>
              <a:t>, G. (2026, not published yet). </a:t>
            </a:r>
            <a:r>
              <a:rPr lang="en-US" i="1" dirty="0"/>
              <a:t>Electricity Markets as Games: Bounding the Price of Anarchy</a:t>
            </a:r>
          </a:p>
        </p:txBody>
      </p:sp>
      <p:sp>
        <p:nvSpPr>
          <p:cNvPr id="4" name="Date Placeholder 3">
            <a:extLst>
              <a:ext uri="{FF2B5EF4-FFF2-40B4-BE49-F238E27FC236}">
                <a16:creationId xmlns:a16="http://schemas.microsoft.com/office/drawing/2014/main" id="{A37D0C98-4D58-5132-D869-6246688408DD}"/>
              </a:ext>
            </a:extLst>
          </p:cNvPr>
          <p:cNvSpPr>
            <a:spLocks noGrp="1"/>
          </p:cNvSpPr>
          <p:nvPr>
            <p:ph type="dt" sz="half" idx="10"/>
          </p:nvPr>
        </p:nvSpPr>
        <p:spPr/>
        <p:txBody>
          <a:bodyPr/>
          <a:lstStyle/>
          <a:p>
            <a:fld id="{E03C800B-FB61-4825-A914-A6516E1E9B64}" type="datetime1">
              <a:rPr lang="da-DK" smtClean="0"/>
              <a:t>03-09-2026</a:t>
            </a:fld>
            <a:endParaRPr lang="en-GB"/>
          </a:p>
        </p:txBody>
      </p:sp>
      <p:sp>
        <p:nvSpPr>
          <p:cNvPr id="5" name="Footer Placeholder 4">
            <a:extLst>
              <a:ext uri="{FF2B5EF4-FFF2-40B4-BE49-F238E27FC236}">
                <a16:creationId xmlns:a16="http://schemas.microsoft.com/office/drawing/2014/main" id="{FD059CF5-F4E8-F914-5FAC-EF1B46680DA8}"/>
              </a:ext>
            </a:extLst>
          </p:cNvPr>
          <p:cNvSpPr>
            <a:spLocks noGrp="1"/>
          </p:cNvSpPr>
          <p:nvPr>
            <p:ph type="ftr" sz="quarter" idx="11"/>
          </p:nvPr>
        </p:nvSpPr>
        <p:spPr/>
        <p:txBody>
          <a:bodyPr/>
          <a:lstStyle/>
          <a:p>
            <a:r>
              <a:rPr lang="en-US"/>
              <a:t>Game Theory in Electricity Markets - Week 1</a:t>
            </a:r>
            <a:endParaRPr lang="da-DK" dirty="0"/>
          </a:p>
        </p:txBody>
      </p:sp>
      <p:sp>
        <p:nvSpPr>
          <p:cNvPr id="6" name="Slide Number Placeholder 5">
            <a:extLst>
              <a:ext uri="{FF2B5EF4-FFF2-40B4-BE49-F238E27FC236}">
                <a16:creationId xmlns:a16="http://schemas.microsoft.com/office/drawing/2014/main" id="{5022AD17-3225-349F-5397-927264D6DE2C}"/>
              </a:ext>
            </a:extLst>
          </p:cNvPr>
          <p:cNvSpPr>
            <a:spLocks noGrp="1"/>
          </p:cNvSpPr>
          <p:nvPr>
            <p:ph type="sldNum" sz="quarter" idx="12"/>
          </p:nvPr>
        </p:nvSpPr>
        <p:spPr/>
        <p:txBody>
          <a:bodyPr/>
          <a:lstStyle/>
          <a:p>
            <a:fld id="{103EA872-A674-449B-A120-B97244F8E91D}" type="slidenum">
              <a:rPr lang="da-DK" smtClean="0"/>
              <a:pPr/>
              <a:t>28</a:t>
            </a:fld>
            <a:endParaRPr lang="da-DK" dirty="0"/>
          </a:p>
        </p:txBody>
      </p:sp>
    </p:spTree>
    <p:extLst>
      <p:ext uri="{BB962C8B-B14F-4D97-AF65-F5344CB8AC3E}">
        <p14:creationId xmlns:p14="http://schemas.microsoft.com/office/powerpoint/2010/main" val="1841070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FD78B-30E8-BE48-D8DF-E2EC76D6548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A9C857-684A-B0FC-943B-370AF8C74FB0}"/>
              </a:ext>
            </a:extLst>
          </p:cNvPr>
          <p:cNvSpPr>
            <a:spLocks noGrp="1"/>
          </p:cNvSpPr>
          <p:nvPr>
            <p:ph type="sldNum" sz="quarter" idx="12"/>
          </p:nvPr>
        </p:nvSpPr>
        <p:spPr/>
        <p:txBody>
          <a:bodyPr/>
          <a:lstStyle/>
          <a:p>
            <a:fld id="{103EA872-A674-449B-A120-B97244F8E91D}" type="slidenum">
              <a:rPr lang="en-GB" smtClean="0"/>
              <a:pPr/>
              <a:t>29</a:t>
            </a:fld>
            <a:endParaRPr lang="en-GB" dirty="0"/>
          </a:p>
        </p:txBody>
      </p:sp>
      <p:sp>
        <p:nvSpPr>
          <p:cNvPr id="2" name="Date Placeholder 1">
            <a:extLst>
              <a:ext uri="{FF2B5EF4-FFF2-40B4-BE49-F238E27FC236}">
                <a16:creationId xmlns:a16="http://schemas.microsoft.com/office/drawing/2014/main" id="{2E04BE6F-A03A-4BAD-B3B7-D83A090523F6}"/>
              </a:ext>
            </a:extLst>
          </p:cNvPr>
          <p:cNvSpPr>
            <a:spLocks noGrp="1"/>
          </p:cNvSpPr>
          <p:nvPr>
            <p:ph type="dt" sz="half" idx="10"/>
          </p:nvPr>
        </p:nvSpPr>
        <p:spPr/>
        <p:txBody>
          <a:bodyPr/>
          <a:lstStyle/>
          <a:p>
            <a:fld id="{D4D33757-CFF8-4B87-96D0-670CCF06BE4E}" type="datetime1">
              <a:rPr lang="da-DK" smtClean="0"/>
              <a:t>03-09-2026</a:t>
            </a:fld>
            <a:endParaRPr lang="en-GB" dirty="0"/>
          </a:p>
        </p:txBody>
      </p:sp>
      <p:sp>
        <p:nvSpPr>
          <p:cNvPr id="4" name="Footer Placeholder 3">
            <a:extLst>
              <a:ext uri="{FF2B5EF4-FFF2-40B4-BE49-F238E27FC236}">
                <a16:creationId xmlns:a16="http://schemas.microsoft.com/office/drawing/2014/main" id="{053C161D-4D93-5CD9-7ECD-8946D6DCF25E}"/>
              </a:ext>
            </a:extLst>
          </p:cNvPr>
          <p:cNvSpPr>
            <a:spLocks noGrp="1"/>
          </p:cNvSpPr>
          <p:nvPr>
            <p:ph type="ftr" sz="quarter" idx="11"/>
          </p:nvPr>
        </p:nvSpPr>
        <p:spPr/>
        <p:txBody>
          <a:bodyPr/>
          <a:lstStyle/>
          <a:p>
            <a:r>
              <a:rPr lang="en-US"/>
              <a:t>Game Theory in Electricity Markets - Week 1</a:t>
            </a:r>
            <a:endParaRPr lang="en-GB" dirty="0"/>
          </a:p>
        </p:txBody>
      </p:sp>
    </p:spTree>
    <p:custDataLst>
      <p:custData r:id="rId1"/>
      <p:custData r:id="rId2"/>
    </p:custDataLst>
    <p:extLst>
      <p:ext uri="{BB962C8B-B14F-4D97-AF65-F5344CB8AC3E}">
        <p14:creationId xmlns:p14="http://schemas.microsoft.com/office/powerpoint/2010/main" val="25108069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DNEW" val="False"/>
</p:tagLst>
</file>

<file path=ppt/tags/tag2.xml><?xml version="1.0" encoding="utf-8"?>
<p:tagLst xmlns:a="http://schemas.openxmlformats.org/drawingml/2006/main" xmlns:r="http://schemas.openxmlformats.org/officeDocument/2006/relationships" xmlns:p="http://schemas.openxmlformats.org/presentationml/2006/main">
  <p:tag name="SHAPE_LOCKS" val="0"/>
</p:tagLst>
</file>

<file path=ppt/tags/tag3.xml><?xml version="1.0" encoding="utf-8"?>
<p:tagLst xmlns:a="http://schemas.openxmlformats.org/drawingml/2006/main" xmlns:r="http://schemas.openxmlformats.org/officeDocument/2006/relationships" xmlns:p="http://schemas.openxmlformats.org/presentationml/2006/main">
  <p:tag name="SHAPE_LOCKS" val="0"/>
</p:tagLst>
</file>

<file path=ppt/tags/tag4.xml><?xml version="1.0" encoding="utf-8"?>
<p:tagLst xmlns:a="http://schemas.openxmlformats.org/drawingml/2006/main" xmlns:r="http://schemas.openxmlformats.org/officeDocument/2006/relationships" xmlns:p="http://schemas.openxmlformats.org/presentationml/2006/main">
  <p:tag name="SHAPE_LOCKS" val="0"/>
</p:tagLst>
</file>

<file path=ppt/tags/tag5.xml><?xml version="1.0" encoding="utf-8"?>
<p:tagLst xmlns:a="http://schemas.openxmlformats.org/drawingml/2006/main" xmlns:r="http://schemas.openxmlformats.org/officeDocument/2006/relationships" xmlns:p="http://schemas.openxmlformats.org/presentationml/2006/main">
  <p:tag name="SHAPE_LOCKS" val="0"/>
</p:tagLst>
</file>

<file path=ppt/theme/theme1.xml><?xml version="1.0" encoding="utf-8"?>
<a:theme xmlns:a="http://schemas.openxmlformats.org/drawingml/2006/main" name="Blank">
  <a:themeElements>
    <a:clrScheme name="DTU">
      <a:dk1>
        <a:srgbClr val="000000"/>
      </a:dk1>
      <a:lt1>
        <a:srgbClr val="FFFFFF"/>
      </a:lt1>
      <a:dk2>
        <a:srgbClr val="990000"/>
      </a:dk2>
      <a:lt2>
        <a:srgbClr val="79238E"/>
      </a:lt2>
      <a:accent1>
        <a:srgbClr val="990000"/>
      </a:accent1>
      <a:accent2>
        <a:srgbClr val="2F3EEA"/>
      </a:accent2>
      <a:accent3>
        <a:srgbClr val="1FD082"/>
      </a:accent3>
      <a:accent4>
        <a:srgbClr val="171748"/>
      </a:accent4>
      <a:accent5>
        <a:srgbClr val="F6D04D"/>
      </a:accent5>
      <a:accent6>
        <a:srgbClr val="FC7634"/>
      </a:accent6>
      <a:hlink>
        <a:srgbClr val="2F3EEA"/>
      </a:hlink>
      <a:folHlink>
        <a:srgbClr val="990000"/>
      </a:folHlink>
    </a:clrScheme>
    <a:fontScheme name="DT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ts val="432"/>
          </a:spcBef>
          <a:spcAft>
            <a:spcPct val="0"/>
          </a:spcAft>
          <a:buClrTx/>
          <a:buSzTx/>
          <a:buFontTx/>
          <a:buNone/>
          <a:tabLst/>
          <a:defRPr kumimoji="0" sz="1600" b="0" i="0" u="none" strike="noStrike" cap="none" normalizeH="0" baseline="0" dirty="0" err="1" smtClean="0">
            <a:ln>
              <a:noFill/>
            </a:ln>
            <a:solidFill>
              <a:srgbClr val="FFFFFF"/>
            </a:solidFill>
            <a:effectLst/>
            <a:latin typeface="+mn-lt"/>
            <a:ea typeface="ＭＳ Ｐゴシック" pitchFamily="-80" charset="-128"/>
          </a:defRPr>
        </a:defPPr>
      </a:lstStyle>
    </a:spDef>
    <a:lnDef>
      <a:spPr bwMode="auto">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lIns="0" tIns="0" rIns="0" bIns="0" rtlCol="0">
        <a:spAutoFit/>
      </a:bodyPr>
      <a:lstStyle>
        <a:defPPr algn="l">
          <a:spcBef>
            <a:spcPts val="432"/>
          </a:spcBef>
          <a:defRPr dirty="0" err="1" smtClean="0">
            <a:latin typeface="+mn-lt"/>
          </a:defRPr>
        </a:defPPr>
      </a:lstStyle>
    </a:txDef>
  </a:objectDefaults>
  <a:extraClrSchemeLst/>
  <a:extLst>
    <a:ext uri="{05A4C25C-085E-4340-85A3-A5531E510DB2}">
      <thm15:themeFamily xmlns:thm15="http://schemas.microsoft.com/office/thememl/2012/main" name="DTU Template 16_9 - Corporate red-ENG.potx" id="{ED70A225-5B60-42AC-912C-67898019C42C}" vid="{E9106579-58D4-45CA-A6E9-5E2F157EFB5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item1.xml><?xml version="1.0" encoding="utf-8"?>
<TemplafySlideTemplateConfiguration><![CDATA[{"elementsMetadata":[],"documentContentValidatorConfiguration":{"enableDocumentContentValidator":false,"documentContentValidatorVersion":0},"slideId":"636957680393236694","enableDocumentContentUpdater":true,"version":"1.2"}]]></TemplafySlideTemplateConfiguration>
</file>

<file path=customXml/item2.xml><?xml version="1.0" encoding="utf-8"?>
<TemplafySlideTemplateConfiguration><![CDATA[{"elementsMetadata":[],"documentContentValidatorConfiguration":{"enableDocumentContentValidator":false,"documentContentValidatorVersion":0},"slideId":"636957680393408390","enableDocumentContentUpdater":true,"version":"1.2"}]]></TemplafySlideTemplateConfiguration>
</file>

<file path=customXml/item3.xml><?xml version="1.0" encoding="utf-8"?>
<TemplafySlideFormConfiguration><![CDATA[{"formFields":[],"formDataEntries":[]}]]></TemplafySlideFormConfiguration>
</file>

<file path=customXml/item4.xml><?xml version="1.0" encoding="utf-8"?>
<p:properties xmlns:p="http://schemas.microsoft.com/office/2006/metadata/properties" xmlns:xsi="http://www.w3.org/2001/XMLSchema-instance" xmlns:pc="http://schemas.microsoft.com/office/infopath/2007/PartnerControls">
  <documentManagement/>
</p:properties>
</file>

<file path=customXml/item5.xml><?xml version="1.0" encoding="utf-8"?>
<TemplafySlideTemplateConfiguration><![CDATA[{"elementsMetadata":[],"documentContentValidatorConfiguration":{"enableDocumentContentValidator":false,"documentContentValidatorVersion":0},"slideId":"636957680393408390","enableDocumentContentUpdater":true,"version":"1.2"}]]></TemplafySlideTemplateConfiguration>
</file>

<file path=customXml/item6.xml><?xml version="1.0" encoding="utf-8"?>
<TemplafyTemplateConfiguration><![CDATA[{"elementsMetadata":[],"transformationConfigurations":[{"language":"{{DocumentLanguage}}","disableUpdates":false,"type":"proofingLanguage"}],"templateName":"DTU Template 16_9 - Corporate red","templateDescription":"","enableDocumentContentUpdater":true,"version":"1.2"}]]></TemplafyTemplateConfiguration>
</file>

<file path=customXml/item7.xml><?xml version="1.0" encoding="utf-8"?>
<TemplafySlideFormConfiguration><![CDATA[{"formFields":[],"formDataEntries":[]}]]></TemplafySlideFormConfiguration>
</file>

<file path=customXml/item8.xml><?xml version="1.0" encoding="utf-8"?>
<?mso-contentType ?>
<FormTemplates xmlns="http://schemas.microsoft.com/sharepoint/v3/contenttype/forms">
  <Display>DocumentLibraryForm</Display>
  <Edit>DocumentLibraryForm</Edit>
  <New>DocumentLibraryForm</New>
</FormTemplates>
</file>

<file path=customXml/item9.xml><?xml version="1.0" encoding="utf-8"?>
<TemplafySlideFormConfiguration><![CDATA[{"formFields":[],"formDataEntries":[]}]]></TemplafySlideFormConfiguration>
</file>

<file path=customXml/item10.xml><?xml version="1.0" encoding="utf-8"?>
<TemplafySlideFormConfiguration><![CDATA[{"formFields":[],"formDataEntries":[]}]]></TemplafySlideFormConfiguration>
</file>

<file path=customXml/item11.xml><?xml version="1.0" encoding="utf-8"?>
<ct:contentTypeSchema xmlns:ct="http://schemas.microsoft.com/office/2006/metadata/contentType" xmlns:ma="http://schemas.microsoft.com/office/2006/metadata/properties/metaAttributes" ct:_="" ma:_="" ma:contentTypeName="Document" ma:contentTypeID="0x010100F8F6007D7CF16C40B69BF019D03F7C28" ma:contentTypeVersion="0" ma:contentTypeDescription="Create a new document." ma:contentTypeScope="" ma:versionID="bd10857c9131ca576b81c7eb3e20f4a0">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2.xml><?xml version="1.0" encoding="utf-8"?>
<TemplafySlideTemplateConfiguration><![CDATA[{"elementsMetadata":[],"documentContentValidatorConfiguration":{"enableDocumentContentValidator":false,"documentContentValidatorVersion":0},"slideId":"636957680393408390","enableDocumentContentUpdater":true,"version":"1.2"}]]></TemplafySlideTemplateConfiguration>
</file>

<file path=customXml/item13.xml><?xml version="1.0" encoding="utf-8"?>
<TemplafySlideFormConfiguration><![CDATA[{"formFields":[],"formDataEntries":[]}]]></TemplafySlideFormConfiguration>
</file>

<file path=customXml/item14.xml><?xml version="1.0" encoding="utf-8"?>
<TemplafySlideFormConfiguration><![CDATA[{"formFields":[],"formDataEntries":[]}]]></TemplafySlideFormConfiguration>
</file>

<file path=customXml/item15.xml><?xml version="1.0" encoding="utf-8"?>
<TemplafyFormConfiguration><![CDATA[{"formFields":[{"required":false,"type":"datePicker","name":"Date","label":"Date","helpTexts":{"prefix":"","postfix":""},"spacing":{},"fullyQualifiedName":"Date"},{"required":false,"placeholder":"","lines":0,"type":"textBox","name":"PresentationTitle","label":"Presentation title","helpTexts":{"prefix":"","postfix":""},"spacing":{},"fullyQualifiedName":"PresentationTitle"}],"formDataEntries":[]}]]></TemplafyFormConfiguration>
</file>

<file path=customXml/item16.xml><?xml version="1.0" encoding="utf-8"?>
<TemplafySlideTemplateConfiguration><![CDATA[{"elementsMetadata":[],"documentContentValidatorConfiguration":{"enableDocumentContentValidator":false,"documentContentValidatorVersion":0},"slideId":"636957680393408390","enableDocumentContentUpdater":true,"version":"1.2"}]]></TemplafySlideTemplateConfiguration>
</file>

<file path=customXml/item17.xml><?xml version="1.0" encoding="utf-8"?>
<TemplafySlideTemplateConfiguration><![CDATA[{"elementsMetadata":[],"documentContentValidatorConfiguration":{"enableDocumentContentValidator":false,"documentContentValidatorVersion":0},"slideId":"636957680393408390","enableDocumentContentUpdater":true,"version":"1.2"}]]></TemplafySlideTemplateConfiguration>
</file>

<file path=customXml/itemProps1.xml><?xml version="1.0" encoding="utf-8"?>
<ds:datastoreItem xmlns:ds="http://schemas.openxmlformats.org/officeDocument/2006/customXml" ds:itemID="{A25A155D-B383-6A4F-B91D-EEBF1BDDEEDC}">
  <ds:schemaRefs/>
</ds:datastoreItem>
</file>

<file path=customXml/itemProps2.xml><?xml version="1.0" encoding="utf-8"?>
<ds:datastoreItem xmlns:ds="http://schemas.openxmlformats.org/officeDocument/2006/customXml" ds:itemID="{6B8AD017-B053-4E30-93B9-B28A44CEC3A4}">
  <ds:schemaRefs/>
</ds:datastoreItem>
</file>

<file path=customXml/itemProps3.xml><?xml version="1.0" encoding="utf-8"?>
<ds:datastoreItem xmlns:ds="http://schemas.openxmlformats.org/officeDocument/2006/customXml" ds:itemID="{EA88EE71-AE0A-497A-9CA0-DB261B30B47A}">
  <ds:schemaRefs/>
</ds:datastoreItem>
</file>

<file path=customXml/itemProps4.xml><?xml version="1.0" encoding="utf-8"?>
<ds:datastoreItem xmlns:ds="http://schemas.openxmlformats.org/officeDocument/2006/customXml" ds:itemID="{CD7A73E0-5E80-4908-B0DB-9E20244FD024}">
  <ds:schemaRefs>
    <ds:schemaRef ds:uri="http://schemas.microsoft.com/office/2006/metadata/properties"/>
    <ds:schemaRef ds:uri="http://schemas.microsoft.com/office/infopath/2007/PartnerControls"/>
  </ds:schemaRefs>
</ds:datastoreItem>
</file>

<file path=customXml/itemProps5.xml><?xml version="1.0" encoding="utf-8"?>
<ds:datastoreItem xmlns:ds="http://schemas.openxmlformats.org/officeDocument/2006/customXml" ds:itemID="{AA328589-815C-407D-80A4-81FF5493408D}">
  <ds:schemaRefs/>
</ds:datastoreItem>
</file>

<file path=customXml/itemProps6.xml><?xml version="1.0" encoding="utf-8"?>
<ds:datastoreItem xmlns:ds="http://schemas.openxmlformats.org/officeDocument/2006/customXml" ds:itemID="{1334258C-C3E7-4029-A615-C886A240FB15}">
  <ds:schemaRefs/>
</ds:datastoreItem>
</file>

<file path=customXml/itemProps7.xml><?xml version="1.0" encoding="utf-8"?>
<ds:datastoreItem xmlns:ds="http://schemas.openxmlformats.org/officeDocument/2006/customXml" ds:itemID="{C311B280-C64B-4E4D-B42C-C71578245F07}">
  <ds:schemaRefs/>
</ds:datastoreItem>
</file>

<file path=customXml/itemProps8.xml><?xml version="1.0" encoding="utf-8"?>
<ds:datastoreItem xmlns:ds="http://schemas.openxmlformats.org/officeDocument/2006/customXml" ds:itemID="{49765D68-68C5-4CFA-97ED-A38AD8E70B7F}">
  <ds:schemaRefs>
    <ds:schemaRef ds:uri="http://schemas.microsoft.com/sharepoint/v3/contenttype/forms"/>
  </ds:schemaRefs>
</ds:datastoreItem>
</file>

<file path=customXml/itemProps9.xml><?xml version="1.0" encoding="utf-8"?>
<ds:datastoreItem xmlns:ds="http://schemas.openxmlformats.org/officeDocument/2006/customXml" ds:itemID="{8D505698-4786-CC44-9094-099CC766D7F6}">
  <ds:schemaRefs/>
</ds:datastoreItem>
</file>

<file path=customXml/itemProps10.xml><?xml version="1.0" encoding="utf-8"?>
<ds:datastoreItem xmlns:ds="http://schemas.openxmlformats.org/officeDocument/2006/customXml" ds:itemID="{2E9AAC6A-F5E8-405A-B70E-AC3AFA15EBC1}">
  <ds:schemaRefs/>
</ds:datastoreItem>
</file>

<file path=customXml/itemProps11.xml><?xml version="1.0" encoding="utf-8"?>
<ds:datastoreItem xmlns:ds="http://schemas.openxmlformats.org/officeDocument/2006/customXml" ds:itemID="{A215C5F1-5332-4C01-9318-7A5B688CF5E5}"/>
</file>

<file path=customXml/itemProps12.xml><?xml version="1.0" encoding="utf-8"?>
<ds:datastoreItem xmlns:ds="http://schemas.openxmlformats.org/officeDocument/2006/customXml" ds:itemID="{D468D2DC-D50C-4983-B9A3-09AD9F291AD8}">
  <ds:schemaRefs/>
</ds:datastoreItem>
</file>

<file path=customXml/itemProps13.xml><?xml version="1.0" encoding="utf-8"?>
<ds:datastoreItem xmlns:ds="http://schemas.openxmlformats.org/officeDocument/2006/customXml" ds:itemID="{1680B9DC-2D51-4402-BB2C-B8DE0C5AC522}">
  <ds:schemaRefs/>
</ds:datastoreItem>
</file>

<file path=customXml/itemProps14.xml><?xml version="1.0" encoding="utf-8"?>
<ds:datastoreItem xmlns:ds="http://schemas.openxmlformats.org/officeDocument/2006/customXml" ds:itemID="{3105913A-8020-4E66-AF2A-A35799F34992}">
  <ds:schemaRefs/>
</ds:datastoreItem>
</file>

<file path=customXml/itemProps15.xml><?xml version="1.0" encoding="utf-8"?>
<ds:datastoreItem xmlns:ds="http://schemas.openxmlformats.org/officeDocument/2006/customXml" ds:itemID="{43763224-B85A-4B53-A86A-261D26A71C30}">
  <ds:schemaRefs/>
</ds:datastoreItem>
</file>

<file path=customXml/itemProps16.xml><?xml version="1.0" encoding="utf-8"?>
<ds:datastoreItem xmlns:ds="http://schemas.openxmlformats.org/officeDocument/2006/customXml" ds:itemID="{8F0C0016-3F47-4FDC-8BA8-5F7BA0A75E3C}">
  <ds:schemaRefs/>
</ds:datastoreItem>
</file>

<file path=customXml/itemProps17.xml><?xml version="1.0" encoding="utf-8"?>
<ds:datastoreItem xmlns:ds="http://schemas.openxmlformats.org/officeDocument/2006/customXml" ds:itemID="{EED8F988-BE57-4EB7-915D-224E82674DE2}">
  <ds:schemaRefs/>
</ds:datastoreItem>
</file>

<file path=docProps/app.xml><?xml version="1.0" encoding="utf-8"?>
<Properties xmlns="http://schemas.openxmlformats.org/officeDocument/2006/extended-properties" xmlns:vt="http://schemas.openxmlformats.org/officeDocument/2006/docPropsVTypes">
  <Template>Blank</Template>
  <TotalTime>17915</TotalTime>
  <Words>2355</Words>
  <Application>Microsoft Office PowerPoint</Application>
  <PresentationFormat>Custom</PresentationFormat>
  <Paragraphs>466</Paragraphs>
  <Slides>30</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Cambria Math</vt:lpstr>
      <vt:lpstr>Verdana</vt:lpstr>
      <vt:lpstr>Blank</vt:lpstr>
      <vt:lpstr>Game Theory in Electricity Markets</vt:lpstr>
      <vt:lpstr>Why do we have electricity markets?</vt:lpstr>
      <vt:lpstr>How to fulfill the demand in the best way?</vt:lpstr>
      <vt:lpstr>Market Clearing 101</vt:lpstr>
      <vt:lpstr>Market Clearing 101</vt:lpstr>
      <vt:lpstr>Market Clearing 101</vt:lpstr>
      <vt:lpstr>Strategic behaviour</vt:lpstr>
      <vt:lpstr>Strategic behaviour</vt:lpstr>
      <vt:lpstr>Strategic behaviour</vt:lpstr>
      <vt:lpstr>Stop thinking about your money – think of our money!</vt:lpstr>
      <vt:lpstr>High prices are not the problem</vt:lpstr>
      <vt:lpstr>The real problem</vt:lpstr>
      <vt:lpstr>Let’s formalize that</vt:lpstr>
      <vt:lpstr>Let’s formalize that</vt:lpstr>
      <vt:lpstr>PowerPoint Presentation</vt:lpstr>
      <vt:lpstr>Which scenario do you think is more realistic?</vt:lpstr>
      <vt:lpstr>PowerPoint Presentation</vt:lpstr>
      <vt:lpstr>How to measure inefficiency of a market</vt:lpstr>
      <vt:lpstr>Should we be angry?</vt:lpstr>
      <vt:lpstr>PowerPoint Presentation</vt:lpstr>
      <vt:lpstr>Let’s see how others handle such situation</vt:lpstr>
      <vt:lpstr>Losing on purpose: London 2012</vt:lpstr>
      <vt:lpstr>The Disgrace of Gijón: 1982</vt:lpstr>
      <vt:lpstr>Why we need mechanism design</vt:lpstr>
      <vt:lpstr>Why is this so hard?</vt:lpstr>
      <vt:lpstr>PowerPoint Presentation</vt:lpstr>
      <vt:lpstr>Plan for the next weeks</vt:lpstr>
      <vt:lpstr>The project</vt:lpstr>
      <vt:lpstr>Literature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Linus Strauch</dc:creator>
  <cp:lastModifiedBy>Linus Strauch</cp:lastModifiedBy>
  <cp:revision>185</cp:revision>
  <dcterms:created xsi:type="dcterms:W3CDTF">2025-01-10T13:07:19Z</dcterms:created>
  <dcterms:modified xsi:type="dcterms:W3CDTF">2026-09-04T06:51:18Z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dIsCodeFreeTemplate">
    <vt:lpwstr>True</vt:lpwstr>
  </property>
  <property fmtid="{D5CDD505-2E9C-101B-9397-08002B2CF9AE}" pid="3" name="TemplafyTimeStamp">
    <vt:lpwstr>2019-06-10T12:53:59.0527961Z</vt:lpwstr>
  </property>
  <property fmtid="{D5CDD505-2E9C-101B-9397-08002B2CF9AE}" pid="4" name="ContentTypeId">
    <vt:lpwstr>0x010100F8F6007D7CF16C40B69BF019D03F7C28</vt:lpwstr>
  </property>
</Properties>
</file>