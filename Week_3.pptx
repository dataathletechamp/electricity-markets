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>
  <p:sldMasterIdLst>
    <p:sldMasterId id="2147483662" r:id="rId10"/>
  </p:sldMasterIdLst>
  <p:notesMasterIdLst>
    <p:notesMasterId r:id="rId33"/>
  </p:notesMasterIdLst>
  <p:handoutMasterIdLst>
    <p:handoutMasterId r:id="rId34"/>
  </p:handoutMasterIdLst>
  <p:sldIdLst>
    <p:sldId id="349" r:id="rId11"/>
    <p:sldId id="351" r:id="rId12"/>
    <p:sldId id="352" r:id="rId13"/>
    <p:sldId id="353" r:id="rId14"/>
    <p:sldId id="354" r:id="rId15"/>
    <p:sldId id="350" r:id="rId16"/>
    <p:sldId id="356" r:id="rId17"/>
    <p:sldId id="358" r:id="rId18"/>
    <p:sldId id="360" r:id="rId19"/>
    <p:sldId id="359" r:id="rId20"/>
    <p:sldId id="361" r:id="rId21"/>
    <p:sldId id="357" r:id="rId22"/>
    <p:sldId id="362" r:id="rId23"/>
    <p:sldId id="363" r:id="rId24"/>
    <p:sldId id="366" r:id="rId25"/>
    <p:sldId id="355" r:id="rId26"/>
    <p:sldId id="364" r:id="rId27"/>
    <p:sldId id="365" r:id="rId28"/>
    <p:sldId id="367" r:id="rId29"/>
    <p:sldId id="368" r:id="rId30"/>
    <p:sldId id="369" r:id="rId31"/>
    <p:sldId id="272" r:id="rId32"/>
  </p:sldIdLst>
  <p:sldSz cx="12190413" cy="6858000"/>
  <p:notesSz cx="6858000" cy="9144000"/>
  <p:custDataLst>
    <p:tags r:id="rId35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FC7634"/>
    <a:srgbClr val="171748"/>
    <a:srgbClr val="FFFFFF"/>
    <a:srgbClr val="FFCC00"/>
    <a:srgbClr val="FCBEC5"/>
    <a:srgbClr val="B2D5FF"/>
    <a:srgbClr val="21D063"/>
    <a:srgbClr val="82D096"/>
    <a:srgbClr val="FDD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6102" autoAdjust="0"/>
  </p:normalViewPr>
  <p:slideViewPr>
    <p:cSldViewPr showGuides="1">
      <p:cViewPr varScale="1">
        <p:scale>
          <a:sx n="153" d="100"/>
          <a:sy n="153" d="100"/>
        </p:scale>
        <p:origin x="702" y="13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tableStyles" Target="tableStyles.xml"/><Relationship Id="rId21" Type="http://schemas.openxmlformats.org/officeDocument/2006/relationships/slide" Target="slides/slide1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presProps" Target="presProps.xml"/><Relationship Id="rId10" Type="http://schemas.openxmlformats.org/officeDocument/2006/relationships/slideMaster" Target="slideMasters/slideMaster1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tags" Target="tags/tag1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5A8D9-9BE0-5CD9-AB4C-F3B45EAC5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A17BD1-89C3-379E-F648-DF80C0574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1389CF-DB5D-476F-26B4-0A5A639BB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that today is warm up</a:t>
            </a:r>
          </a:p>
          <a:p>
            <a:endParaRPr lang="en-US" dirty="0"/>
          </a:p>
          <a:p>
            <a:r>
              <a:rPr lang="en-US" dirty="0"/>
              <a:t>They can always ask questions</a:t>
            </a:r>
          </a:p>
          <a:p>
            <a:endParaRPr lang="en-US" dirty="0"/>
          </a:p>
          <a:p>
            <a:r>
              <a:rPr lang="en-US" dirty="0"/>
              <a:t>My first lecture, therefore always feedback please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3AA80-E322-6898-D68D-9667E09DEA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0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77573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051F7-1472-316E-8446-20E812BAF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852C1D-4BC0-39FE-7E06-ECE9F61F1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9C83B5-04E5-D9FD-E3FE-B9CE06AC1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CEFE6-AA96-2349-9DAB-9F82EBF523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98090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58E75EC-EF76-589D-0066-5EFD3256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A7748-F735-482D-8F61-00817264F967}" type="datetime1">
              <a:rPr lang="da-DK" smtClean="0"/>
              <a:t>15-09-2026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63D84D-6ED3-F4CB-D6ED-4CFB218D0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da-DK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B2228E-DECD-A1FF-31EB-394A357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6E83F-35F3-7C0A-C83E-AFDCA3467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0D991-5025-438B-A342-C725D1EAE7A8}" type="datetime1">
              <a:rPr lang="da-DK" smtClean="0"/>
              <a:t>15-09-2026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9C46A-00A5-B620-01F4-AB9FA3E67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da-DK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2648B-3179-ABFE-F3AA-42761383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800" y="1706400"/>
            <a:ext cx="9312374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09954EC-B8D9-8075-FC9F-D3764E46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95328-9E5A-4F10-8748-BC51031E6A6D}" type="datetime1">
              <a:rPr lang="da-DK" smtClean="0"/>
              <a:t>15-09-2026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CFBBF02-CCAC-D246-2188-663E067FE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da-DK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8AD440C-0797-9C1A-F3D9-3529DA26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775E03-BE23-9277-8686-60549E4E73B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11F64E7-667C-49A2-8347-CC7CC9BA7D81}" type="datetime1">
              <a:rPr lang="da-DK" smtClean="0"/>
              <a:t>15-09-2026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71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 userDrawn="1">
          <p15:clr>
            <a:srgbClr val="F26B43"/>
          </p15:clr>
        </p15:guide>
        <p15:guide id="2" pos="3896" userDrawn="1">
          <p15:clr>
            <a:srgbClr val="F26B43"/>
          </p15:clr>
        </p15:guide>
        <p15:guide id="3" pos="4205" userDrawn="1">
          <p15:clr>
            <a:srgbClr val="F26B43"/>
          </p15:clr>
        </p15:guide>
        <p15:guide id="4" pos="6984" userDrawn="1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6AB93-5959-29D5-C0C8-6B37FCF5F14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638D6883-B411-49A1-B9D7-FB87CFE29C53}" type="datetime1">
              <a:rPr lang="da-DK" smtClean="0"/>
              <a:t>15-09-2026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45D79-EFF9-98D6-B066-40CEED6C2E2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822EAE4-D7D1-4C08-B2EE-18C8E845D2E4}" type="datetime1">
              <a:rPr lang="da-DK" smtClean="0"/>
              <a:t>15-09-2026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DBA22-AE55-C68A-132F-A826D0B0C740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CD5534FB-C2FF-4526-BE47-53057254B10D}" type="datetime1">
              <a:rPr lang="da-DK" smtClean="0"/>
              <a:t>15-09-2026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33A1D-DD6A-46E6-9477-D1471332CB1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D2DA847-0CFA-4F33-8F65-D7D11373CB0A}" type="datetime1">
              <a:rPr lang="da-DK" smtClean="0"/>
              <a:t>15-09-2026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183DE-20D3-DB32-ED9D-43A02E676CA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A1667DD-D9AD-4149-84C5-2CE07FCA0737}" type="datetime1">
              <a:rPr lang="da-DK" smtClean="0"/>
              <a:t>15-09-2026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74C5CE2C-2E87-41E8-8C86-2305428AA50A}" type="datetime1">
              <a:rPr lang="da-DK" smtClean="0"/>
              <a:t>15-09-2026</a:t>
            </a:fld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Game Theory in Electricity Markets - Week 3</a:t>
            </a:r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44618652-0AB6-42A3-835F-7B9C53D99898}" type="datetime1">
              <a:rPr lang="da-DK" smtClean="0"/>
              <a:t>15-09-2026</a:t>
            </a:fld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Game Theory in Electricity Markets - Week 3</a:t>
            </a:r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spcBef>
                <a:spcPts val="0"/>
              </a:spcBef>
              <a:defRPr sz="7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Game Theory in Electricity Markets - Week 3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3676" name="text" descr="{&quot;templafy&quot;:{&quot;type&quot;:&quot;text&quot;,&quot;binding&quot;:&quot;UserProfile.Offices.Workarea_{{DocumentLanguage}}&quot;}}" title="UserProfile.Offices.Workarea_{{DocumentLanguage}}"/>
          <p:cNvSpPr>
            <a:spLocks noChangeArrowheads="1"/>
          </p:cNvSpPr>
          <p:nvPr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a-DK" sz="700" b="1" dirty="0">
                <a:solidFill>
                  <a:schemeClr val="bg1"/>
                </a:solidFill>
                <a:latin typeface="+mn-lt"/>
              </a:rPr>
              <a:t>Technical University of Denmark</a:t>
            </a:r>
          </a:p>
        </p:txBody>
      </p:sp>
      <p:sp>
        <p:nvSpPr>
          <p:cNvPr id="5" name="date" descr="{&quot;templafy&quot;:{&quot;type&quot;:&quot;date&quot;,&quot;binding&quot;:&quot;Form.Date&quot;,&quot;format&quot;:&quot;{{DateFormats.GeneralDate}}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ＭＳ Ｐゴシック" pitchFamily="-80" charset="-128"/>
            </a:endParaRPr>
          </a:p>
        </p:txBody>
      </p:sp>
      <p:sp>
        <p:nvSpPr>
          <p:cNvPr id="7" name="text" descr="{&quot;templafy&quot;:{&quot;binding&quot;:&quot;Form.PresentationTitle&quot;,&quot;type&quot;:&quot;text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91149" y="6541200"/>
            <a:ext cx="5495949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endParaRPr lang="da-DK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4E9AE0-170F-0C2B-DFF5-DC7F65F4B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fld id="{318EE1AD-4C4F-46AE-8074-0C19C59DDAE7}" type="datetime1">
              <a:rPr lang="da-DK" smtClean="0"/>
              <a:t>15-09-2026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8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customXml" Target="../../customXml/item6.xml"/><Relationship Id="rId1" Type="http://schemas.openxmlformats.org/officeDocument/2006/relationships/customXml" Target="../../customXml/item3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72C46-32CD-5111-C4F8-7E9944240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E3F53929-A7E9-BD6A-8943-D00076B39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558" y="1772816"/>
            <a:ext cx="10840028" cy="2822575"/>
          </a:xfrm>
        </p:spPr>
        <p:txBody>
          <a:bodyPr/>
          <a:lstStyle/>
          <a:p>
            <a:r>
              <a:rPr lang="en-GB" sz="5400" dirty="0"/>
              <a:t>Game Theory in Electricity Markets</a:t>
            </a: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5AC9E266-9D74-350A-844B-2ED3FBE4D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348" y="3061285"/>
            <a:ext cx="10840028" cy="1550517"/>
          </a:xfrm>
        </p:spPr>
        <p:txBody>
          <a:bodyPr/>
          <a:lstStyle/>
          <a:p>
            <a:r>
              <a:rPr lang="en-GB" sz="2000" dirty="0"/>
              <a:t>Week 3 – Solution Concepts 2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6715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8C481-39EA-4C32-5EF3-6F4E54A72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DFA31-0DB3-C65C-8D04-8B0DD7169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Nash equilibria in practice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AC8E0-32BA-2B68-62AC-4E0F1CF0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E9793-7E52-48F8-9393-70B10B4EFECE}" type="datetime1">
              <a:rPr lang="da-DK" smtClean="0"/>
              <a:t>15-09-2026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66A86-61E5-4B9C-A0F9-D0E648F90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45F50-D719-145A-0A95-35D2747F3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</a:t>
            </a:fld>
            <a:endParaRPr lang="da-DK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858CBC1-2B00-D8F4-0E43-B19E8A4F9DC4}"/>
              </a:ext>
            </a:extLst>
          </p:cNvPr>
          <p:cNvGrpSpPr/>
          <p:nvPr/>
        </p:nvGrpSpPr>
        <p:grpSpPr>
          <a:xfrm>
            <a:off x="828198" y="1412776"/>
            <a:ext cx="4032448" cy="2780947"/>
            <a:chOff x="2819326" y="1661604"/>
            <a:chExt cx="5220096" cy="3600000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DBC8670-0723-6A08-D5F5-D91053FB25A7}"/>
                </a:ext>
              </a:extLst>
            </p:cNvPr>
            <p:cNvCxnSpPr/>
            <p:nvPr/>
          </p:nvCxnSpPr>
          <p:spPr bwMode="auto">
            <a:xfrm flipV="1">
              <a:off x="2824725" y="1661604"/>
              <a:ext cx="0" cy="360000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BFC838D-10BD-4135-9476-19E969FE6D0B}"/>
                </a:ext>
              </a:extLst>
            </p:cNvPr>
            <p:cNvSpPr/>
            <p:nvPr/>
          </p:nvSpPr>
          <p:spPr bwMode="auto">
            <a:xfrm>
              <a:off x="2854846" y="5085184"/>
              <a:ext cx="1224136" cy="15655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67059"/>
              </a:schemeClr>
            </a:solidFill>
            <a:ln>
              <a:solidFill>
                <a:schemeClr val="accent5"/>
              </a:solidFill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32F60F-AECE-81CD-62DF-1AA05C00CC45}"/>
                </a:ext>
              </a:extLst>
            </p:cNvPr>
            <p:cNvSpPr/>
            <p:nvPr/>
          </p:nvSpPr>
          <p:spPr bwMode="auto">
            <a:xfrm>
              <a:off x="4093797" y="4844220"/>
              <a:ext cx="720077" cy="396797"/>
            </a:xfrm>
            <a:prstGeom prst="rect">
              <a:avLst/>
            </a:prstGeom>
            <a:solidFill>
              <a:srgbClr val="B2D5FF"/>
            </a:solidFill>
            <a:ln>
              <a:solidFill>
                <a:srgbClr val="6583CD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EE0E51-C47F-6148-04AC-30AFE2CED031}"/>
                </a:ext>
              </a:extLst>
            </p:cNvPr>
            <p:cNvSpPr/>
            <p:nvPr/>
          </p:nvSpPr>
          <p:spPr bwMode="auto">
            <a:xfrm>
              <a:off x="4828689" y="4400648"/>
              <a:ext cx="849281" cy="840369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F46BD5-A96A-802F-FDD4-D878477299B2}"/>
                </a:ext>
              </a:extLst>
            </p:cNvPr>
            <p:cNvSpPr/>
            <p:nvPr/>
          </p:nvSpPr>
          <p:spPr bwMode="auto">
            <a:xfrm>
              <a:off x="5703255" y="3927576"/>
              <a:ext cx="468109" cy="130796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C3EC55B-258B-F046-089B-4E804DF2148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19142" y="2132856"/>
              <a:ext cx="0" cy="3128748"/>
            </a:xfrm>
            <a:prstGeom prst="line">
              <a:avLst/>
            </a:prstGeom>
            <a:ln w="38100"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10ACF29-4360-34A7-8A14-62ABDDF1DBC3}"/>
                </a:ext>
              </a:extLst>
            </p:cNvPr>
            <p:cNvCxnSpPr/>
            <p:nvPr/>
          </p:nvCxnSpPr>
          <p:spPr bwMode="auto">
            <a:xfrm>
              <a:off x="2819326" y="5261604"/>
              <a:ext cx="5220096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E72A907-86B8-BF95-1E11-ECE43EE04D66}"/>
                </a:ext>
              </a:extLst>
            </p:cNvPr>
            <p:cNvCxnSpPr/>
            <p:nvPr/>
          </p:nvCxnSpPr>
          <p:spPr bwMode="auto">
            <a:xfrm>
              <a:off x="2854846" y="4400648"/>
              <a:ext cx="2664296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E0384C8-2A43-8DB8-F81E-68D9899E2070}"/>
                </a:ext>
              </a:extLst>
            </p:cNvPr>
            <p:cNvSpPr/>
            <p:nvPr/>
          </p:nvSpPr>
          <p:spPr bwMode="auto">
            <a:xfrm>
              <a:off x="6187517" y="2996954"/>
              <a:ext cx="468109" cy="224562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</p:grpSp>
      <p:graphicFrame>
        <p:nvGraphicFramePr>
          <p:cNvPr id="28" name="Prisoners Dilemma Table">
            <a:extLst>
              <a:ext uri="{FF2B5EF4-FFF2-40B4-BE49-F238E27FC236}">
                <a16:creationId xmlns:a16="http://schemas.microsoft.com/office/drawing/2014/main" id="{7A77C8DF-68B2-DA92-FAF8-E5B639618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159280"/>
              </p:ext>
            </p:extLst>
          </p:nvPr>
        </p:nvGraphicFramePr>
        <p:xfrm>
          <a:off x="6571994" y="1412776"/>
          <a:ext cx="3653474" cy="139768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910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7463995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006335896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G1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G2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G3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G4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G5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Marginal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F4D97CC9-3F55-78B5-C875-3BED94075FD8}"/>
              </a:ext>
            </a:extLst>
          </p:cNvPr>
          <p:cNvSpPr txBox="1"/>
          <p:nvPr/>
        </p:nvSpPr>
        <p:spPr>
          <a:xfrm>
            <a:off x="6571994" y="3282426"/>
            <a:ext cx="2146421" cy="54373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Demand = 180</a:t>
            </a:r>
          </a:p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Integer bids in {0,…,80}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DEFEDB-2304-1438-3612-45ED939DEC0F}"/>
              </a:ext>
            </a:extLst>
          </p:cNvPr>
          <p:cNvSpPr txBox="1"/>
          <p:nvPr/>
        </p:nvSpPr>
        <p:spPr>
          <a:xfrm>
            <a:off x="982638" y="5013176"/>
            <a:ext cx="8028801" cy="8412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There are many pure Nash equilibria</a:t>
            </a:r>
          </a:p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We often see G1 or G2 or G3 = G5 -1 and rest very low. For example (1 ,2, 52, 3, 53)</a:t>
            </a:r>
          </a:p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(80,0,0,0,0) is a Nash equilibrium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C3E29A1-E245-3CA6-3F1E-3DB6A7A86FB6}"/>
              </a:ext>
            </a:extLst>
          </p:cNvPr>
          <p:cNvGrpSpPr/>
          <p:nvPr/>
        </p:nvGrpSpPr>
        <p:grpSpPr>
          <a:xfrm>
            <a:off x="855637" y="6037818"/>
            <a:ext cx="6414784" cy="246221"/>
            <a:chOff x="855637" y="6037818"/>
            <a:chExt cx="6414784" cy="246221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BAD4002-B789-7383-9A01-6028082D3F7B}"/>
                </a:ext>
              </a:extLst>
            </p:cNvPr>
            <p:cNvCxnSpPr/>
            <p:nvPr/>
          </p:nvCxnSpPr>
          <p:spPr bwMode="auto">
            <a:xfrm>
              <a:off x="855637" y="6165304"/>
              <a:ext cx="775073" cy="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80448E7-25BB-D94E-A7CA-03930857BA5C}"/>
                </a:ext>
              </a:extLst>
            </p:cNvPr>
            <p:cNvSpPr txBox="1"/>
            <p:nvPr/>
          </p:nvSpPr>
          <p:spPr>
            <a:xfrm>
              <a:off x="1812708" y="6037818"/>
              <a:ext cx="5457713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spcBef>
                  <a:spcPts val="432"/>
                </a:spcBef>
              </a:pPr>
              <a:r>
                <a:rPr lang="en-US" dirty="0">
                  <a:latin typeface="+mn-lt"/>
                </a:rPr>
                <a:t>Weakly dominated actions can be part of a Nash equilibrium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5844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90DF9-9C13-3102-62E2-42A5D4C7D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6FAFF-238C-487A-C149-BA68C8210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Mixed Nash equilibrium, bad fact 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BBAD2-7C04-F692-0B5C-DA0A46D83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0" y="1621244"/>
            <a:ext cx="9312374" cy="4545578"/>
          </a:xfrm>
        </p:spPr>
        <p:txBody>
          <a:bodyPr/>
          <a:lstStyle/>
          <a:p>
            <a:r>
              <a:rPr lang="en-US" dirty="0"/>
              <a:t>To find it is PPAD hard (not in polynomial time)</a:t>
            </a:r>
          </a:p>
          <a:p>
            <a:pPr lvl="1"/>
            <a:r>
              <a:rPr lang="en-US" dirty="0"/>
              <a:t>How can players with simple algorithms even reach it?</a:t>
            </a:r>
          </a:p>
          <a:p>
            <a:r>
              <a:rPr lang="en-US" dirty="0"/>
              <a:t>The set of mixed Nash equilibria is not arbitrary, but ugly</a:t>
            </a:r>
          </a:p>
          <a:p>
            <a:pPr lvl="1"/>
            <a:r>
              <a:rPr lang="en-US" dirty="0"/>
              <a:t>This is bad given that we want to optimize over it for </a:t>
            </a:r>
            <a:r>
              <a:rPr lang="en-US" dirty="0" err="1"/>
              <a:t>PoA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661C8-16F0-7C4F-DF77-138DF09FF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69108-04A9-4104-B101-C4419357998E}" type="datetime1">
              <a:rPr lang="da-DK" smtClean="0"/>
              <a:t>15-09-2026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59B01-6CDA-8F80-3472-A1F64250A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831E2-384A-7C6D-DBB3-B60F4C06E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2</a:t>
            </a:fld>
            <a:endParaRPr lang="da-DK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AA26111-FAFF-DC8E-2C04-C1CB5FC99FA1}"/>
              </a:ext>
            </a:extLst>
          </p:cNvPr>
          <p:cNvGrpSpPr/>
          <p:nvPr/>
        </p:nvGrpSpPr>
        <p:grpSpPr>
          <a:xfrm>
            <a:off x="7802956" y="2492896"/>
            <a:ext cx="3974807" cy="3742242"/>
            <a:chOff x="5699623" y="1865624"/>
            <a:chExt cx="4769110" cy="4490071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CF8C4D3-9B2F-1967-F5F6-1DCD5CDAB129}"/>
                </a:ext>
              </a:extLst>
            </p:cNvPr>
            <p:cNvSpPr/>
            <p:nvPr/>
          </p:nvSpPr>
          <p:spPr bwMode="auto">
            <a:xfrm>
              <a:off x="5699623" y="1865624"/>
              <a:ext cx="4769110" cy="449007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6E804EF-CAFF-CF46-C7AB-6F3DA8F1F02E}"/>
                </a:ext>
              </a:extLst>
            </p:cNvPr>
            <p:cNvSpPr/>
            <p:nvPr/>
          </p:nvSpPr>
          <p:spPr bwMode="auto">
            <a:xfrm>
              <a:off x="6527914" y="2809198"/>
              <a:ext cx="3569045" cy="3171283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19F2AF6-761F-41B7-5B9E-64ACF9E38A6D}"/>
                </a:ext>
              </a:extLst>
            </p:cNvPr>
            <p:cNvSpPr/>
            <p:nvPr/>
          </p:nvSpPr>
          <p:spPr bwMode="auto">
            <a:xfrm>
              <a:off x="7845129" y="3699288"/>
              <a:ext cx="1975733" cy="183631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chemeClr val="tx1"/>
                  </a:solidFill>
                  <a:ea typeface="ＭＳ Ｐゴシック" pitchFamily="-80" charset="-128"/>
                </a:rPr>
                <a:t>dominant-strategy equilibrium</a:t>
              </a:r>
              <a:endParaRPr kumimoji="0" lang="en-US" sz="1600" b="0" i="0" u="none" strike="noStrike" cap="none" normalizeH="0" baseline="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5C5808-77DB-0A58-62B3-01BFA1FCE203}"/>
                </a:ext>
              </a:extLst>
            </p:cNvPr>
            <p:cNvSpPr txBox="1"/>
            <p:nvPr/>
          </p:nvSpPr>
          <p:spPr>
            <a:xfrm>
              <a:off x="7081763" y="3064902"/>
              <a:ext cx="1884156" cy="6609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432"/>
                </a:spcBef>
              </a:pPr>
              <a:r>
                <a:rPr lang="en-US" dirty="0"/>
                <a:t>Nash </a:t>
              </a:r>
            </a:p>
            <a:p>
              <a:pPr algn="ctr">
                <a:spcBef>
                  <a:spcPts val="432"/>
                </a:spcBef>
              </a:pPr>
              <a:r>
                <a:rPr lang="en-US" dirty="0"/>
                <a:t>Equilibria</a:t>
              </a: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48EB6BB-DE52-B7E2-33D7-8CFFF6A89893}"/>
                </a:ext>
              </a:extLst>
            </p:cNvPr>
            <p:cNvSpPr txBox="1"/>
            <p:nvPr/>
          </p:nvSpPr>
          <p:spPr>
            <a:xfrm>
              <a:off x="6861023" y="2079034"/>
              <a:ext cx="2238162" cy="3517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solidFill>
                    <a:schemeClr val="tx1"/>
                  </a:solidFill>
                  <a:ea typeface="ＭＳ Ｐゴシック" pitchFamily="-80" charset="-128"/>
                </a:rPr>
                <a:t>Mixed NE</a:t>
              </a:r>
              <a:endParaRPr kumimoji="0" lang="en-US" sz="1600" b="0" i="0" u="none" strike="noStrike" cap="none" normalizeH="0" baseline="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40DA696E-FF18-FB18-4914-0ADB5A6A8FE6}"/>
              </a:ext>
            </a:extLst>
          </p:cNvPr>
          <p:cNvSpPr/>
          <p:nvPr/>
        </p:nvSpPr>
        <p:spPr bwMode="auto">
          <a:xfrm>
            <a:off x="7002967" y="1773221"/>
            <a:ext cx="4966437" cy="4675852"/>
          </a:xfrm>
          <a:prstGeom prst="ellipse">
            <a:avLst/>
          </a:prstGeom>
          <a:noFill/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64971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 and Go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2BE79E-78B5-48B6-BACF-82A06C4F970B}" type="datetime1">
              <a:rPr lang="da-DK" smtClean="0"/>
              <a:t>15-09-2026</a:t>
            </a:fld>
            <a:endParaRPr lang="en-GB"/>
          </a:p>
        </p:txBody>
      </p:sp>
      <p:cxnSp>
        <p:nvCxnSpPr>
          <p:cNvPr id="22" name="Straight Connector Divider"/>
          <p:cNvCxnSpPr>
            <a:cxnSpLocks/>
          </p:cNvCxnSpPr>
          <p:nvPr/>
        </p:nvCxnSpPr>
        <p:spPr bwMode="auto">
          <a:xfrm>
            <a:off x="6431489" y="1706399"/>
            <a:ext cx="0" cy="3018745"/>
          </a:xfrm>
          <a:prstGeom prst="line">
            <a:avLst/>
          </a:prstGeom>
          <a:ln w="9525" cap="flat" cmpd="sng" algn="ctr">
            <a:solidFill>
              <a:schemeClr val="tx1">
                <a:lumMod val="35000"/>
                <a:lumOff val="6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Stop and G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126283"/>
              </p:ext>
            </p:extLst>
          </p:nvPr>
        </p:nvGraphicFramePr>
        <p:xfrm>
          <a:off x="6847000" y="2565161"/>
          <a:ext cx="4350000" cy="18200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2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Stop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0001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-10, 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2, 0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0002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Stop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0, 2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0, 0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0003"/>
                  </a:ext>
                </a:extLst>
              </a:tr>
            </a:tbl>
          </a:graphicData>
        </a:graphic>
      </p:graphicFrame>
      <p:sp>
        <p:nvSpPr>
          <p:cNvPr id="21" name="Caption TextBox"/>
          <p:cNvSpPr txBox="1"/>
          <p:nvPr/>
        </p:nvSpPr>
        <p:spPr>
          <a:xfrm>
            <a:off x="6847000" y="1844824"/>
            <a:ext cx="4413068" cy="54373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Two drivers approach the intersection at the same time.</a:t>
            </a:r>
          </a:p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Payoff matrix:</a:t>
            </a:r>
          </a:p>
        </p:txBody>
      </p:sp>
      <p:sp>
        <p:nvSpPr>
          <p:cNvPr id="101" name="Road Vertical"/>
          <p:cNvSpPr/>
          <p:nvPr/>
        </p:nvSpPr>
        <p:spPr>
          <a:xfrm>
            <a:off x="3554888" y="1706399"/>
            <a:ext cx="850000" cy="2860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Road Horizontal"/>
          <p:cNvSpPr/>
          <p:nvPr/>
        </p:nvSpPr>
        <p:spPr>
          <a:xfrm>
            <a:off x="1774800" y="2711399"/>
            <a:ext cx="4410177" cy="850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03" name="Lane Dash Top"/>
          <p:cNvCxnSpPr/>
          <p:nvPr/>
        </p:nvCxnSpPr>
        <p:spPr>
          <a:xfrm>
            <a:off x="3979888" y="1706399"/>
            <a:ext cx="0" cy="98500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Lane Dash Bottom"/>
          <p:cNvCxnSpPr/>
          <p:nvPr/>
        </p:nvCxnSpPr>
        <p:spPr>
          <a:xfrm>
            <a:off x="3979888" y="3581399"/>
            <a:ext cx="0" cy="98500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Lane Dash Left"/>
          <p:cNvCxnSpPr/>
          <p:nvPr/>
        </p:nvCxnSpPr>
        <p:spPr>
          <a:xfrm>
            <a:off x="1774800" y="3136399"/>
            <a:ext cx="1760088" cy="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Lane Dash Right"/>
          <p:cNvCxnSpPr/>
          <p:nvPr/>
        </p:nvCxnSpPr>
        <p:spPr>
          <a:xfrm>
            <a:off x="4424888" y="3136399"/>
            <a:ext cx="1760089" cy="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ar 1"/>
          <p:cNvSpPr/>
          <p:nvPr/>
        </p:nvSpPr>
        <p:spPr>
          <a:xfrm>
            <a:off x="3739888" y="1891399"/>
            <a:ext cx="480000" cy="68000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9525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Arrow 1"/>
          <p:cNvSpPr/>
          <p:nvPr/>
        </p:nvSpPr>
        <p:spPr>
          <a:xfrm rot="10800000">
            <a:off x="3859888" y="2586399"/>
            <a:ext cx="240000" cy="13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Label Car 1"/>
          <p:cNvSpPr txBox="1"/>
          <p:nvPr/>
        </p:nvSpPr>
        <p:spPr>
          <a:xfrm>
            <a:off x="3739888" y="1386399"/>
            <a:ext cx="165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1" dirty="0">
                <a:solidFill>
                  <a:schemeClr val="accent2"/>
                </a:solidFill>
                <a:latin typeface="+mn-lt"/>
              </a:rPr>
              <a:t>Driver 1</a:t>
            </a:r>
          </a:p>
        </p:txBody>
      </p:sp>
      <p:sp>
        <p:nvSpPr>
          <p:cNvPr id="110" name="Car 2"/>
          <p:cNvSpPr/>
          <p:nvPr/>
        </p:nvSpPr>
        <p:spPr>
          <a:xfrm>
            <a:off x="2734888" y="2896399"/>
            <a:ext cx="680000" cy="48000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Arrow 2"/>
          <p:cNvSpPr/>
          <p:nvPr/>
        </p:nvSpPr>
        <p:spPr>
          <a:xfrm rot="5400000">
            <a:off x="3476400" y="3016399"/>
            <a:ext cx="130000" cy="240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Label Car 2"/>
          <p:cNvSpPr txBox="1"/>
          <p:nvPr/>
        </p:nvSpPr>
        <p:spPr>
          <a:xfrm>
            <a:off x="2374977" y="2435013"/>
            <a:ext cx="14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1" dirty="0">
                <a:solidFill>
                  <a:schemeClr val="accent1"/>
                </a:solidFill>
                <a:latin typeface="+mn-lt"/>
              </a:rPr>
              <a:t>Driver 2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AD70DD8-596C-1FDD-E01E-68FA85CC3EB7}"/>
              </a:ext>
            </a:extLst>
          </p:cNvPr>
          <p:cNvGrpSpPr/>
          <p:nvPr/>
        </p:nvGrpSpPr>
        <p:grpSpPr>
          <a:xfrm>
            <a:off x="6887294" y="3218064"/>
            <a:ext cx="3852355" cy="1630190"/>
            <a:chOff x="6887294" y="3218064"/>
            <a:chExt cx="3852355" cy="163019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4F67E88-4BFC-69BC-DC3C-9ABB893ADA00}"/>
                </a:ext>
              </a:extLst>
            </p:cNvPr>
            <p:cNvSpPr/>
            <p:nvPr/>
          </p:nvSpPr>
          <p:spPr bwMode="auto">
            <a:xfrm>
              <a:off x="8559054" y="3889229"/>
              <a:ext cx="648072" cy="369339"/>
            </a:xfrm>
            <a:prstGeom prst="ellipse">
              <a:avLst/>
            </a:prstGeom>
            <a:noFill/>
            <a:ln w="1905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BCC1A64-3410-CE34-48B1-31ADDF0A33E2}"/>
                </a:ext>
              </a:extLst>
            </p:cNvPr>
            <p:cNvSpPr/>
            <p:nvPr/>
          </p:nvSpPr>
          <p:spPr bwMode="auto">
            <a:xfrm>
              <a:off x="10091577" y="3218064"/>
              <a:ext cx="648072" cy="369339"/>
            </a:xfrm>
            <a:prstGeom prst="ellipse">
              <a:avLst/>
            </a:prstGeom>
            <a:noFill/>
            <a:ln w="1905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67F8B9-7A00-8C4B-E046-3AA9C7C006C6}"/>
                </a:ext>
              </a:extLst>
            </p:cNvPr>
            <p:cNvSpPr txBox="1"/>
            <p:nvPr/>
          </p:nvSpPr>
          <p:spPr>
            <a:xfrm>
              <a:off x="6887294" y="4602033"/>
              <a:ext cx="242053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spcBef>
                  <a:spcPts val="432"/>
                </a:spcBef>
              </a:pPr>
              <a:r>
                <a:rPr lang="en-US" dirty="0">
                  <a:latin typeface="+mn-lt"/>
                </a:rPr>
                <a:t>Mixed NE: 1/6 go, 5/6 stop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D78358-99ED-C28F-E399-88B1B58E7AF6}"/>
              </a:ext>
            </a:extLst>
          </p:cNvPr>
          <p:cNvGrpSpPr/>
          <p:nvPr/>
        </p:nvGrpSpPr>
        <p:grpSpPr>
          <a:xfrm>
            <a:off x="1486694" y="5658091"/>
            <a:ext cx="3704618" cy="246221"/>
            <a:chOff x="855637" y="6037818"/>
            <a:chExt cx="3704618" cy="246221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F05D667-34BE-EAE0-76F9-0E8DAD5FC9FF}"/>
                </a:ext>
              </a:extLst>
            </p:cNvPr>
            <p:cNvCxnSpPr/>
            <p:nvPr/>
          </p:nvCxnSpPr>
          <p:spPr bwMode="auto">
            <a:xfrm>
              <a:off x="855637" y="6165304"/>
              <a:ext cx="775073" cy="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08CEC90-6E59-BD82-0B07-5AF7E2297E15}"/>
                </a:ext>
              </a:extLst>
            </p:cNvPr>
            <p:cNvSpPr txBox="1"/>
            <p:nvPr/>
          </p:nvSpPr>
          <p:spPr>
            <a:xfrm>
              <a:off x="1812708" y="6037818"/>
              <a:ext cx="2747547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spcBef>
                  <a:spcPts val="432"/>
                </a:spcBef>
              </a:pPr>
              <a:r>
                <a:rPr lang="en-US" dirty="0">
                  <a:latin typeface="+mn-lt"/>
                </a:rPr>
                <a:t>None of this is a good solution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3BA86-D1BC-AF31-6AB6-BD51A28C3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4DB66-18B4-230D-27E4-BC25A096C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 and Go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2B0BB-2E32-A874-6A4B-26FA553F1F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3AB5D-B5D0-B641-8BF7-85C4ED63D7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CA37A8-ED43-1331-E7BE-829B93403DC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C361E50-9507-45C3-A56A-B411F0D088D1}" type="datetime1">
              <a:rPr lang="da-DK" smtClean="0"/>
              <a:t>15-09-2026</a:t>
            </a:fld>
            <a:endParaRPr lang="en-GB"/>
          </a:p>
        </p:txBody>
      </p:sp>
      <p:sp>
        <p:nvSpPr>
          <p:cNvPr id="101" name="Road Vertical">
            <a:extLst>
              <a:ext uri="{FF2B5EF4-FFF2-40B4-BE49-F238E27FC236}">
                <a16:creationId xmlns:a16="http://schemas.microsoft.com/office/drawing/2014/main" id="{06798E52-951F-F352-C508-8950DEC88AA5}"/>
              </a:ext>
            </a:extLst>
          </p:cNvPr>
          <p:cNvSpPr/>
          <p:nvPr/>
        </p:nvSpPr>
        <p:spPr>
          <a:xfrm>
            <a:off x="3554888" y="2369200"/>
            <a:ext cx="850000" cy="2860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Road Horizontal">
            <a:extLst>
              <a:ext uri="{FF2B5EF4-FFF2-40B4-BE49-F238E27FC236}">
                <a16:creationId xmlns:a16="http://schemas.microsoft.com/office/drawing/2014/main" id="{03503760-5154-40C4-3F01-0ACE886CB8E1}"/>
              </a:ext>
            </a:extLst>
          </p:cNvPr>
          <p:cNvSpPr/>
          <p:nvPr/>
        </p:nvSpPr>
        <p:spPr>
          <a:xfrm>
            <a:off x="1774800" y="3374200"/>
            <a:ext cx="4410177" cy="850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03" name="Lane Dash Top">
            <a:extLst>
              <a:ext uri="{FF2B5EF4-FFF2-40B4-BE49-F238E27FC236}">
                <a16:creationId xmlns:a16="http://schemas.microsoft.com/office/drawing/2014/main" id="{750222C9-F4D1-61D6-B8DA-A4EB6803B877}"/>
              </a:ext>
            </a:extLst>
          </p:cNvPr>
          <p:cNvCxnSpPr/>
          <p:nvPr/>
        </p:nvCxnSpPr>
        <p:spPr>
          <a:xfrm>
            <a:off x="3979888" y="2369200"/>
            <a:ext cx="0" cy="98500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Lane Dash Bottom">
            <a:extLst>
              <a:ext uri="{FF2B5EF4-FFF2-40B4-BE49-F238E27FC236}">
                <a16:creationId xmlns:a16="http://schemas.microsoft.com/office/drawing/2014/main" id="{81829BB7-4C3A-FB4D-2B26-C8CB17756111}"/>
              </a:ext>
            </a:extLst>
          </p:cNvPr>
          <p:cNvCxnSpPr/>
          <p:nvPr/>
        </p:nvCxnSpPr>
        <p:spPr>
          <a:xfrm>
            <a:off x="3979888" y="4244200"/>
            <a:ext cx="0" cy="98500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Lane Dash Left">
            <a:extLst>
              <a:ext uri="{FF2B5EF4-FFF2-40B4-BE49-F238E27FC236}">
                <a16:creationId xmlns:a16="http://schemas.microsoft.com/office/drawing/2014/main" id="{8957DB2F-9289-56E4-6F59-5937CF8D2C81}"/>
              </a:ext>
            </a:extLst>
          </p:cNvPr>
          <p:cNvCxnSpPr/>
          <p:nvPr/>
        </p:nvCxnSpPr>
        <p:spPr>
          <a:xfrm>
            <a:off x="1774800" y="3799200"/>
            <a:ext cx="1760088" cy="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Lane Dash Right">
            <a:extLst>
              <a:ext uri="{FF2B5EF4-FFF2-40B4-BE49-F238E27FC236}">
                <a16:creationId xmlns:a16="http://schemas.microsoft.com/office/drawing/2014/main" id="{D3498071-CAFA-8F19-48B8-068F33B071ED}"/>
              </a:ext>
            </a:extLst>
          </p:cNvPr>
          <p:cNvCxnSpPr/>
          <p:nvPr/>
        </p:nvCxnSpPr>
        <p:spPr>
          <a:xfrm>
            <a:off x="4424888" y="3799200"/>
            <a:ext cx="1760089" cy="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ar 1">
            <a:extLst>
              <a:ext uri="{FF2B5EF4-FFF2-40B4-BE49-F238E27FC236}">
                <a16:creationId xmlns:a16="http://schemas.microsoft.com/office/drawing/2014/main" id="{4B843972-0C6C-6D30-4D38-7CEE0EB909DB}"/>
              </a:ext>
            </a:extLst>
          </p:cNvPr>
          <p:cNvSpPr/>
          <p:nvPr/>
        </p:nvSpPr>
        <p:spPr>
          <a:xfrm>
            <a:off x="3739888" y="2554200"/>
            <a:ext cx="480000" cy="68000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9525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Arrow 1">
            <a:extLst>
              <a:ext uri="{FF2B5EF4-FFF2-40B4-BE49-F238E27FC236}">
                <a16:creationId xmlns:a16="http://schemas.microsoft.com/office/drawing/2014/main" id="{9E038E55-F828-34A9-6EC7-F79FDFAAE9E7}"/>
              </a:ext>
            </a:extLst>
          </p:cNvPr>
          <p:cNvSpPr/>
          <p:nvPr/>
        </p:nvSpPr>
        <p:spPr>
          <a:xfrm rot="10800000">
            <a:off x="3859888" y="3249200"/>
            <a:ext cx="240000" cy="13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9" name="Label Car 1">
            <a:extLst>
              <a:ext uri="{FF2B5EF4-FFF2-40B4-BE49-F238E27FC236}">
                <a16:creationId xmlns:a16="http://schemas.microsoft.com/office/drawing/2014/main" id="{8DD2A9E3-6CBB-39B0-837E-19CED99CD0E4}"/>
              </a:ext>
            </a:extLst>
          </p:cNvPr>
          <p:cNvSpPr txBox="1"/>
          <p:nvPr/>
        </p:nvSpPr>
        <p:spPr>
          <a:xfrm>
            <a:off x="3739888" y="2049200"/>
            <a:ext cx="165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1" dirty="0">
                <a:solidFill>
                  <a:schemeClr val="accent2"/>
                </a:solidFill>
                <a:latin typeface="+mn-lt"/>
              </a:rPr>
              <a:t>Driver 1</a:t>
            </a:r>
          </a:p>
        </p:txBody>
      </p:sp>
      <p:sp>
        <p:nvSpPr>
          <p:cNvPr id="110" name="Car 2">
            <a:extLst>
              <a:ext uri="{FF2B5EF4-FFF2-40B4-BE49-F238E27FC236}">
                <a16:creationId xmlns:a16="http://schemas.microsoft.com/office/drawing/2014/main" id="{322553B3-1868-61F2-FC1F-59AB65D8E1DE}"/>
              </a:ext>
            </a:extLst>
          </p:cNvPr>
          <p:cNvSpPr/>
          <p:nvPr/>
        </p:nvSpPr>
        <p:spPr>
          <a:xfrm>
            <a:off x="2734888" y="3559200"/>
            <a:ext cx="680000" cy="48000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Arrow 2">
            <a:extLst>
              <a:ext uri="{FF2B5EF4-FFF2-40B4-BE49-F238E27FC236}">
                <a16:creationId xmlns:a16="http://schemas.microsoft.com/office/drawing/2014/main" id="{CE3A3856-826E-53D0-AAFD-5F5A313E417C}"/>
              </a:ext>
            </a:extLst>
          </p:cNvPr>
          <p:cNvSpPr/>
          <p:nvPr/>
        </p:nvSpPr>
        <p:spPr>
          <a:xfrm rot="5400000">
            <a:off x="3476400" y="3679200"/>
            <a:ext cx="130000" cy="240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Label Car 2">
            <a:extLst>
              <a:ext uri="{FF2B5EF4-FFF2-40B4-BE49-F238E27FC236}">
                <a16:creationId xmlns:a16="http://schemas.microsoft.com/office/drawing/2014/main" id="{FA1BCEB0-34F0-1086-1A4A-D9924A8EA385}"/>
              </a:ext>
            </a:extLst>
          </p:cNvPr>
          <p:cNvSpPr txBox="1"/>
          <p:nvPr/>
        </p:nvSpPr>
        <p:spPr>
          <a:xfrm>
            <a:off x="2374977" y="3097814"/>
            <a:ext cx="14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1" dirty="0">
                <a:solidFill>
                  <a:schemeClr val="accent1"/>
                </a:solidFill>
                <a:latin typeface="+mn-lt"/>
              </a:rPr>
              <a:t>Driver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19AA4-3196-C347-BE9A-22AFA0BC66B8}"/>
              </a:ext>
            </a:extLst>
          </p:cNvPr>
          <p:cNvSpPr txBox="1"/>
          <p:nvPr/>
        </p:nvSpPr>
        <p:spPr>
          <a:xfrm>
            <a:off x="1773638" y="1637800"/>
            <a:ext cx="79669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US" dirty="0">
                <a:latin typeface="+mn-lt"/>
              </a:rPr>
              <a:t>Idea: 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2191E4-4EA9-C576-FD1A-3E75C53ACD0A}"/>
              </a:ext>
            </a:extLst>
          </p:cNvPr>
          <p:cNvSpPr txBox="1"/>
          <p:nvPr/>
        </p:nvSpPr>
        <p:spPr>
          <a:xfrm>
            <a:off x="2929857" y="4177420"/>
            <a:ext cx="85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7B0A1B-38C1-0B5F-8C91-CB196E180797}"/>
              </a:ext>
            </a:extLst>
          </p:cNvPr>
          <p:cNvSpPr txBox="1"/>
          <p:nvPr/>
        </p:nvSpPr>
        <p:spPr>
          <a:xfrm>
            <a:off x="4240021" y="2727869"/>
            <a:ext cx="85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🚦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52B8F1-2180-0245-7FD0-FFCC6088BC77}"/>
              </a:ext>
            </a:extLst>
          </p:cNvPr>
          <p:cNvSpPr txBox="1"/>
          <p:nvPr/>
        </p:nvSpPr>
        <p:spPr>
          <a:xfrm>
            <a:off x="3291092" y="4365386"/>
            <a:ext cx="10259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dirty="0">
                <a:solidFill>
                  <a:srgbClr val="FF0000"/>
                </a:solidFill>
                <a:latin typeface="+mn-lt"/>
              </a:rPr>
              <a:t>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75078-28E1-A351-38C7-55810D79B071}"/>
              </a:ext>
            </a:extLst>
          </p:cNvPr>
          <p:cNvSpPr txBox="1"/>
          <p:nvPr/>
        </p:nvSpPr>
        <p:spPr>
          <a:xfrm flipH="1" flipV="1">
            <a:off x="4596681" y="2957610"/>
            <a:ext cx="10259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dirty="0">
                <a:solidFill>
                  <a:srgbClr val="FF0000"/>
                </a:solidFill>
                <a:latin typeface="+mn-lt"/>
              </a:rPr>
              <a:t>x</a:t>
            </a:r>
          </a:p>
        </p:txBody>
      </p:sp>
      <p:cxnSp>
        <p:nvCxnSpPr>
          <p:cNvPr id="32" name="Straight Connector Divider">
            <a:extLst>
              <a:ext uri="{FF2B5EF4-FFF2-40B4-BE49-F238E27FC236}">
                <a16:creationId xmlns:a16="http://schemas.microsoft.com/office/drawing/2014/main" id="{62A0D81F-F050-D9BC-1647-530488613002}"/>
              </a:ext>
            </a:extLst>
          </p:cNvPr>
          <p:cNvCxnSpPr>
            <a:cxnSpLocks/>
          </p:cNvCxnSpPr>
          <p:nvPr/>
        </p:nvCxnSpPr>
        <p:spPr bwMode="auto">
          <a:xfrm>
            <a:off x="6431489" y="1706399"/>
            <a:ext cx="0" cy="3954849"/>
          </a:xfrm>
          <a:prstGeom prst="line">
            <a:avLst/>
          </a:prstGeom>
          <a:ln w="9525" cap="flat" cmpd="sng" algn="ctr">
            <a:solidFill>
              <a:schemeClr val="tx1">
                <a:lumMod val="35000"/>
                <a:lumOff val="6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862CDAA-A97A-7303-8842-2E9739B86F56}"/>
              </a:ext>
            </a:extLst>
          </p:cNvPr>
          <p:cNvSpPr txBox="1"/>
          <p:nvPr/>
        </p:nvSpPr>
        <p:spPr>
          <a:xfrm>
            <a:off x="6959302" y="2049200"/>
            <a:ext cx="4464492" cy="24211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Introduce a trusted third party</a:t>
            </a:r>
          </a:p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The trusted third party samples from a publicly know distribution</a:t>
            </a:r>
          </a:p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The third part privately tells every player their suggestion</a:t>
            </a:r>
          </a:p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Each player may follow this suggestion or not</a:t>
            </a:r>
          </a:p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It is stable when the prior each player gets on the other players action leads to them picking the suggested action</a:t>
            </a:r>
          </a:p>
        </p:txBody>
      </p:sp>
    </p:spTree>
    <p:extLst>
      <p:ext uri="{BB962C8B-B14F-4D97-AF65-F5344CB8AC3E}">
        <p14:creationId xmlns:p14="http://schemas.microsoft.com/office/powerpoint/2010/main" val="1273063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Correlated equilibrium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9019" y="1124744"/>
            <a:ext cx="9312374" cy="4839202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</a:rPr>
              <a:t>Definition.  </a:t>
            </a:r>
            <a:r>
              <a:rPr lang="en-US" sz="1900" dirty="0"/>
              <a:t>A distribution π ∈ Δ(A) over the joint action set A is a </a:t>
            </a:r>
            <a:r>
              <a:rPr lang="en-US" sz="1900" i="1" dirty="0"/>
              <a:t>correlated equilibrium</a:t>
            </a:r>
            <a:r>
              <a:rPr lang="en-US" sz="1900" dirty="0"/>
              <a:t> if no player can lower their expected cost by deviating from a privately recommended action:</a:t>
            </a:r>
          </a:p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i="1" dirty="0"/>
              <a:t>E</a:t>
            </a:r>
            <a:r>
              <a:rPr lang="en-US" sz="1800" i="1" baseline="-25000" dirty="0"/>
              <a:t>a∼π</a:t>
            </a:r>
            <a:r>
              <a:rPr lang="en-US" sz="2400" i="1" dirty="0"/>
              <a:t> [c</a:t>
            </a:r>
            <a:r>
              <a:rPr lang="en-US" sz="1800" i="1" baseline="-25000" dirty="0"/>
              <a:t>i</a:t>
            </a:r>
            <a:r>
              <a:rPr lang="en-US" sz="2400" i="1" dirty="0"/>
              <a:t>(a) | a</a:t>
            </a:r>
            <a:r>
              <a:rPr lang="en-US" sz="1800" i="1" baseline="-25000" dirty="0"/>
              <a:t>i</a:t>
            </a:r>
            <a:r>
              <a:rPr lang="en-US" sz="2400" i="1" dirty="0"/>
              <a:t>]   ≤   E</a:t>
            </a:r>
            <a:r>
              <a:rPr lang="en-US" sz="1800" i="1" baseline="-25000" dirty="0"/>
              <a:t>a∼π</a:t>
            </a:r>
            <a:r>
              <a:rPr lang="en-US" sz="2400" i="1" dirty="0"/>
              <a:t> [c</a:t>
            </a:r>
            <a:r>
              <a:rPr lang="en-US" sz="1800" i="1" baseline="-25000" dirty="0"/>
              <a:t>i</a:t>
            </a:r>
            <a:r>
              <a:rPr lang="en-US" sz="2400" i="1" dirty="0"/>
              <a:t>(a</a:t>
            </a:r>
            <a:r>
              <a:rPr lang="en-US" sz="1800" i="1" baseline="-25000" dirty="0"/>
              <a:t>i</a:t>
            </a:r>
            <a:r>
              <a:rPr lang="en-US" sz="2400" i="1" dirty="0"/>
              <a:t>′, a</a:t>
            </a:r>
            <a:r>
              <a:rPr lang="en-US" sz="1800" i="1" baseline="-25000" dirty="0"/>
              <a:t>−i</a:t>
            </a:r>
            <a:r>
              <a:rPr lang="en-US" sz="2400" i="1" dirty="0"/>
              <a:t>) | a</a:t>
            </a:r>
            <a:r>
              <a:rPr lang="en-US" sz="1800" i="1" baseline="-25000" dirty="0"/>
              <a:t>i</a:t>
            </a:r>
            <a:r>
              <a:rPr lang="en-US" sz="2400" i="1" dirty="0"/>
              <a:t>]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every player i ∈ N and every a</a:t>
            </a:r>
            <a:r>
              <a:rPr lang="en-US" sz="12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</a:t>
            </a:r>
            <a:r>
              <a:rPr lang="en-US" sz="12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′ ∈ A</a:t>
            </a:r>
            <a:r>
              <a:rPr lang="en-US" sz="12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correlated equilibrium π that can be written as an independent (product) distribution, π(a) = σ</a:t>
            </a:r>
            <a:r>
              <a:rPr lang="en-US" sz="12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</a:t>
            </a:r>
            <a:r>
              <a:rPr lang="en-US" sz="12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⋯ σ</a:t>
            </a:r>
            <a:r>
              <a:rPr lang="en-US" sz="12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</a:t>
            </a:r>
            <a:r>
              <a:rPr lang="en-US" sz="12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), is a mixed Nash equilibrium.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822-82B1-4111-BA07-C1C8DA5480E5}" type="datetime1">
              <a:rPr lang="da-DK" smtClean="0"/>
              <a:t>15-09-2026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da-D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5</a:t>
            </a:fld>
            <a:endParaRPr lang="da-DK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The set of correlated equilibria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9019" y="1124744"/>
            <a:ext cx="9312374" cy="4839202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</a:rPr>
              <a:t>Proposition.  </a:t>
            </a:r>
            <a:r>
              <a:rPr lang="en-US" sz="1900" dirty="0">
                <a:solidFill>
                  <a:schemeClr val="tx1"/>
                </a:solidFill>
              </a:rPr>
              <a:t>In a finite game, the correlated-equilibrium condition is linear in π:</a:t>
            </a:r>
          </a:p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200" i="1" dirty="0">
                <a:solidFill>
                  <a:schemeClr val="tx1"/>
                </a:solidFill>
              </a:rPr>
              <a:t>Σ</a:t>
            </a:r>
            <a:r>
              <a:rPr lang="en-US" sz="1700" i="1" baseline="-25000" dirty="0">
                <a:solidFill>
                  <a:schemeClr val="tx1"/>
                </a:solidFill>
              </a:rPr>
              <a:t>a−i</a:t>
            </a:r>
            <a:r>
              <a:rPr lang="en-US" sz="2200" i="1" dirty="0">
                <a:solidFill>
                  <a:schemeClr val="tx1"/>
                </a:solidFill>
              </a:rPr>
              <a:t> π(a</a:t>
            </a:r>
            <a:r>
              <a:rPr lang="en-US" sz="1700" i="1" baseline="-25000" dirty="0">
                <a:solidFill>
                  <a:schemeClr val="tx1"/>
                </a:solidFill>
              </a:rPr>
              <a:t>i</a:t>
            </a:r>
            <a:r>
              <a:rPr lang="en-US" sz="2200" i="1" dirty="0">
                <a:solidFill>
                  <a:schemeClr val="tx1"/>
                </a:solidFill>
              </a:rPr>
              <a:t>, a</a:t>
            </a:r>
            <a:r>
              <a:rPr lang="en-US" sz="1700" i="1" baseline="-25000" dirty="0">
                <a:solidFill>
                  <a:schemeClr val="tx1"/>
                </a:solidFill>
              </a:rPr>
              <a:t>−i</a:t>
            </a:r>
            <a:r>
              <a:rPr lang="en-US" sz="2200" i="1" dirty="0">
                <a:solidFill>
                  <a:schemeClr val="tx1"/>
                </a:solidFill>
              </a:rPr>
              <a:t>) c</a:t>
            </a:r>
            <a:r>
              <a:rPr lang="en-US" sz="1700" i="1" baseline="-25000" dirty="0">
                <a:solidFill>
                  <a:schemeClr val="tx1"/>
                </a:solidFill>
              </a:rPr>
              <a:t>i</a:t>
            </a:r>
            <a:r>
              <a:rPr lang="en-US" sz="2200" i="1" dirty="0">
                <a:solidFill>
                  <a:schemeClr val="tx1"/>
                </a:solidFill>
              </a:rPr>
              <a:t>(a</a:t>
            </a:r>
            <a:r>
              <a:rPr lang="en-US" sz="1700" i="1" baseline="-25000" dirty="0">
                <a:solidFill>
                  <a:schemeClr val="tx1"/>
                </a:solidFill>
              </a:rPr>
              <a:t>i</a:t>
            </a:r>
            <a:r>
              <a:rPr lang="en-US" sz="2200" i="1" dirty="0">
                <a:solidFill>
                  <a:schemeClr val="tx1"/>
                </a:solidFill>
              </a:rPr>
              <a:t>, a</a:t>
            </a:r>
            <a:r>
              <a:rPr lang="en-US" sz="1700" i="1" baseline="-25000" dirty="0">
                <a:solidFill>
                  <a:schemeClr val="tx1"/>
                </a:solidFill>
              </a:rPr>
              <a:t>−i</a:t>
            </a:r>
            <a:r>
              <a:rPr lang="en-US" sz="2200" i="1" dirty="0">
                <a:solidFill>
                  <a:schemeClr val="tx1"/>
                </a:solidFill>
              </a:rPr>
              <a:t>)   ≤   Σ</a:t>
            </a:r>
            <a:r>
              <a:rPr lang="en-US" sz="1700" i="1" baseline="-25000" dirty="0">
                <a:solidFill>
                  <a:schemeClr val="tx1"/>
                </a:solidFill>
              </a:rPr>
              <a:t>a−i</a:t>
            </a:r>
            <a:r>
              <a:rPr lang="en-US" sz="2200" i="1" dirty="0">
                <a:solidFill>
                  <a:schemeClr val="tx1"/>
                </a:solidFill>
              </a:rPr>
              <a:t> π(a</a:t>
            </a:r>
            <a:r>
              <a:rPr lang="en-US" sz="1700" i="1" baseline="-25000" dirty="0">
                <a:solidFill>
                  <a:schemeClr val="tx1"/>
                </a:solidFill>
              </a:rPr>
              <a:t>i</a:t>
            </a:r>
            <a:r>
              <a:rPr lang="en-US" sz="2200" i="1" dirty="0">
                <a:solidFill>
                  <a:schemeClr val="tx1"/>
                </a:solidFill>
              </a:rPr>
              <a:t>, a</a:t>
            </a:r>
            <a:r>
              <a:rPr lang="en-US" sz="1700" i="1" baseline="-25000" dirty="0">
                <a:solidFill>
                  <a:schemeClr val="tx1"/>
                </a:solidFill>
              </a:rPr>
              <a:t>−i</a:t>
            </a:r>
            <a:r>
              <a:rPr lang="en-US" sz="2200" i="1" dirty="0">
                <a:solidFill>
                  <a:schemeClr val="tx1"/>
                </a:solidFill>
              </a:rPr>
              <a:t>) c</a:t>
            </a:r>
            <a:r>
              <a:rPr lang="en-US" sz="1700" i="1" baseline="-25000" dirty="0">
                <a:solidFill>
                  <a:schemeClr val="tx1"/>
                </a:solidFill>
              </a:rPr>
              <a:t>i</a:t>
            </a:r>
            <a:r>
              <a:rPr lang="en-US" sz="2200" i="1" dirty="0">
                <a:solidFill>
                  <a:schemeClr val="tx1"/>
                </a:solidFill>
              </a:rPr>
              <a:t>(a</a:t>
            </a:r>
            <a:r>
              <a:rPr lang="en-US" sz="1700" i="1" baseline="-25000" dirty="0">
                <a:solidFill>
                  <a:schemeClr val="tx1"/>
                </a:solidFill>
              </a:rPr>
              <a:t>i</a:t>
            </a:r>
            <a:r>
              <a:rPr lang="en-US" sz="2200" i="1" dirty="0">
                <a:solidFill>
                  <a:schemeClr val="tx1"/>
                </a:solidFill>
              </a:rPr>
              <a:t>′, a</a:t>
            </a:r>
            <a:r>
              <a:rPr lang="en-US" sz="1700" i="1" baseline="-25000" dirty="0">
                <a:solidFill>
                  <a:schemeClr val="tx1"/>
                </a:solidFill>
              </a:rPr>
              <a:t>−i</a:t>
            </a:r>
            <a:r>
              <a:rPr lang="en-US" sz="2200" i="1" dirty="0">
                <a:solidFill>
                  <a:schemeClr val="tx1"/>
                </a:solidFill>
              </a:rPr>
              <a:t>)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every player i ∈ N and every a</a:t>
            </a:r>
            <a:r>
              <a:rPr lang="en-US" sz="12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</a:t>
            </a:r>
            <a:r>
              <a:rPr lang="en-US" sz="12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′ ∈ A</a:t>
            </a:r>
            <a:r>
              <a:rPr lang="en-US" sz="12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Together with π(a) ≥ 0 and Σ</a:t>
            </a:r>
            <a:r>
              <a:rPr lang="en-US" sz="1450" baseline="-25000" dirty="0">
                <a:solidFill>
                  <a:schemeClr val="tx1"/>
                </a:solidFill>
              </a:rPr>
              <a:t>a∈A</a:t>
            </a:r>
            <a:r>
              <a:rPr lang="en-US" sz="1900" dirty="0">
                <a:solidFill>
                  <a:schemeClr val="tx1"/>
                </a:solidFill>
              </a:rPr>
              <a:t> π(a) = 1, the correlated equilibrium set is:</a:t>
            </a:r>
          </a:p>
          <a:p>
            <a:pPr marL="0" indent="0" algn="ctr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2400" i="1" dirty="0"/>
              <a:t>Π</a:t>
            </a:r>
            <a:r>
              <a:rPr lang="en-US" i="1" baseline="-25000" dirty="0"/>
              <a:t>CE</a:t>
            </a:r>
            <a:r>
              <a:rPr lang="en-US" sz="1700" i="1" dirty="0">
                <a:solidFill>
                  <a:schemeClr val="tx1"/>
                </a:solidFill>
              </a:rPr>
              <a:t>(Γ)  =  { π ∈ Δ(A)  :  Σ</a:t>
            </a:r>
            <a:r>
              <a:rPr lang="en-US" sz="1300" i="1" baseline="-25000" dirty="0">
                <a:solidFill>
                  <a:schemeClr val="tx1"/>
                </a:solidFill>
              </a:rPr>
              <a:t>a−i</a:t>
            </a:r>
            <a:r>
              <a:rPr lang="en-US" sz="1700" i="1" dirty="0">
                <a:solidFill>
                  <a:schemeClr val="tx1"/>
                </a:solidFill>
              </a:rPr>
              <a:t> π(a</a:t>
            </a:r>
            <a:r>
              <a:rPr lang="en-US" sz="1300" i="1" baseline="-25000" dirty="0">
                <a:solidFill>
                  <a:schemeClr val="tx1"/>
                </a:solidFill>
              </a:rPr>
              <a:t>i</a:t>
            </a:r>
            <a:r>
              <a:rPr lang="en-US" sz="1700" i="1" dirty="0">
                <a:solidFill>
                  <a:schemeClr val="tx1"/>
                </a:solidFill>
              </a:rPr>
              <a:t>, a</a:t>
            </a:r>
            <a:r>
              <a:rPr lang="en-US" sz="1300" i="1" baseline="-25000" dirty="0">
                <a:solidFill>
                  <a:schemeClr val="tx1"/>
                </a:solidFill>
              </a:rPr>
              <a:t>−i</a:t>
            </a:r>
            <a:r>
              <a:rPr lang="en-US" sz="1700" i="1" dirty="0">
                <a:solidFill>
                  <a:schemeClr val="tx1"/>
                </a:solidFill>
              </a:rPr>
              <a:t>) [c</a:t>
            </a:r>
            <a:r>
              <a:rPr lang="en-US" sz="1300" i="1" baseline="-25000" dirty="0">
                <a:solidFill>
                  <a:schemeClr val="tx1"/>
                </a:solidFill>
              </a:rPr>
              <a:t>i</a:t>
            </a:r>
            <a:r>
              <a:rPr lang="en-US" sz="1700" i="1" dirty="0">
                <a:solidFill>
                  <a:schemeClr val="tx1"/>
                </a:solidFill>
              </a:rPr>
              <a:t>(a</a:t>
            </a:r>
            <a:r>
              <a:rPr lang="en-US" sz="1300" i="1" baseline="-25000" dirty="0">
                <a:solidFill>
                  <a:schemeClr val="tx1"/>
                </a:solidFill>
              </a:rPr>
              <a:t>i</a:t>
            </a:r>
            <a:r>
              <a:rPr lang="en-US" sz="1700" i="1" dirty="0">
                <a:solidFill>
                  <a:schemeClr val="tx1"/>
                </a:solidFill>
              </a:rPr>
              <a:t>, a</a:t>
            </a:r>
            <a:r>
              <a:rPr lang="en-US" sz="1300" i="1" baseline="-25000" dirty="0">
                <a:solidFill>
                  <a:schemeClr val="tx1"/>
                </a:solidFill>
              </a:rPr>
              <a:t>−i</a:t>
            </a:r>
            <a:r>
              <a:rPr lang="en-US" sz="1700" i="1" dirty="0">
                <a:solidFill>
                  <a:schemeClr val="tx1"/>
                </a:solidFill>
              </a:rPr>
              <a:t>) − c</a:t>
            </a:r>
            <a:r>
              <a:rPr lang="en-US" sz="1300" i="1" baseline="-25000" dirty="0">
                <a:solidFill>
                  <a:schemeClr val="tx1"/>
                </a:solidFill>
              </a:rPr>
              <a:t>i</a:t>
            </a:r>
            <a:r>
              <a:rPr lang="en-US" sz="1700" i="1" dirty="0">
                <a:solidFill>
                  <a:schemeClr val="tx1"/>
                </a:solidFill>
              </a:rPr>
              <a:t>(a</a:t>
            </a:r>
            <a:r>
              <a:rPr lang="en-US" sz="1300" i="1" baseline="-25000" dirty="0">
                <a:solidFill>
                  <a:schemeClr val="tx1"/>
                </a:solidFill>
              </a:rPr>
              <a:t>i</a:t>
            </a:r>
            <a:r>
              <a:rPr lang="en-US" sz="1700" i="1" dirty="0">
                <a:solidFill>
                  <a:schemeClr val="tx1"/>
                </a:solidFill>
              </a:rPr>
              <a:t>′, a</a:t>
            </a:r>
            <a:r>
              <a:rPr lang="en-US" sz="1300" i="1" baseline="-25000" dirty="0">
                <a:solidFill>
                  <a:schemeClr val="tx1"/>
                </a:solidFill>
              </a:rPr>
              <a:t>−i</a:t>
            </a:r>
            <a:r>
              <a:rPr lang="en-US" sz="1700" i="1" dirty="0">
                <a:solidFill>
                  <a:schemeClr val="tx1"/>
                </a:solidFill>
              </a:rPr>
              <a:t>)]  ≤  0   ∀ i, a</a:t>
            </a:r>
            <a:r>
              <a:rPr lang="en-US" sz="1300" i="1" baseline="-25000" dirty="0">
                <a:solidFill>
                  <a:schemeClr val="tx1"/>
                </a:solidFill>
              </a:rPr>
              <a:t>i</a:t>
            </a:r>
            <a:r>
              <a:rPr lang="en-US" sz="1700" i="1" dirty="0">
                <a:solidFill>
                  <a:schemeClr val="tx1"/>
                </a:solidFill>
              </a:rPr>
              <a:t>, a</a:t>
            </a:r>
            <a:r>
              <a:rPr lang="en-US" sz="1300" i="1" baseline="-25000" dirty="0">
                <a:solidFill>
                  <a:schemeClr val="tx1"/>
                </a:solidFill>
              </a:rPr>
              <a:t>i</a:t>
            </a:r>
            <a:r>
              <a:rPr lang="en-US" sz="1700" i="1" dirty="0">
                <a:solidFill>
                  <a:schemeClr val="tx1"/>
                </a:solidFill>
              </a:rPr>
              <a:t>′ 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Finitely many linear equalities and inequalities in π ⇒ the correlated equilibrium set is a polytope.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6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linearity argument stays true for infinite action spaces. It just has infinitely many inequalities within an infinite dimensional space.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BB7E-D6C8-493D-97B0-33F51DD2EC2C}" type="datetime1">
              <a:rPr lang="da-DK" smtClean="0"/>
              <a:t>15-09-2026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da-D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6</a:t>
            </a:fld>
            <a:endParaRPr lang="da-DK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32819-ECE4-4A59-3BE6-1C2865D07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EBF27-CB08-29DA-C332-0DFB63A0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 and Go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88303-E29B-54D5-A0AD-7CD0F45B70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D06CA-008E-67AE-EAD8-28D4C077C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FFF06D-02B9-35FC-807F-204B1A9C58E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8D74A18-9938-40A4-8E18-43F0A030A0C0}" type="datetime1">
              <a:rPr lang="da-DK" smtClean="0"/>
              <a:t>15-09-2026</a:t>
            </a:fld>
            <a:endParaRPr lang="en-GB"/>
          </a:p>
        </p:txBody>
      </p:sp>
      <p:cxnSp>
        <p:nvCxnSpPr>
          <p:cNvPr id="22" name="Straight Connector Divider">
            <a:extLst>
              <a:ext uri="{FF2B5EF4-FFF2-40B4-BE49-F238E27FC236}">
                <a16:creationId xmlns:a16="http://schemas.microsoft.com/office/drawing/2014/main" id="{AC1D39F9-457F-4657-5ECA-671D327D1AA0}"/>
              </a:ext>
            </a:extLst>
          </p:cNvPr>
          <p:cNvCxnSpPr>
            <a:cxnSpLocks/>
          </p:cNvCxnSpPr>
          <p:nvPr/>
        </p:nvCxnSpPr>
        <p:spPr bwMode="auto">
          <a:xfrm>
            <a:off x="6431489" y="1706399"/>
            <a:ext cx="0" cy="3018745"/>
          </a:xfrm>
          <a:prstGeom prst="line">
            <a:avLst/>
          </a:prstGeom>
          <a:ln w="9525" cap="flat" cmpd="sng" algn="ctr">
            <a:solidFill>
              <a:schemeClr val="tx1">
                <a:lumMod val="35000"/>
                <a:lumOff val="6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Stop and Go">
            <a:extLst>
              <a:ext uri="{FF2B5EF4-FFF2-40B4-BE49-F238E27FC236}">
                <a16:creationId xmlns:a16="http://schemas.microsoft.com/office/drawing/2014/main" id="{0927FC6E-E52A-DB7C-CA9C-CC7B0A136AF3}"/>
              </a:ext>
            </a:extLst>
          </p:cNvPr>
          <p:cNvGraphicFramePr>
            <a:graphicFrameLocks noGrp="1"/>
          </p:cNvGraphicFramePr>
          <p:nvPr/>
        </p:nvGraphicFramePr>
        <p:xfrm>
          <a:off x="6847000" y="2565161"/>
          <a:ext cx="4350000" cy="18200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2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Stop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0001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-10, 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2, 0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0002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Stop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0, 2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0, 0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0003"/>
                  </a:ext>
                </a:extLst>
              </a:tr>
            </a:tbl>
          </a:graphicData>
        </a:graphic>
      </p:graphicFrame>
      <p:sp>
        <p:nvSpPr>
          <p:cNvPr id="21" name="Caption TextBox">
            <a:extLst>
              <a:ext uri="{FF2B5EF4-FFF2-40B4-BE49-F238E27FC236}">
                <a16:creationId xmlns:a16="http://schemas.microsoft.com/office/drawing/2014/main" id="{B1540BDF-BCC3-9B22-BB25-F2E3889C95FC}"/>
              </a:ext>
            </a:extLst>
          </p:cNvPr>
          <p:cNvSpPr txBox="1"/>
          <p:nvPr/>
        </p:nvSpPr>
        <p:spPr>
          <a:xfrm>
            <a:off x="6847000" y="1844824"/>
            <a:ext cx="4413068" cy="54373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Two drivers approach the intersection at the same time.</a:t>
            </a:r>
          </a:p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Payoff matrix:</a:t>
            </a:r>
          </a:p>
        </p:txBody>
      </p:sp>
      <p:sp>
        <p:nvSpPr>
          <p:cNvPr id="101" name="Road Vertical">
            <a:extLst>
              <a:ext uri="{FF2B5EF4-FFF2-40B4-BE49-F238E27FC236}">
                <a16:creationId xmlns:a16="http://schemas.microsoft.com/office/drawing/2014/main" id="{B669D620-1884-3219-1681-BA8A21F93A73}"/>
              </a:ext>
            </a:extLst>
          </p:cNvPr>
          <p:cNvSpPr/>
          <p:nvPr/>
        </p:nvSpPr>
        <p:spPr>
          <a:xfrm>
            <a:off x="3554888" y="1706399"/>
            <a:ext cx="850000" cy="2860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Road Horizontal">
            <a:extLst>
              <a:ext uri="{FF2B5EF4-FFF2-40B4-BE49-F238E27FC236}">
                <a16:creationId xmlns:a16="http://schemas.microsoft.com/office/drawing/2014/main" id="{A417D6A9-9C6E-3C35-18A8-F7F439624D2E}"/>
              </a:ext>
            </a:extLst>
          </p:cNvPr>
          <p:cNvSpPr/>
          <p:nvPr/>
        </p:nvSpPr>
        <p:spPr>
          <a:xfrm>
            <a:off x="1774800" y="2711399"/>
            <a:ext cx="4410177" cy="850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03" name="Lane Dash Top">
            <a:extLst>
              <a:ext uri="{FF2B5EF4-FFF2-40B4-BE49-F238E27FC236}">
                <a16:creationId xmlns:a16="http://schemas.microsoft.com/office/drawing/2014/main" id="{15096B9A-75EF-709C-606F-53B1A75FDC17}"/>
              </a:ext>
            </a:extLst>
          </p:cNvPr>
          <p:cNvCxnSpPr/>
          <p:nvPr/>
        </p:nvCxnSpPr>
        <p:spPr>
          <a:xfrm>
            <a:off x="3979888" y="1706399"/>
            <a:ext cx="0" cy="98500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Lane Dash Bottom">
            <a:extLst>
              <a:ext uri="{FF2B5EF4-FFF2-40B4-BE49-F238E27FC236}">
                <a16:creationId xmlns:a16="http://schemas.microsoft.com/office/drawing/2014/main" id="{93810BA3-6FEB-2E88-A4C7-A37072367F3C}"/>
              </a:ext>
            </a:extLst>
          </p:cNvPr>
          <p:cNvCxnSpPr/>
          <p:nvPr/>
        </p:nvCxnSpPr>
        <p:spPr>
          <a:xfrm>
            <a:off x="3979888" y="3581399"/>
            <a:ext cx="0" cy="98500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Lane Dash Left">
            <a:extLst>
              <a:ext uri="{FF2B5EF4-FFF2-40B4-BE49-F238E27FC236}">
                <a16:creationId xmlns:a16="http://schemas.microsoft.com/office/drawing/2014/main" id="{42D631C7-776C-9D24-19EC-FD49CC515A53}"/>
              </a:ext>
            </a:extLst>
          </p:cNvPr>
          <p:cNvCxnSpPr/>
          <p:nvPr/>
        </p:nvCxnSpPr>
        <p:spPr>
          <a:xfrm>
            <a:off x="1774800" y="3136399"/>
            <a:ext cx="1760088" cy="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Lane Dash Right">
            <a:extLst>
              <a:ext uri="{FF2B5EF4-FFF2-40B4-BE49-F238E27FC236}">
                <a16:creationId xmlns:a16="http://schemas.microsoft.com/office/drawing/2014/main" id="{54334BD5-2BF8-3BAB-3449-266973FF75F3}"/>
              </a:ext>
            </a:extLst>
          </p:cNvPr>
          <p:cNvCxnSpPr/>
          <p:nvPr/>
        </p:nvCxnSpPr>
        <p:spPr>
          <a:xfrm>
            <a:off x="4424888" y="3136399"/>
            <a:ext cx="1760089" cy="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ar 1">
            <a:extLst>
              <a:ext uri="{FF2B5EF4-FFF2-40B4-BE49-F238E27FC236}">
                <a16:creationId xmlns:a16="http://schemas.microsoft.com/office/drawing/2014/main" id="{516D4B2D-0729-C40D-04EF-5DCF055299C9}"/>
              </a:ext>
            </a:extLst>
          </p:cNvPr>
          <p:cNvSpPr/>
          <p:nvPr/>
        </p:nvSpPr>
        <p:spPr>
          <a:xfrm>
            <a:off x="3739888" y="1891399"/>
            <a:ext cx="480000" cy="68000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9525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Arrow 1">
            <a:extLst>
              <a:ext uri="{FF2B5EF4-FFF2-40B4-BE49-F238E27FC236}">
                <a16:creationId xmlns:a16="http://schemas.microsoft.com/office/drawing/2014/main" id="{98F23022-5646-F774-4C5D-9B23C0DE013C}"/>
              </a:ext>
            </a:extLst>
          </p:cNvPr>
          <p:cNvSpPr/>
          <p:nvPr/>
        </p:nvSpPr>
        <p:spPr>
          <a:xfrm rot="10800000">
            <a:off x="3859888" y="2586399"/>
            <a:ext cx="240000" cy="13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Label Car 1">
            <a:extLst>
              <a:ext uri="{FF2B5EF4-FFF2-40B4-BE49-F238E27FC236}">
                <a16:creationId xmlns:a16="http://schemas.microsoft.com/office/drawing/2014/main" id="{8B3B394D-E5B9-1A1C-D5A4-A324162606F2}"/>
              </a:ext>
            </a:extLst>
          </p:cNvPr>
          <p:cNvSpPr txBox="1"/>
          <p:nvPr/>
        </p:nvSpPr>
        <p:spPr>
          <a:xfrm>
            <a:off x="3739888" y="1386399"/>
            <a:ext cx="165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1" dirty="0">
                <a:solidFill>
                  <a:schemeClr val="accent2"/>
                </a:solidFill>
                <a:latin typeface="+mn-lt"/>
              </a:rPr>
              <a:t>Driver 1</a:t>
            </a:r>
          </a:p>
        </p:txBody>
      </p:sp>
      <p:sp>
        <p:nvSpPr>
          <p:cNvPr id="110" name="Car 2">
            <a:extLst>
              <a:ext uri="{FF2B5EF4-FFF2-40B4-BE49-F238E27FC236}">
                <a16:creationId xmlns:a16="http://schemas.microsoft.com/office/drawing/2014/main" id="{8A25D637-2EBC-39B9-0758-1AC3F6B9CD5C}"/>
              </a:ext>
            </a:extLst>
          </p:cNvPr>
          <p:cNvSpPr/>
          <p:nvPr/>
        </p:nvSpPr>
        <p:spPr>
          <a:xfrm>
            <a:off x="2734888" y="2896399"/>
            <a:ext cx="680000" cy="48000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Arrow 2">
            <a:extLst>
              <a:ext uri="{FF2B5EF4-FFF2-40B4-BE49-F238E27FC236}">
                <a16:creationId xmlns:a16="http://schemas.microsoft.com/office/drawing/2014/main" id="{89EBB176-7822-A36C-6AAA-870EE561AB65}"/>
              </a:ext>
            </a:extLst>
          </p:cNvPr>
          <p:cNvSpPr/>
          <p:nvPr/>
        </p:nvSpPr>
        <p:spPr>
          <a:xfrm rot="5400000">
            <a:off x="3476400" y="3016399"/>
            <a:ext cx="130000" cy="240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Label Car 2">
            <a:extLst>
              <a:ext uri="{FF2B5EF4-FFF2-40B4-BE49-F238E27FC236}">
                <a16:creationId xmlns:a16="http://schemas.microsoft.com/office/drawing/2014/main" id="{08414B79-EB64-0710-25B1-5F5F2941AFE5}"/>
              </a:ext>
            </a:extLst>
          </p:cNvPr>
          <p:cNvSpPr txBox="1"/>
          <p:nvPr/>
        </p:nvSpPr>
        <p:spPr>
          <a:xfrm>
            <a:off x="2374977" y="2435013"/>
            <a:ext cx="14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1" dirty="0">
                <a:solidFill>
                  <a:schemeClr val="accent1"/>
                </a:solidFill>
                <a:latin typeface="+mn-lt"/>
              </a:rPr>
              <a:t>Driver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ADB353-29D5-16AB-F577-635BBB16CE21}"/>
              </a:ext>
            </a:extLst>
          </p:cNvPr>
          <p:cNvSpPr txBox="1"/>
          <p:nvPr/>
        </p:nvSpPr>
        <p:spPr>
          <a:xfrm>
            <a:off x="4219888" y="2035949"/>
            <a:ext cx="85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861FAF-78F2-2E81-6570-3C62CB793121}"/>
              </a:ext>
            </a:extLst>
          </p:cNvPr>
          <p:cNvSpPr txBox="1"/>
          <p:nvPr/>
        </p:nvSpPr>
        <p:spPr>
          <a:xfrm>
            <a:off x="2937493" y="3545789"/>
            <a:ext cx="85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5E9402-E7CC-7033-EECE-0D6B6A52CA84}"/>
              </a:ext>
            </a:extLst>
          </p:cNvPr>
          <p:cNvSpPr txBox="1"/>
          <p:nvPr/>
        </p:nvSpPr>
        <p:spPr>
          <a:xfrm>
            <a:off x="3291092" y="3740053"/>
            <a:ext cx="10259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dirty="0">
                <a:solidFill>
                  <a:srgbClr val="FF0000"/>
                </a:solidFill>
                <a:latin typeface="+mn-lt"/>
              </a:rPr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6D31CE-3D43-39D5-89A4-B0DCF7C4256D}"/>
              </a:ext>
            </a:extLst>
          </p:cNvPr>
          <p:cNvSpPr txBox="1"/>
          <p:nvPr/>
        </p:nvSpPr>
        <p:spPr>
          <a:xfrm>
            <a:off x="4583500" y="2221222"/>
            <a:ext cx="10259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dirty="0">
                <a:solidFill>
                  <a:srgbClr val="FF0000"/>
                </a:solidFill>
                <a:latin typeface="+mn-lt"/>
              </a:rPr>
              <a:t>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CB582F-3D38-74AB-5503-2C2E06024C36}"/>
              </a:ext>
            </a:extLst>
          </p:cNvPr>
          <p:cNvSpPr txBox="1"/>
          <p:nvPr/>
        </p:nvSpPr>
        <p:spPr>
          <a:xfrm>
            <a:off x="4716501" y="5348490"/>
            <a:ext cx="342882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Do you see any Correlated equilibria?</a:t>
            </a:r>
          </a:p>
        </p:txBody>
      </p:sp>
    </p:spTree>
    <p:extLst>
      <p:ext uri="{BB962C8B-B14F-4D97-AF65-F5344CB8AC3E}">
        <p14:creationId xmlns:p14="http://schemas.microsoft.com/office/powerpoint/2010/main" val="2498286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The CE set for Stop and 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9019" y="1124744"/>
            <a:ext cx="9312374" cy="4839202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Write </a:t>
            </a:r>
            <a:r>
              <a:rPr lang="en-US" sz="1700" dirty="0"/>
              <a:t>p</a:t>
            </a:r>
            <a:r>
              <a:rPr lang="en-US" sz="1300" baseline="-25000" dirty="0">
                <a:solidFill>
                  <a:schemeClr val="tx1"/>
                </a:solidFill>
              </a:rPr>
              <a:t>1</a:t>
            </a:r>
            <a:r>
              <a:rPr lang="en-US" sz="1700" dirty="0">
                <a:solidFill>
                  <a:schemeClr val="tx1"/>
                </a:solidFill>
              </a:rPr>
              <a:t>=π(G,G), p</a:t>
            </a:r>
            <a:r>
              <a:rPr lang="en-US" sz="1300" baseline="-25000" dirty="0">
                <a:solidFill>
                  <a:schemeClr val="tx1"/>
                </a:solidFill>
              </a:rPr>
              <a:t>2</a:t>
            </a:r>
            <a:r>
              <a:rPr lang="en-US" sz="1700" dirty="0">
                <a:solidFill>
                  <a:schemeClr val="tx1"/>
                </a:solidFill>
              </a:rPr>
              <a:t>=π(G,S), p</a:t>
            </a:r>
            <a:r>
              <a:rPr lang="en-US" sz="1300" baseline="-25000" dirty="0">
                <a:solidFill>
                  <a:schemeClr val="tx1"/>
                </a:solidFill>
              </a:rPr>
              <a:t>3</a:t>
            </a:r>
            <a:r>
              <a:rPr lang="en-US" sz="1700" dirty="0">
                <a:solidFill>
                  <a:schemeClr val="tx1"/>
                </a:solidFill>
              </a:rPr>
              <a:t>=π(S,G), p</a:t>
            </a:r>
            <a:r>
              <a:rPr lang="en-US" sz="1300" baseline="-25000" dirty="0">
                <a:solidFill>
                  <a:schemeClr val="tx1"/>
                </a:solidFill>
              </a:rPr>
              <a:t>4</a:t>
            </a:r>
            <a:r>
              <a:rPr lang="en-US" sz="1700" dirty="0">
                <a:solidFill>
                  <a:schemeClr val="tx1"/>
                </a:solidFill>
              </a:rPr>
              <a:t>=π(S,S). Then </a:t>
            </a:r>
            <a:r>
              <a:rPr lang="en-US" sz="1700" i="1" dirty="0"/>
              <a:t>Π</a:t>
            </a:r>
            <a:r>
              <a:rPr lang="en-US" sz="1300" i="1" baseline="-25000" dirty="0"/>
              <a:t>CE</a:t>
            </a:r>
            <a:r>
              <a:rPr lang="en-US" sz="1700" i="1" dirty="0"/>
              <a:t>(Γ) </a:t>
            </a:r>
            <a:r>
              <a:rPr lang="en-US" sz="1700" dirty="0">
                <a:solidFill>
                  <a:schemeClr val="tx1"/>
                </a:solidFill>
              </a:rPr>
              <a:t>is given by:</a:t>
            </a:r>
          </a:p>
          <a:p>
            <a:pPr marL="0" indent="0"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IC (i=1, ai=G):    </a:t>
            </a:r>
            <a:r>
              <a:rPr lang="en-US" sz="2000" i="1" dirty="0">
                <a:solidFill>
                  <a:schemeClr val="tx1"/>
                </a:solidFill>
              </a:rPr>
              <a:t>−10 p</a:t>
            </a:r>
            <a:r>
              <a:rPr lang="en-US" sz="1550" i="1" baseline="-25000" dirty="0">
                <a:solidFill>
                  <a:schemeClr val="tx1"/>
                </a:solidFill>
              </a:rPr>
              <a:t>1</a:t>
            </a:r>
            <a:r>
              <a:rPr lang="en-US" sz="2000" i="1" dirty="0">
                <a:solidFill>
                  <a:schemeClr val="tx1"/>
                </a:solidFill>
              </a:rPr>
              <a:t> + 2 p</a:t>
            </a:r>
            <a:r>
              <a:rPr lang="en-US" sz="1550" i="1" baseline="-25000" dirty="0">
                <a:solidFill>
                  <a:schemeClr val="tx1"/>
                </a:solidFill>
              </a:rPr>
              <a:t>2</a:t>
            </a:r>
            <a:r>
              <a:rPr lang="en-US" sz="2000" i="1" dirty="0">
                <a:solidFill>
                  <a:schemeClr val="tx1"/>
                </a:solidFill>
              </a:rPr>
              <a:t>   ≤   0</a:t>
            </a:r>
          </a:p>
          <a:p>
            <a:pPr marL="0" indent="0"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IC (i=1, ai=S):    </a:t>
            </a:r>
            <a:r>
              <a:rPr lang="en-US" sz="2000" i="1" dirty="0">
                <a:solidFill>
                  <a:schemeClr val="tx1"/>
                </a:solidFill>
              </a:rPr>
              <a:t>10 p</a:t>
            </a:r>
            <a:r>
              <a:rPr lang="en-US" sz="1550" i="1" baseline="-25000" dirty="0">
                <a:solidFill>
                  <a:schemeClr val="tx1"/>
                </a:solidFill>
              </a:rPr>
              <a:t>3</a:t>
            </a:r>
            <a:r>
              <a:rPr lang="en-US" sz="2000" i="1" dirty="0">
                <a:solidFill>
                  <a:schemeClr val="tx1"/>
                </a:solidFill>
              </a:rPr>
              <a:t> − 2 p</a:t>
            </a:r>
            <a:r>
              <a:rPr lang="en-US" sz="1550" i="1" baseline="-25000" dirty="0">
                <a:solidFill>
                  <a:schemeClr val="tx1"/>
                </a:solidFill>
              </a:rPr>
              <a:t>4</a:t>
            </a:r>
            <a:r>
              <a:rPr lang="en-US" sz="2000" i="1" dirty="0">
                <a:solidFill>
                  <a:schemeClr val="tx1"/>
                </a:solidFill>
              </a:rPr>
              <a:t>   ≤   0</a:t>
            </a:r>
          </a:p>
          <a:p>
            <a:pPr marL="0" indent="0"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IC (i=2, ai=G):    </a:t>
            </a:r>
            <a:r>
              <a:rPr lang="en-US" sz="2000" i="1" dirty="0">
                <a:solidFill>
                  <a:schemeClr val="tx1"/>
                </a:solidFill>
              </a:rPr>
              <a:t>−11 p</a:t>
            </a:r>
            <a:r>
              <a:rPr lang="en-US" sz="1550" i="1" baseline="-25000" dirty="0">
                <a:solidFill>
                  <a:schemeClr val="tx1"/>
                </a:solidFill>
              </a:rPr>
              <a:t>1</a:t>
            </a:r>
            <a:r>
              <a:rPr lang="en-US" sz="2000" i="1" dirty="0">
                <a:solidFill>
                  <a:schemeClr val="tx1"/>
                </a:solidFill>
              </a:rPr>
              <a:t> + 2 p</a:t>
            </a:r>
            <a:r>
              <a:rPr lang="en-US" sz="1550" i="1" baseline="-25000" dirty="0">
                <a:solidFill>
                  <a:schemeClr val="tx1"/>
                </a:solidFill>
              </a:rPr>
              <a:t>3</a:t>
            </a:r>
            <a:r>
              <a:rPr lang="en-US" sz="2000" i="1" dirty="0">
                <a:solidFill>
                  <a:schemeClr val="tx1"/>
                </a:solidFill>
              </a:rPr>
              <a:t>   ≤   0</a:t>
            </a:r>
          </a:p>
          <a:p>
            <a:pPr marL="0" indent="0"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IC (i=2, ai=S):    </a:t>
            </a:r>
            <a:r>
              <a:rPr lang="en-US" sz="2000" i="1" dirty="0">
                <a:solidFill>
                  <a:schemeClr val="tx1"/>
                </a:solidFill>
              </a:rPr>
              <a:t>11 p</a:t>
            </a:r>
            <a:r>
              <a:rPr lang="en-US" sz="1550" i="1" baseline="-25000" dirty="0">
                <a:solidFill>
                  <a:schemeClr val="tx1"/>
                </a:solidFill>
              </a:rPr>
              <a:t>2</a:t>
            </a:r>
            <a:r>
              <a:rPr lang="en-US" sz="2000" i="1" dirty="0">
                <a:solidFill>
                  <a:schemeClr val="tx1"/>
                </a:solidFill>
              </a:rPr>
              <a:t> − 2 p</a:t>
            </a:r>
            <a:r>
              <a:rPr lang="en-US" sz="1550" i="1" baseline="-25000" dirty="0">
                <a:solidFill>
                  <a:schemeClr val="tx1"/>
                </a:solidFill>
              </a:rPr>
              <a:t>4</a:t>
            </a:r>
            <a:r>
              <a:rPr lang="en-US" sz="2000" i="1" dirty="0">
                <a:solidFill>
                  <a:schemeClr val="tx1"/>
                </a:solidFill>
              </a:rPr>
              <a:t>   ≤   0</a:t>
            </a:r>
          </a:p>
          <a:p>
            <a:pPr marL="0" indent="0"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Normalization:      </a:t>
            </a:r>
            <a:r>
              <a:rPr lang="en-US" sz="2000" i="1" dirty="0"/>
              <a:t>p</a:t>
            </a:r>
            <a:r>
              <a:rPr lang="en-US" sz="1550" i="1" baseline="-25000" dirty="0">
                <a:solidFill>
                  <a:schemeClr val="tx1"/>
                </a:solidFill>
              </a:rPr>
              <a:t>1</a:t>
            </a:r>
            <a:r>
              <a:rPr lang="en-US" sz="2000" i="1" dirty="0">
                <a:solidFill>
                  <a:schemeClr val="tx1"/>
                </a:solidFill>
              </a:rPr>
              <a:t> + p</a:t>
            </a:r>
            <a:r>
              <a:rPr lang="en-US" sz="1550" i="1" baseline="-25000" dirty="0">
                <a:solidFill>
                  <a:schemeClr val="tx1"/>
                </a:solidFill>
              </a:rPr>
              <a:t>2</a:t>
            </a:r>
            <a:r>
              <a:rPr lang="en-US" sz="2000" i="1" dirty="0">
                <a:solidFill>
                  <a:schemeClr val="tx1"/>
                </a:solidFill>
              </a:rPr>
              <a:t> + p</a:t>
            </a:r>
            <a:r>
              <a:rPr lang="en-US" sz="1550" i="1" baseline="-25000" dirty="0">
                <a:solidFill>
                  <a:schemeClr val="tx1"/>
                </a:solidFill>
              </a:rPr>
              <a:t>3</a:t>
            </a:r>
            <a:r>
              <a:rPr lang="en-US" sz="2000" i="1" dirty="0">
                <a:solidFill>
                  <a:schemeClr val="tx1"/>
                </a:solidFill>
              </a:rPr>
              <a:t> + p</a:t>
            </a:r>
            <a:r>
              <a:rPr lang="en-US" sz="1550" i="1" baseline="-25000" dirty="0">
                <a:solidFill>
                  <a:schemeClr val="tx1"/>
                </a:solidFill>
              </a:rPr>
              <a:t>4</a:t>
            </a:r>
            <a:r>
              <a:rPr lang="en-US" sz="2000" i="1" dirty="0">
                <a:solidFill>
                  <a:schemeClr val="tx1"/>
                </a:solidFill>
              </a:rPr>
              <a:t>   =   1</a:t>
            </a:r>
          </a:p>
          <a:p>
            <a:pPr marL="0" indent="0"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Nonnegativity:      </a:t>
            </a:r>
            <a:r>
              <a:rPr lang="en-US" sz="2000" i="1" dirty="0"/>
              <a:t>p</a:t>
            </a:r>
            <a:r>
              <a:rPr lang="en-US" sz="1550" i="1" baseline="-25000" dirty="0">
                <a:solidFill>
                  <a:schemeClr val="tx1"/>
                </a:solidFill>
              </a:rPr>
              <a:t>1</a:t>
            </a:r>
            <a:r>
              <a:rPr lang="en-US" sz="2000" i="1" dirty="0">
                <a:solidFill>
                  <a:schemeClr val="tx1"/>
                </a:solidFill>
              </a:rPr>
              <a:t>, p</a:t>
            </a:r>
            <a:r>
              <a:rPr lang="en-US" sz="1550" i="1" baseline="-25000" dirty="0">
                <a:solidFill>
                  <a:schemeClr val="tx1"/>
                </a:solidFill>
              </a:rPr>
              <a:t>2</a:t>
            </a:r>
            <a:r>
              <a:rPr lang="en-US" sz="2000" i="1" dirty="0">
                <a:solidFill>
                  <a:schemeClr val="tx1"/>
                </a:solidFill>
              </a:rPr>
              <a:t>, p</a:t>
            </a:r>
            <a:r>
              <a:rPr lang="en-US" sz="1550" i="1" baseline="-25000" dirty="0">
                <a:solidFill>
                  <a:schemeClr val="tx1"/>
                </a:solidFill>
              </a:rPr>
              <a:t>3</a:t>
            </a:r>
            <a:r>
              <a:rPr lang="en-US" sz="2000" i="1" dirty="0">
                <a:solidFill>
                  <a:schemeClr val="tx1"/>
                </a:solidFill>
              </a:rPr>
              <a:t>, p</a:t>
            </a:r>
            <a:r>
              <a:rPr lang="en-US" sz="1550" i="1" baseline="-25000" dirty="0">
                <a:solidFill>
                  <a:schemeClr val="tx1"/>
                </a:solidFill>
              </a:rPr>
              <a:t>4</a:t>
            </a:r>
            <a:r>
              <a:rPr lang="en-US" sz="2000" i="1" dirty="0">
                <a:solidFill>
                  <a:schemeClr val="tx1"/>
                </a:solidFill>
              </a:rPr>
              <a:t>   ≥   0</a:t>
            </a:r>
          </a:p>
          <a:p>
            <a:pPr marL="0" indent="0">
              <a:spcBef>
                <a:spcPts val="35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One inequality per pair of actions in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</a:t>
            </a:r>
            <a:r>
              <a:rPr lang="en-US" sz="12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5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x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</a:t>
            </a:r>
            <a:r>
              <a:rPr lang="en-US" sz="12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5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marL="0" indent="0">
              <a:spcBef>
                <a:spcPts val="35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Size grows O(|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</a:t>
            </a:r>
            <a:r>
              <a:rPr lang="en-US" sz="12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 </a:t>
            </a:r>
            <a:r>
              <a:rPr lang="en-US" sz="15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|^2).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2C99-51F4-44C7-A3C4-FA5F848140AE}" type="datetime1">
              <a:rPr lang="da-DK" smtClean="0"/>
              <a:t>15-09-2026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da-D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8</a:t>
            </a:fld>
            <a:endParaRPr lang="da-DK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10D8B-028A-F0A5-1F67-BAB53834F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B7736-A3F1-1023-38DC-214FDE241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 and Go and Slow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8920D-784B-D071-1ECF-7F79D38CF8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8FB83-AE2E-8967-C62C-5BCA9B5419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AFA6DE-88C2-2072-F631-2D4EC379B52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E964F67-9F7D-4C49-B069-6B832D2A29D0}" type="datetime1">
              <a:rPr lang="da-DK" smtClean="0"/>
              <a:t>15-09-2026</a:t>
            </a:fld>
            <a:endParaRPr lang="en-GB"/>
          </a:p>
        </p:txBody>
      </p:sp>
      <p:cxnSp>
        <p:nvCxnSpPr>
          <p:cNvPr id="22" name="Straight Connector Divider">
            <a:extLst>
              <a:ext uri="{FF2B5EF4-FFF2-40B4-BE49-F238E27FC236}">
                <a16:creationId xmlns:a16="http://schemas.microsoft.com/office/drawing/2014/main" id="{2BEC6FAB-E39A-E823-6B58-C77582D7C827}"/>
              </a:ext>
            </a:extLst>
          </p:cNvPr>
          <p:cNvCxnSpPr>
            <a:cxnSpLocks/>
          </p:cNvCxnSpPr>
          <p:nvPr/>
        </p:nvCxnSpPr>
        <p:spPr bwMode="auto">
          <a:xfrm>
            <a:off x="6431489" y="1706399"/>
            <a:ext cx="0" cy="3018745"/>
          </a:xfrm>
          <a:prstGeom prst="line">
            <a:avLst/>
          </a:prstGeom>
          <a:ln w="9525" cap="flat" cmpd="sng" algn="ctr">
            <a:solidFill>
              <a:schemeClr val="tx1">
                <a:lumMod val="35000"/>
                <a:lumOff val="6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Stop and Go">
            <a:extLst>
              <a:ext uri="{FF2B5EF4-FFF2-40B4-BE49-F238E27FC236}">
                <a16:creationId xmlns:a16="http://schemas.microsoft.com/office/drawing/2014/main" id="{4DF24DC4-4581-E8BB-EF74-B0FF14897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441234"/>
              </p:ext>
            </p:extLst>
          </p:nvPr>
        </p:nvGraphicFramePr>
        <p:xfrm>
          <a:off x="6847000" y="2565161"/>
          <a:ext cx="4350001" cy="24700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921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2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97">
                  <a:extLst>
                    <a:ext uri="{9D8B030D-6E8A-4147-A177-3AD203B41FA5}">
                      <a16:colId xmlns:a16="http://schemas.microsoft.com/office/drawing/2014/main" val="304676471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Stop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0001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-10, 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-10, 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2,0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0002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-10, 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-10, 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1,0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0003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Stop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0,2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0,1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0,0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3441252"/>
                  </a:ext>
                </a:extLst>
              </a:tr>
            </a:tbl>
          </a:graphicData>
        </a:graphic>
      </p:graphicFrame>
      <p:sp>
        <p:nvSpPr>
          <p:cNvPr id="21" name="Caption TextBox">
            <a:extLst>
              <a:ext uri="{FF2B5EF4-FFF2-40B4-BE49-F238E27FC236}">
                <a16:creationId xmlns:a16="http://schemas.microsoft.com/office/drawing/2014/main" id="{534760EB-05AC-6471-5147-165CFF35A5A7}"/>
              </a:ext>
            </a:extLst>
          </p:cNvPr>
          <p:cNvSpPr txBox="1"/>
          <p:nvPr/>
        </p:nvSpPr>
        <p:spPr>
          <a:xfrm>
            <a:off x="6847000" y="1844824"/>
            <a:ext cx="4413068" cy="54373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Two drivers approach the intersection at the same time.</a:t>
            </a:r>
          </a:p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Payoff matrix:</a:t>
            </a:r>
          </a:p>
        </p:txBody>
      </p:sp>
      <p:sp>
        <p:nvSpPr>
          <p:cNvPr id="101" name="Road Vertical">
            <a:extLst>
              <a:ext uri="{FF2B5EF4-FFF2-40B4-BE49-F238E27FC236}">
                <a16:creationId xmlns:a16="http://schemas.microsoft.com/office/drawing/2014/main" id="{7930EC5B-DC30-FF49-CD87-CB0B2D948EBC}"/>
              </a:ext>
            </a:extLst>
          </p:cNvPr>
          <p:cNvSpPr/>
          <p:nvPr/>
        </p:nvSpPr>
        <p:spPr>
          <a:xfrm>
            <a:off x="3554888" y="1706399"/>
            <a:ext cx="850000" cy="2860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Road Horizontal">
            <a:extLst>
              <a:ext uri="{FF2B5EF4-FFF2-40B4-BE49-F238E27FC236}">
                <a16:creationId xmlns:a16="http://schemas.microsoft.com/office/drawing/2014/main" id="{F48AC531-F5EF-8F72-1480-C1292AEAC018}"/>
              </a:ext>
            </a:extLst>
          </p:cNvPr>
          <p:cNvSpPr/>
          <p:nvPr/>
        </p:nvSpPr>
        <p:spPr>
          <a:xfrm>
            <a:off x="1774800" y="2711399"/>
            <a:ext cx="4410177" cy="850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03" name="Lane Dash Top">
            <a:extLst>
              <a:ext uri="{FF2B5EF4-FFF2-40B4-BE49-F238E27FC236}">
                <a16:creationId xmlns:a16="http://schemas.microsoft.com/office/drawing/2014/main" id="{E0FE79F0-619D-5D26-972C-C2CBA84EE1E8}"/>
              </a:ext>
            </a:extLst>
          </p:cNvPr>
          <p:cNvCxnSpPr/>
          <p:nvPr/>
        </p:nvCxnSpPr>
        <p:spPr>
          <a:xfrm>
            <a:off x="3979888" y="1706399"/>
            <a:ext cx="0" cy="98500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Lane Dash Bottom">
            <a:extLst>
              <a:ext uri="{FF2B5EF4-FFF2-40B4-BE49-F238E27FC236}">
                <a16:creationId xmlns:a16="http://schemas.microsoft.com/office/drawing/2014/main" id="{6DC2C035-1A8A-4A73-C217-80D675B85146}"/>
              </a:ext>
            </a:extLst>
          </p:cNvPr>
          <p:cNvCxnSpPr/>
          <p:nvPr/>
        </p:nvCxnSpPr>
        <p:spPr>
          <a:xfrm>
            <a:off x="3979888" y="3581399"/>
            <a:ext cx="0" cy="98500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Lane Dash Left">
            <a:extLst>
              <a:ext uri="{FF2B5EF4-FFF2-40B4-BE49-F238E27FC236}">
                <a16:creationId xmlns:a16="http://schemas.microsoft.com/office/drawing/2014/main" id="{3D0E75C0-623D-C5B4-2A0A-D54895BEC5CE}"/>
              </a:ext>
            </a:extLst>
          </p:cNvPr>
          <p:cNvCxnSpPr/>
          <p:nvPr/>
        </p:nvCxnSpPr>
        <p:spPr>
          <a:xfrm>
            <a:off x="1774800" y="3136399"/>
            <a:ext cx="1760088" cy="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Lane Dash Right">
            <a:extLst>
              <a:ext uri="{FF2B5EF4-FFF2-40B4-BE49-F238E27FC236}">
                <a16:creationId xmlns:a16="http://schemas.microsoft.com/office/drawing/2014/main" id="{DFFD2EDF-23E2-C660-105B-E897D46630B7}"/>
              </a:ext>
            </a:extLst>
          </p:cNvPr>
          <p:cNvCxnSpPr/>
          <p:nvPr/>
        </p:nvCxnSpPr>
        <p:spPr>
          <a:xfrm>
            <a:off x="4424888" y="3136399"/>
            <a:ext cx="1760089" cy="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ar 1">
            <a:extLst>
              <a:ext uri="{FF2B5EF4-FFF2-40B4-BE49-F238E27FC236}">
                <a16:creationId xmlns:a16="http://schemas.microsoft.com/office/drawing/2014/main" id="{2ED25830-ACC7-0C19-EF88-6E25D5D831D6}"/>
              </a:ext>
            </a:extLst>
          </p:cNvPr>
          <p:cNvSpPr/>
          <p:nvPr/>
        </p:nvSpPr>
        <p:spPr>
          <a:xfrm>
            <a:off x="3739888" y="1891399"/>
            <a:ext cx="480000" cy="68000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9525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Arrow 1">
            <a:extLst>
              <a:ext uri="{FF2B5EF4-FFF2-40B4-BE49-F238E27FC236}">
                <a16:creationId xmlns:a16="http://schemas.microsoft.com/office/drawing/2014/main" id="{05FCC6FA-30C9-7086-F991-B93E81FD2176}"/>
              </a:ext>
            </a:extLst>
          </p:cNvPr>
          <p:cNvSpPr/>
          <p:nvPr/>
        </p:nvSpPr>
        <p:spPr>
          <a:xfrm rot="10800000">
            <a:off x="3859888" y="2586399"/>
            <a:ext cx="240000" cy="13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Label Car 1">
            <a:extLst>
              <a:ext uri="{FF2B5EF4-FFF2-40B4-BE49-F238E27FC236}">
                <a16:creationId xmlns:a16="http://schemas.microsoft.com/office/drawing/2014/main" id="{78DE4DA9-2F31-BA4B-3362-FE521B7E65F4}"/>
              </a:ext>
            </a:extLst>
          </p:cNvPr>
          <p:cNvSpPr txBox="1"/>
          <p:nvPr/>
        </p:nvSpPr>
        <p:spPr>
          <a:xfrm>
            <a:off x="3739888" y="1386399"/>
            <a:ext cx="165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1" dirty="0">
                <a:solidFill>
                  <a:schemeClr val="accent2"/>
                </a:solidFill>
                <a:latin typeface="+mn-lt"/>
              </a:rPr>
              <a:t>Driver 1</a:t>
            </a:r>
          </a:p>
        </p:txBody>
      </p:sp>
      <p:sp>
        <p:nvSpPr>
          <p:cNvPr id="110" name="Car 2">
            <a:extLst>
              <a:ext uri="{FF2B5EF4-FFF2-40B4-BE49-F238E27FC236}">
                <a16:creationId xmlns:a16="http://schemas.microsoft.com/office/drawing/2014/main" id="{FDA8A052-DD2E-E2DE-0459-FCD7B70EA2D5}"/>
              </a:ext>
            </a:extLst>
          </p:cNvPr>
          <p:cNvSpPr/>
          <p:nvPr/>
        </p:nvSpPr>
        <p:spPr>
          <a:xfrm>
            <a:off x="2734888" y="2896399"/>
            <a:ext cx="680000" cy="48000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Arrow 2">
            <a:extLst>
              <a:ext uri="{FF2B5EF4-FFF2-40B4-BE49-F238E27FC236}">
                <a16:creationId xmlns:a16="http://schemas.microsoft.com/office/drawing/2014/main" id="{A5189C73-91AF-BDA0-A2EA-CD308F9CDA82}"/>
              </a:ext>
            </a:extLst>
          </p:cNvPr>
          <p:cNvSpPr/>
          <p:nvPr/>
        </p:nvSpPr>
        <p:spPr>
          <a:xfrm rot="5400000">
            <a:off x="3476400" y="3016399"/>
            <a:ext cx="130000" cy="240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Label Car 2">
            <a:extLst>
              <a:ext uri="{FF2B5EF4-FFF2-40B4-BE49-F238E27FC236}">
                <a16:creationId xmlns:a16="http://schemas.microsoft.com/office/drawing/2014/main" id="{6C61C981-0C1A-5C55-A85A-3BA3830CA9FA}"/>
              </a:ext>
            </a:extLst>
          </p:cNvPr>
          <p:cNvSpPr txBox="1"/>
          <p:nvPr/>
        </p:nvSpPr>
        <p:spPr>
          <a:xfrm>
            <a:off x="2374977" y="2435013"/>
            <a:ext cx="14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1" dirty="0">
                <a:solidFill>
                  <a:schemeClr val="accent1"/>
                </a:solidFill>
                <a:latin typeface="+mn-lt"/>
              </a:rPr>
              <a:t>Driver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DB2A50-F19A-2BFD-EEE6-21C3F27E7A50}"/>
              </a:ext>
            </a:extLst>
          </p:cNvPr>
          <p:cNvSpPr txBox="1"/>
          <p:nvPr/>
        </p:nvSpPr>
        <p:spPr>
          <a:xfrm>
            <a:off x="4219888" y="2035949"/>
            <a:ext cx="85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F7DD4C-993C-DFAC-1F61-D47104020FA8}"/>
              </a:ext>
            </a:extLst>
          </p:cNvPr>
          <p:cNvSpPr txBox="1"/>
          <p:nvPr/>
        </p:nvSpPr>
        <p:spPr>
          <a:xfrm>
            <a:off x="2937493" y="3545789"/>
            <a:ext cx="85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682FE-0355-D879-ED58-20A7DA3043A4}"/>
              </a:ext>
            </a:extLst>
          </p:cNvPr>
          <p:cNvSpPr txBox="1"/>
          <p:nvPr/>
        </p:nvSpPr>
        <p:spPr>
          <a:xfrm>
            <a:off x="3859887" y="5449980"/>
            <a:ext cx="423994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Can a correlated equilibrium have full support?</a:t>
            </a:r>
          </a:p>
        </p:txBody>
      </p:sp>
    </p:spTree>
    <p:extLst>
      <p:ext uri="{BB962C8B-B14F-4D97-AF65-F5344CB8AC3E}">
        <p14:creationId xmlns:p14="http://schemas.microsoft.com/office/powerpoint/2010/main" val="274469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33522-D0F2-52A8-A068-012AD61FA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7C78E-2650-0EEB-3807-C3BD6EDD1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 and Go and Slow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90E9B-F03D-855D-72C2-BFEFF1558C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06453-4F86-E46E-EA25-F8CC8A68E3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7B5E6F-7B13-20CC-9A91-EA159405B4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8AC1197-2BE2-4794-87C7-8653A7A3F522}" type="datetime1">
              <a:rPr lang="da-DK" smtClean="0"/>
              <a:t>15-09-2026</a:t>
            </a:fld>
            <a:endParaRPr lang="en-GB"/>
          </a:p>
        </p:txBody>
      </p:sp>
      <p:cxnSp>
        <p:nvCxnSpPr>
          <p:cNvPr id="22" name="Straight Connector Divider">
            <a:extLst>
              <a:ext uri="{FF2B5EF4-FFF2-40B4-BE49-F238E27FC236}">
                <a16:creationId xmlns:a16="http://schemas.microsoft.com/office/drawing/2014/main" id="{66903E2F-04FF-6F5C-7911-58A4187A9CF3}"/>
              </a:ext>
            </a:extLst>
          </p:cNvPr>
          <p:cNvCxnSpPr>
            <a:cxnSpLocks/>
          </p:cNvCxnSpPr>
          <p:nvPr/>
        </p:nvCxnSpPr>
        <p:spPr bwMode="auto">
          <a:xfrm>
            <a:off x="6431489" y="1706399"/>
            <a:ext cx="0" cy="3018745"/>
          </a:xfrm>
          <a:prstGeom prst="line">
            <a:avLst/>
          </a:prstGeom>
          <a:ln w="9525" cap="flat" cmpd="sng" algn="ctr">
            <a:solidFill>
              <a:schemeClr val="tx1">
                <a:lumMod val="35000"/>
                <a:lumOff val="6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oad Vertical">
            <a:extLst>
              <a:ext uri="{FF2B5EF4-FFF2-40B4-BE49-F238E27FC236}">
                <a16:creationId xmlns:a16="http://schemas.microsoft.com/office/drawing/2014/main" id="{E59390C9-4CFA-8BF5-5E42-093A2CA23FA5}"/>
              </a:ext>
            </a:extLst>
          </p:cNvPr>
          <p:cNvSpPr/>
          <p:nvPr/>
        </p:nvSpPr>
        <p:spPr>
          <a:xfrm>
            <a:off x="3554888" y="1706399"/>
            <a:ext cx="850000" cy="2860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Road Horizontal">
            <a:extLst>
              <a:ext uri="{FF2B5EF4-FFF2-40B4-BE49-F238E27FC236}">
                <a16:creationId xmlns:a16="http://schemas.microsoft.com/office/drawing/2014/main" id="{CA786EE6-2F70-1138-11F0-25E8CA1DEE3A}"/>
              </a:ext>
            </a:extLst>
          </p:cNvPr>
          <p:cNvSpPr/>
          <p:nvPr/>
        </p:nvSpPr>
        <p:spPr>
          <a:xfrm>
            <a:off x="1774800" y="2711399"/>
            <a:ext cx="4410177" cy="850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03" name="Lane Dash Top">
            <a:extLst>
              <a:ext uri="{FF2B5EF4-FFF2-40B4-BE49-F238E27FC236}">
                <a16:creationId xmlns:a16="http://schemas.microsoft.com/office/drawing/2014/main" id="{D814F2CA-075B-E032-92B8-891034EC6B48}"/>
              </a:ext>
            </a:extLst>
          </p:cNvPr>
          <p:cNvCxnSpPr/>
          <p:nvPr/>
        </p:nvCxnSpPr>
        <p:spPr>
          <a:xfrm>
            <a:off x="3979888" y="1706399"/>
            <a:ext cx="0" cy="98500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Lane Dash Bottom">
            <a:extLst>
              <a:ext uri="{FF2B5EF4-FFF2-40B4-BE49-F238E27FC236}">
                <a16:creationId xmlns:a16="http://schemas.microsoft.com/office/drawing/2014/main" id="{43D9E7BD-101D-3A28-53D3-B474AC74C0AB}"/>
              </a:ext>
            </a:extLst>
          </p:cNvPr>
          <p:cNvCxnSpPr/>
          <p:nvPr/>
        </p:nvCxnSpPr>
        <p:spPr>
          <a:xfrm>
            <a:off x="3979888" y="3581399"/>
            <a:ext cx="0" cy="98500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Lane Dash Left">
            <a:extLst>
              <a:ext uri="{FF2B5EF4-FFF2-40B4-BE49-F238E27FC236}">
                <a16:creationId xmlns:a16="http://schemas.microsoft.com/office/drawing/2014/main" id="{628C105A-475B-FAFC-6684-02DF274910EE}"/>
              </a:ext>
            </a:extLst>
          </p:cNvPr>
          <p:cNvCxnSpPr/>
          <p:nvPr/>
        </p:nvCxnSpPr>
        <p:spPr>
          <a:xfrm>
            <a:off x="1774800" y="3136399"/>
            <a:ext cx="1760088" cy="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Lane Dash Right">
            <a:extLst>
              <a:ext uri="{FF2B5EF4-FFF2-40B4-BE49-F238E27FC236}">
                <a16:creationId xmlns:a16="http://schemas.microsoft.com/office/drawing/2014/main" id="{8310E171-14D6-D1BB-1CEC-8DA752048FAE}"/>
              </a:ext>
            </a:extLst>
          </p:cNvPr>
          <p:cNvCxnSpPr/>
          <p:nvPr/>
        </p:nvCxnSpPr>
        <p:spPr>
          <a:xfrm>
            <a:off x="4424888" y="3136399"/>
            <a:ext cx="1760089" cy="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ar 1">
            <a:extLst>
              <a:ext uri="{FF2B5EF4-FFF2-40B4-BE49-F238E27FC236}">
                <a16:creationId xmlns:a16="http://schemas.microsoft.com/office/drawing/2014/main" id="{3A217B7D-3DFF-76A5-9032-2EE4417BCE07}"/>
              </a:ext>
            </a:extLst>
          </p:cNvPr>
          <p:cNvSpPr/>
          <p:nvPr/>
        </p:nvSpPr>
        <p:spPr>
          <a:xfrm>
            <a:off x="3739888" y="1891399"/>
            <a:ext cx="480000" cy="68000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9525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Arrow 1">
            <a:extLst>
              <a:ext uri="{FF2B5EF4-FFF2-40B4-BE49-F238E27FC236}">
                <a16:creationId xmlns:a16="http://schemas.microsoft.com/office/drawing/2014/main" id="{FAF0737E-0BD2-1066-8E54-1C6C5BA0236C}"/>
              </a:ext>
            </a:extLst>
          </p:cNvPr>
          <p:cNvSpPr/>
          <p:nvPr/>
        </p:nvSpPr>
        <p:spPr>
          <a:xfrm rot="10800000">
            <a:off x="3859888" y="2586399"/>
            <a:ext cx="240000" cy="13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Label Car 1">
            <a:extLst>
              <a:ext uri="{FF2B5EF4-FFF2-40B4-BE49-F238E27FC236}">
                <a16:creationId xmlns:a16="http://schemas.microsoft.com/office/drawing/2014/main" id="{77262F21-5735-FBDF-2FF0-13435A7652BF}"/>
              </a:ext>
            </a:extLst>
          </p:cNvPr>
          <p:cNvSpPr txBox="1"/>
          <p:nvPr/>
        </p:nvSpPr>
        <p:spPr>
          <a:xfrm>
            <a:off x="3739888" y="1386399"/>
            <a:ext cx="165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1" dirty="0">
                <a:solidFill>
                  <a:schemeClr val="accent2"/>
                </a:solidFill>
                <a:latin typeface="+mn-lt"/>
              </a:rPr>
              <a:t>Driver 1</a:t>
            </a:r>
          </a:p>
        </p:txBody>
      </p:sp>
      <p:sp>
        <p:nvSpPr>
          <p:cNvPr id="110" name="Car 2">
            <a:extLst>
              <a:ext uri="{FF2B5EF4-FFF2-40B4-BE49-F238E27FC236}">
                <a16:creationId xmlns:a16="http://schemas.microsoft.com/office/drawing/2014/main" id="{564B947A-728C-E1B7-8EA8-A3A7AB980E98}"/>
              </a:ext>
            </a:extLst>
          </p:cNvPr>
          <p:cNvSpPr/>
          <p:nvPr/>
        </p:nvSpPr>
        <p:spPr>
          <a:xfrm>
            <a:off x="2734888" y="2896399"/>
            <a:ext cx="680000" cy="48000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Arrow 2">
            <a:extLst>
              <a:ext uri="{FF2B5EF4-FFF2-40B4-BE49-F238E27FC236}">
                <a16:creationId xmlns:a16="http://schemas.microsoft.com/office/drawing/2014/main" id="{E183827E-0CB3-0499-0474-84820EDC82F8}"/>
              </a:ext>
            </a:extLst>
          </p:cNvPr>
          <p:cNvSpPr/>
          <p:nvPr/>
        </p:nvSpPr>
        <p:spPr>
          <a:xfrm rot="5400000">
            <a:off x="3476400" y="3016399"/>
            <a:ext cx="130000" cy="240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Label Car 2">
            <a:extLst>
              <a:ext uri="{FF2B5EF4-FFF2-40B4-BE49-F238E27FC236}">
                <a16:creationId xmlns:a16="http://schemas.microsoft.com/office/drawing/2014/main" id="{2FED776E-0B02-5789-0916-A4807718666B}"/>
              </a:ext>
            </a:extLst>
          </p:cNvPr>
          <p:cNvSpPr txBox="1"/>
          <p:nvPr/>
        </p:nvSpPr>
        <p:spPr>
          <a:xfrm>
            <a:off x="2374977" y="2435013"/>
            <a:ext cx="14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1" dirty="0">
                <a:solidFill>
                  <a:schemeClr val="accent1"/>
                </a:solidFill>
                <a:latin typeface="+mn-lt"/>
              </a:rPr>
              <a:t>Driver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0E8AFC-281F-BEBE-07EF-5E768E8F1FEA}"/>
              </a:ext>
            </a:extLst>
          </p:cNvPr>
          <p:cNvSpPr txBox="1"/>
          <p:nvPr/>
        </p:nvSpPr>
        <p:spPr>
          <a:xfrm>
            <a:off x="4219888" y="2035949"/>
            <a:ext cx="85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F2A5E6-566E-0687-7D83-E8B1DE19FD11}"/>
              </a:ext>
            </a:extLst>
          </p:cNvPr>
          <p:cNvSpPr txBox="1"/>
          <p:nvPr/>
        </p:nvSpPr>
        <p:spPr>
          <a:xfrm>
            <a:off x="2937493" y="3545789"/>
            <a:ext cx="85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44D6A4-1C5E-4FA5-AF9F-D81609B4765E}"/>
              </a:ext>
            </a:extLst>
          </p:cNvPr>
          <p:cNvSpPr txBox="1"/>
          <p:nvPr/>
        </p:nvSpPr>
        <p:spPr>
          <a:xfrm>
            <a:off x="3291092" y="3740053"/>
            <a:ext cx="10259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dirty="0">
                <a:solidFill>
                  <a:srgbClr val="FF0000"/>
                </a:solidFill>
                <a:latin typeface="+mn-lt"/>
              </a:rPr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CB1EB6-740F-33CE-D2A1-DFBF826F8C36}"/>
              </a:ext>
            </a:extLst>
          </p:cNvPr>
          <p:cNvSpPr txBox="1"/>
          <p:nvPr/>
        </p:nvSpPr>
        <p:spPr>
          <a:xfrm>
            <a:off x="4583500" y="2221222"/>
            <a:ext cx="10259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dirty="0">
                <a:solidFill>
                  <a:srgbClr val="FF0000"/>
                </a:solidFill>
                <a:latin typeface="+mn-lt"/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B6A49A-6253-F518-0FD1-F2BDB7DC14DB}"/>
              </a:ext>
            </a:extLst>
          </p:cNvPr>
          <p:cNvSpPr txBox="1"/>
          <p:nvPr/>
        </p:nvSpPr>
        <p:spPr>
          <a:xfrm>
            <a:off x="6959302" y="2049200"/>
            <a:ext cx="4464492" cy="21236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Introduce a trusted third party</a:t>
            </a:r>
          </a:p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The trusted third party publicly declares a distribution</a:t>
            </a:r>
          </a:p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Each player needs to decide if they want to follow prior to drawing</a:t>
            </a:r>
          </a:p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It is stable when the prior each player gets on the joint suggestion leads to them picking to follow</a:t>
            </a:r>
          </a:p>
        </p:txBody>
      </p:sp>
    </p:spTree>
    <p:extLst>
      <p:ext uri="{BB962C8B-B14F-4D97-AF65-F5344CB8AC3E}">
        <p14:creationId xmlns:p14="http://schemas.microsoft.com/office/powerpoint/2010/main" val="2087265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Coarse correlated equilibrium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9019" y="1124744"/>
            <a:ext cx="9312374" cy="4839202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</a:rPr>
              <a:t>Definition.  </a:t>
            </a:r>
            <a:r>
              <a:rPr lang="en-US" sz="1900" dirty="0">
                <a:solidFill>
                  <a:schemeClr val="tx1"/>
                </a:solidFill>
              </a:rPr>
              <a:t>A distribution π ∈ Δ(A) is a </a:t>
            </a:r>
            <a:r>
              <a:rPr lang="en-US" sz="1900" i="1" dirty="0">
                <a:solidFill>
                  <a:schemeClr val="tx1"/>
                </a:solidFill>
              </a:rPr>
              <a:t>coarse correlated equilibrium</a:t>
            </a:r>
            <a:r>
              <a:rPr lang="en-US" sz="1900" dirty="0">
                <a:solidFill>
                  <a:schemeClr val="tx1"/>
                </a:solidFill>
              </a:rPr>
              <a:t> if no player can lower their expected cost by an unconditional deviation to a fixed action:</a:t>
            </a:r>
          </a:p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200" i="1" dirty="0">
                <a:solidFill>
                  <a:schemeClr val="tx1"/>
                </a:solidFill>
              </a:rPr>
              <a:t>E</a:t>
            </a:r>
            <a:r>
              <a:rPr lang="en-US" sz="1700" i="1" baseline="-25000" dirty="0">
                <a:solidFill>
                  <a:schemeClr val="tx1"/>
                </a:solidFill>
              </a:rPr>
              <a:t>a∼π</a:t>
            </a:r>
            <a:r>
              <a:rPr lang="en-US" sz="2200" i="1" dirty="0">
                <a:solidFill>
                  <a:schemeClr val="tx1"/>
                </a:solidFill>
              </a:rPr>
              <a:t> [c</a:t>
            </a:r>
            <a:r>
              <a:rPr lang="en-US" sz="1700" i="1" baseline="-25000" dirty="0">
                <a:solidFill>
                  <a:schemeClr val="tx1"/>
                </a:solidFill>
              </a:rPr>
              <a:t>i</a:t>
            </a:r>
            <a:r>
              <a:rPr lang="en-US" sz="2200" i="1" dirty="0">
                <a:solidFill>
                  <a:schemeClr val="tx1"/>
                </a:solidFill>
              </a:rPr>
              <a:t>(a)]   ≤   E</a:t>
            </a:r>
            <a:r>
              <a:rPr lang="en-US" sz="1700" i="1" baseline="-25000" dirty="0">
                <a:solidFill>
                  <a:schemeClr val="tx1"/>
                </a:solidFill>
              </a:rPr>
              <a:t>a∼π</a:t>
            </a:r>
            <a:r>
              <a:rPr lang="en-US" sz="2200" i="1" dirty="0">
                <a:solidFill>
                  <a:schemeClr val="tx1"/>
                </a:solidFill>
              </a:rPr>
              <a:t> [c</a:t>
            </a:r>
            <a:r>
              <a:rPr lang="en-US" sz="1700" i="1" baseline="-25000" dirty="0">
                <a:solidFill>
                  <a:schemeClr val="tx1"/>
                </a:solidFill>
              </a:rPr>
              <a:t>i</a:t>
            </a:r>
            <a:r>
              <a:rPr lang="en-US" sz="2200" i="1" dirty="0">
                <a:solidFill>
                  <a:schemeClr val="tx1"/>
                </a:solidFill>
              </a:rPr>
              <a:t>(a</a:t>
            </a:r>
            <a:r>
              <a:rPr lang="en-US" sz="1700" i="1" baseline="-25000" dirty="0">
                <a:solidFill>
                  <a:schemeClr val="tx1"/>
                </a:solidFill>
              </a:rPr>
              <a:t>i</a:t>
            </a:r>
            <a:r>
              <a:rPr lang="en-US" sz="2200" i="1" dirty="0">
                <a:solidFill>
                  <a:schemeClr val="tx1"/>
                </a:solidFill>
              </a:rPr>
              <a:t>′, a</a:t>
            </a:r>
            <a:r>
              <a:rPr lang="en-US" sz="1700" i="1" baseline="-25000" dirty="0">
                <a:solidFill>
                  <a:schemeClr val="tx1"/>
                </a:solidFill>
              </a:rPr>
              <a:t>−i</a:t>
            </a:r>
            <a:r>
              <a:rPr lang="en-US" sz="2200" i="1" dirty="0">
                <a:solidFill>
                  <a:schemeClr val="tx1"/>
                </a:solidFill>
              </a:rPr>
              <a:t>)]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every player i ∈ N and every a</a:t>
            </a:r>
            <a:r>
              <a:rPr lang="en-US" sz="12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′ ∈ A</a:t>
            </a:r>
            <a:r>
              <a:rPr lang="en-US" sz="12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Both sides are already linear in π so the set</a:t>
            </a:r>
          </a:p>
          <a:p>
            <a:pPr marL="0" indent="0" algn="ctr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Π</a:t>
            </a:r>
            <a:r>
              <a:rPr lang="en-US" sz="1300" i="1" baseline="-25000" dirty="0">
                <a:solidFill>
                  <a:schemeClr val="tx1"/>
                </a:solidFill>
              </a:rPr>
              <a:t>CCE</a:t>
            </a:r>
            <a:r>
              <a:rPr lang="en-US" sz="1700" i="1" dirty="0">
                <a:solidFill>
                  <a:schemeClr val="tx1"/>
                </a:solidFill>
              </a:rPr>
              <a:t>(Γ)  =  { π ∈ Δ(A)  :  Σ</a:t>
            </a:r>
            <a:r>
              <a:rPr lang="en-US" sz="1300" i="1" baseline="-25000" dirty="0">
                <a:solidFill>
                  <a:schemeClr val="tx1"/>
                </a:solidFill>
              </a:rPr>
              <a:t>a∈A</a:t>
            </a:r>
            <a:r>
              <a:rPr lang="en-US" sz="1700" i="1" dirty="0">
                <a:solidFill>
                  <a:schemeClr val="tx1"/>
                </a:solidFill>
              </a:rPr>
              <a:t> π(a) [c</a:t>
            </a:r>
            <a:r>
              <a:rPr lang="en-US" sz="1300" i="1" baseline="-25000" dirty="0">
                <a:solidFill>
                  <a:schemeClr val="tx1"/>
                </a:solidFill>
              </a:rPr>
              <a:t>i</a:t>
            </a:r>
            <a:r>
              <a:rPr lang="en-US" sz="1700" i="1" dirty="0">
                <a:solidFill>
                  <a:schemeClr val="tx1"/>
                </a:solidFill>
              </a:rPr>
              <a:t>(a) − c</a:t>
            </a:r>
            <a:r>
              <a:rPr lang="en-US" sz="1300" i="1" baseline="-25000" dirty="0">
                <a:solidFill>
                  <a:schemeClr val="tx1"/>
                </a:solidFill>
              </a:rPr>
              <a:t>i</a:t>
            </a:r>
            <a:r>
              <a:rPr lang="en-US" sz="1700" i="1" dirty="0">
                <a:solidFill>
                  <a:schemeClr val="tx1"/>
                </a:solidFill>
              </a:rPr>
              <a:t>(a</a:t>
            </a:r>
            <a:r>
              <a:rPr lang="en-US" sz="1300" i="1" baseline="-25000" dirty="0">
                <a:solidFill>
                  <a:schemeClr val="tx1"/>
                </a:solidFill>
              </a:rPr>
              <a:t>i</a:t>
            </a:r>
            <a:r>
              <a:rPr lang="en-US" sz="1700" i="1" dirty="0">
                <a:solidFill>
                  <a:schemeClr val="tx1"/>
                </a:solidFill>
              </a:rPr>
              <a:t>′, a</a:t>
            </a:r>
            <a:r>
              <a:rPr lang="en-US" sz="1300" i="1" baseline="-25000" dirty="0">
                <a:solidFill>
                  <a:schemeClr val="tx1"/>
                </a:solidFill>
              </a:rPr>
              <a:t>−i</a:t>
            </a:r>
            <a:r>
              <a:rPr lang="en-US" sz="1700" i="1" dirty="0">
                <a:solidFill>
                  <a:schemeClr val="tx1"/>
                </a:solidFill>
              </a:rPr>
              <a:t>)]  ≤  0   ∀ i, a</a:t>
            </a:r>
            <a:r>
              <a:rPr lang="en-US" sz="1300" i="1" baseline="-25000" dirty="0">
                <a:solidFill>
                  <a:schemeClr val="tx1"/>
                </a:solidFill>
              </a:rPr>
              <a:t>i</a:t>
            </a:r>
            <a:r>
              <a:rPr lang="en-US" sz="1700" i="1" dirty="0">
                <a:solidFill>
                  <a:schemeClr val="tx1"/>
                </a:solidFill>
              </a:rPr>
              <a:t>′ 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is again a polytope. Every correlated equilibrium is a coarse correlated equilibrium.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FBCE3-89E4-4CC0-B06E-11AC1CE198B8}" type="datetime1">
              <a:rPr lang="da-DK" smtClean="0"/>
              <a:t>15-09-2026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da-D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11</a:t>
            </a:fld>
            <a:endParaRPr lang="da-DK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3E1D6-8FED-8661-528E-DA269DCCD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8D8AB-C607-AA59-D5B9-B14A78C79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Mixed Nash equilibrium, bad fact 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5155A-8452-831E-2565-65C5B5A37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1713" y="1628800"/>
            <a:ext cx="9312374" cy="4545578"/>
          </a:xfrm>
        </p:spPr>
        <p:txBody>
          <a:bodyPr/>
          <a:lstStyle/>
          <a:p>
            <a:r>
              <a:rPr lang="en-US" dirty="0"/>
              <a:t>To find it is PPAD hard (not in polynomial time)</a:t>
            </a:r>
          </a:p>
          <a:p>
            <a:pPr lvl="1"/>
            <a:r>
              <a:rPr lang="en-US" dirty="0"/>
              <a:t>How can players with simple algorithms even reach it?</a:t>
            </a:r>
          </a:p>
          <a:p>
            <a:r>
              <a:rPr lang="en-US" dirty="0"/>
              <a:t>The set of mixed Nash equilibria is not arbitrary, but ugly</a:t>
            </a:r>
          </a:p>
          <a:p>
            <a:pPr lvl="1"/>
            <a:r>
              <a:rPr lang="en-US" dirty="0"/>
              <a:t>This is bad given that we want to optimize over it for </a:t>
            </a:r>
            <a:r>
              <a:rPr lang="en-US" dirty="0" err="1"/>
              <a:t>PoA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A9628-4877-9017-D81B-8B1438044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5CB91-B81C-4F2D-B420-4A63DFD36E68}" type="datetime1">
              <a:rPr lang="da-DK" smtClean="0"/>
              <a:t>15-09-2026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5739A-3DAA-BA2B-8075-2C40D97AF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B5F0D-1EA1-BD72-EF8C-2518F5B7F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12</a:t>
            </a:fld>
            <a:endParaRPr lang="da-DK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9334EE1-BA67-1916-A41C-1773EBE2066B}"/>
              </a:ext>
            </a:extLst>
          </p:cNvPr>
          <p:cNvGrpSpPr/>
          <p:nvPr/>
        </p:nvGrpSpPr>
        <p:grpSpPr>
          <a:xfrm>
            <a:off x="7802956" y="2492896"/>
            <a:ext cx="3974807" cy="3742242"/>
            <a:chOff x="5699623" y="1865624"/>
            <a:chExt cx="4769110" cy="4490071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DB13512-663F-FBAE-20FD-CFB8918E2578}"/>
                </a:ext>
              </a:extLst>
            </p:cNvPr>
            <p:cNvSpPr/>
            <p:nvPr/>
          </p:nvSpPr>
          <p:spPr bwMode="auto">
            <a:xfrm>
              <a:off x="5699623" y="1865624"/>
              <a:ext cx="4769110" cy="449007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9C2A61D-7218-B1A2-14B5-22344633D390}"/>
                </a:ext>
              </a:extLst>
            </p:cNvPr>
            <p:cNvSpPr/>
            <p:nvPr/>
          </p:nvSpPr>
          <p:spPr bwMode="auto">
            <a:xfrm>
              <a:off x="6527914" y="2809198"/>
              <a:ext cx="3569045" cy="3171283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C63E2CC-01B0-AA9F-B991-DC147BB8496D}"/>
                </a:ext>
              </a:extLst>
            </p:cNvPr>
            <p:cNvSpPr/>
            <p:nvPr/>
          </p:nvSpPr>
          <p:spPr bwMode="auto">
            <a:xfrm>
              <a:off x="7845129" y="3699288"/>
              <a:ext cx="1975733" cy="183631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chemeClr val="tx1"/>
                  </a:solidFill>
                  <a:ea typeface="ＭＳ Ｐゴシック" pitchFamily="-80" charset="-128"/>
                </a:rPr>
                <a:t>NE</a:t>
              </a:r>
              <a:endParaRPr kumimoji="0" lang="en-US" sz="1600" b="0" i="0" u="none" strike="noStrike" cap="none" normalizeH="0" baseline="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5C8EBC0-E2CB-1F02-AE1B-A33EB1B75355}"/>
                </a:ext>
              </a:extLst>
            </p:cNvPr>
            <p:cNvSpPr txBox="1"/>
            <p:nvPr/>
          </p:nvSpPr>
          <p:spPr>
            <a:xfrm>
              <a:off x="7081763" y="3064902"/>
              <a:ext cx="1884156" cy="4062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432"/>
                </a:spcBef>
              </a:pPr>
              <a:r>
                <a:rPr lang="en-US" dirty="0"/>
                <a:t>CE</a:t>
              </a: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CCE1BE4-E4B9-F044-F3CB-EDC2D5BE070E}"/>
                </a:ext>
              </a:extLst>
            </p:cNvPr>
            <p:cNvSpPr txBox="1"/>
            <p:nvPr/>
          </p:nvSpPr>
          <p:spPr>
            <a:xfrm>
              <a:off x="6861023" y="2079034"/>
              <a:ext cx="2238161" cy="4062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solidFill>
                    <a:schemeClr val="tx1"/>
                  </a:solidFill>
                  <a:ea typeface="ＭＳ Ｐゴシック" pitchFamily="-80" charset="-128"/>
                </a:rPr>
                <a:t>CCE</a:t>
              </a:r>
              <a:endParaRPr kumimoji="0" lang="en-US" sz="1600" b="0" i="0" u="none" strike="noStrike" cap="none" normalizeH="0" baseline="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</p:grp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EEC8EA2C-C20D-0748-12F9-1783C8C9E1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64086" y="2406158"/>
            <a:ext cx="529208" cy="52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066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Repeated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9019" y="1124744"/>
            <a:ext cx="9312374" cy="4839202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</a:rPr>
              <a:t>Definition.  </a:t>
            </a:r>
            <a:r>
              <a:rPr lang="en-US" sz="1900" dirty="0">
                <a:solidFill>
                  <a:schemeClr val="tx1"/>
                </a:solidFill>
              </a:rPr>
              <a:t>The same stage game Γ = (N, (Ai), (ci)) is played repeatedly, in rounds (time slots) t = 1, …, T: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a</a:t>
            </a:r>
            <a:r>
              <a:rPr lang="en-US" sz="1400" b="1" i="1" baseline="-25000" dirty="0">
                <a:solidFill>
                  <a:schemeClr val="accent1"/>
                </a:solidFill>
              </a:rPr>
              <a:t>i</a:t>
            </a:r>
            <a:r>
              <a:rPr lang="en-US" sz="1400" b="1" i="1" baseline="30000" dirty="0">
                <a:solidFill>
                  <a:schemeClr val="accent1"/>
                </a:solidFill>
              </a:rPr>
              <a:t>t</a:t>
            </a:r>
            <a:r>
              <a:rPr lang="en-US" sz="1800" b="1" dirty="0">
                <a:solidFill>
                  <a:schemeClr val="accent1"/>
                </a:solidFill>
              </a:rPr>
              <a:t> ∈ A</a:t>
            </a:r>
            <a:r>
              <a:rPr lang="en-US" sz="1400" b="1" baseline="-25000" dirty="0">
                <a:solidFill>
                  <a:schemeClr val="accent1"/>
                </a:solidFill>
              </a:rPr>
              <a:t>i</a:t>
            </a:r>
            <a:r>
              <a:rPr lang="en-US" sz="1800" b="1" dirty="0">
                <a:solidFill>
                  <a:schemeClr val="tx1"/>
                </a:solidFill>
              </a:rPr>
              <a:t>   player i's action in round t</a:t>
            </a:r>
          </a:p>
          <a:p>
            <a:pPr marL="0" indent="0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Chosen simultaneously with the other players, possibly depending on the history of play up to round t.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a</a:t>
            </a:r>
            <a:r>
              <a:rPr lang="en-US" sz="1400" b="1" i="1" baseline="30000" dirty="0">
                <a:solidFill>
                  <a:schemeClr val="accent1"/>
                </a:solidFill>
              </a:rPr>
              <a:t>t</a:t>
            </a:r>
            <a:r>
              <a:rPr lang="en-US" sz="1800" b="1" dirty="0">
                <a:solidFill>
                  <a:schemeClr val="accent1"/>
                </a:solidFill>
              </a:rPr>
              <a:t> = (a</a:t>
            </a:r>
            <a:r>
              <a:rPr lang="en-US" sz="1400" b="1" baseline="-25000" dirty="0">
                <a:solidFill>
                  <a:schemeClr val="accent1"/>
                </a:solidFill>
              </a:rPr>
              <a:t>1</a:t>
            </a:r>
            <a:r>
              <a:rPr lang="en-US" sz="1400" b="1" i="1" baseline="30000" dirty="0">
                <a:solidFill>
                  <a:schemeClr val="accent1"/>
                </a:solidFill>
              </a:rPr>
              <a:t>t</a:t>
            </a:r>
            <a:r>
              <a:rPr lang="en-US" sz="1800" b="1" dirty="0">
                <a:solidFill>
                  <a:schemeClr val="accent1"/>
                </a:solidFill>
              </a:rPr>
              <a:t>, …, a</a:t>
            </a:r>
            <a:r>
              <a:rPr lang="en-US" sz="1400" b="1" baseline="-25000" dirty="0">
                <a:solidFill>
                  <a:schemeClr val="accent1"/>
                </a:solidFill>
              </a:rPr>
              <a:t>n</a:t>
            </a:r>
            <a:r>
              <a:rPr lang="en-US" sz="1400" b="1" i="1" baseline="30000" dirty="0">
                <a:solidFill>
                  <a:schemeClr val="accent1"/>
                </a:solidFill>
              </a:rPr>
              <a:t>t</a:t>
            </a:r>
            <a:r>
              <a:rPr lang="en-US" sz="1800" b="1" dirty="0">
                <a:solidFill>
                  <a:schemeClr val="accent1"/>
                </a:solidFill>
              </a:rPr>
              <a:t>) ∈ A</a:t>
            </a:r>
            <a:r>
              <a:rPr lang="en-US" sz="1800" b="1" dirty="0">
                <a:solidFill>
                  <a:schemeClr val="tx1"/>
                </a:solidFill>
              </a:rPr>
              <a:t>   the joint action in round t</a:t>
            </a:r>
          </a:p>
          <a:p>
            <a:pPr marL="0" indent="0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Realized once every player has moved; player i incurs c</a:t>
            </a:r>
            <a:r>
              <a:rPr lang="en-US" sz="11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</a:t>
            </a:r>
            <a:r>
              <a:rPr lang="en-US" sz="115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and observes c</a:t>
            </a:r>
            <a:r>
              <a:rPr lang="en-US" sz="11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</a:t>
            </a:r>
            <a:r>
              <a:rPr lang="en-US" sz="11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</a:t>
            </a:r>
            <a:r>
              <a:rPr lang="en-US" sz="11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−i</a:t>
            </a:r>
            <a:r>
              <a:rPr lang="en-US" sz="115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for every a</a:t>
            </a:r>
            <a:r>
              <a:rPr lang="en-US" sz="11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∈ A</a:t>
            </a:r>
            <a:r>
              <a:rPr lang="en-US" sz="11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(full information).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b="1" i="1" dirty="0">
                <a:solidFill>
                  <a:schemeClr val="accent1"/>
                </a:solidFill>
              </a:rPr>
              <a:t>π</a:t>
            </a:r>
            <a:r>
              <a:rPr lang="en-US" sz="1400" b="1" i="1" baseline="30000" dirty="0">
                <a:solidFill>
                  <a:schemeClr val="accent1"/>
                </a:solidFill>
              </a:rPr>
              <a:t>T</a:t>
            </a:r>
            <a:r>
              <a:rPr lang="en-US" sz="1800" b="1" dirty="0">
                <a:solidFill>
                  <a:schemeClr val="accent1"/>
                </a:solidFill>
              </a:rPr>
              <a:t> ∈ Δ(A)</a:t>
            </a:r>
            <a:r>
              <a:rPr lang="en-US" sz="1800" b="1" dirty="0">
                <a:solidFill>
                  <a:schemeClr val="tx1"/>
                </a:solidFill>
              </a:rPr>
              <a:t>   the empirical distribution of play</a:t>
            </a:r>
          </a:p>
          <a:p>
            <a:pPr marL="0" indent="0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15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π</a:t>
            </a:r>
            <a:r>
              <a:rPr lang="en-US" sz="1150" i="1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(1/T) Σ</a:t>
            </a:r>
            <a:r>
              <a:rPr lang="en-US" sz="11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1[a</a:t>
            </a:r>
            <a:r>
              <a:rPr lang="en-US" sz="115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= a]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E94C-F1C3-4BE2-B42E-0D5F8D6B696F}" type="datetime1">
              <a:rPr lang="da-DK" smtClean="0"/>
              <a:t>15-09-2026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da-D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13</a:t>
            </a:fld>
            <a:endParaRPr lang="da-DK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measure quality of a decision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900" b="1" dirty="0">
                <a:solidFill>
                  <a:schemeClr val="accent1"/>
                </a:solidFill>
              </a:rPr>
              <a:t>Setup.  </a:t>
            </a:r>
            <a:r>
              <a:rPr sz="1900" b="0" dirty="0">
                <a:solidFill>
                  <a:schemeClr val="tx1"/>
                </a:solidFill>
              </a:rPr>
              <a:t>A decision-maker repeatedly chooses among a set A of n </a:t>
            </a:r>
            <a:r>
              <a:rPr lang="en-US" sz="1900" b="0" dirty="0">
                <a:solidFill>
                  <a:schemeClr val="tx1"/>
                </a:solidFill>
              </a:rPr>
              <a:t>=</a:t>
            </a:r>
            <a:r>
              <a:rPr sz="1900" b="0" dirty="0">
                <a:solidFill>
                  <a:schemeClr val="tx1"/>
                </a:solidFill>
              </a:rPr>
              <a:t> 2 actions, playing against an adversary. At each time t = 1, …, T:</a:t>
            </a:r>
            <a:endParaRPr lang="en-US" sz="1900" b="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endParaRPr sz="1900" b="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dirty="0">
                <a:solidFill>
                  <a:schemeClr val="accent1"/>
                </a:solidFill>
              </a:rPr>
              <a:t>p</a:t>
            </a:r>
            <a:r>
              <a:rPr sz="1400" b="1" i="1" baseline="-25000" dirty="0">
                <a:solidFill>
                  <a:schemeClr val="accent1"/>
                </a:solidFill>
              </a:rPr>
              <a:t>t</a:t>
            </a:r>
            <a:r>
              <a:rPr sz="1800" b="1" dirty="0">
                <a:solidFill>
                  <a:schemeClr val="accent1"/>
                </a:solidFill>
              </a:rPr>
              <a:t> ∈ Δ(A)</a:t>
            </a:r>
            <a:r>
              <a:rPr sz="1800" b="1" dirty="0">
                <a:solidFill>
                  <a:schemeClr val="tx1"/>
                </a:solidFill>
              </a:rPr>
              <a:t>   the decision-maker's strategy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dirty="0" err="1">
                <a:solidFill>
                  <a:schemeClr val="accent1"/>
                </a:solidFill>
              </a:rPr>
              <a:t>c</a:t>
            </a:r>
            <a:r>
              <a:rPr sz="1400" b="1" i="1" baseline="-25000" dirty="0" err="1">
                <a:solidFill>
                  <a:schemeClr val="accent1"/>
                </a:solidFill>
              </a:rPr>
              <a:t>t</a:t>
            </a:r>
            <a:r>
              <a:rPr sz="1800" b="1" dirty="0">
                <a:solidFill>
                  <a:schemeClr val="accent1"/>
                </a:solidFill>
              </a:rPr>
              <a:t> : A → [0,1]</a:t>
            </a:r>
            <a:r>
              <a:rPr sz="1800" b="1" dirty="0">
                <a:solidFill>
                  <a:schemeClr val="tx1"/>
                </a:solidFill>
              </a:rPr>
              <a:t>   the adversary's cost vector, chosen </a:t>
            </a:r>
            <a:r>
              <a:rPr lang="en-US" sz="1800" b="1" dirty="0">
                <a:solidFill>
                  <a:schemeClr val="tx1"/>
                </a:solidFill>
              </a:rPr>
              <a:t>after</a:t>
            </a:r>
            <a:r>
              <a:rPr sz="1800" b="1" dirty="0">
                <a:solidFill>
                  <a:schemeClr val="tx1"/>
                </a:solidFill>
              </a:rPr>
              <a:t> seeing </a:t>
            </a:r>
            <a:r>
              <a:rPr lang="en-US" b="1" dirty="0"/>
              <a:t>p</a:t>
            </a:r>
            <a:r>
              <a:rPr sz="1400" b="1" i="1" baseline="-25000" dirty="0">
                <a:solidFill>
                  <a:schemeClr val="tx1"/>
                </a:solidFill>
              </a:rPr>
              <a:t>t</a:t>
            </a:r>
            <a:endParaRPr lang="en-US" sz="1400" b="1" i="1" baseline="-250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 action a</a:t>
            </a:r>
            <a:r>
              <a:rPr lang="en-US" sz="110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is drawn according to p</a:t>
            </a:r>
            <a:r>
              <a:rPr lang="en-US" sz="110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sz="1400" b="1" i="1" baseline="-250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1600"/>
              </a:spcAft>
              <a:buNone/>
            </a:pPr>
            <a:r>
              <a:rPr sz="15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decision-maker incurs cost </a:t>
            </a:r>
            <a:r>
              <a:rPr sz="1500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</a:t>
            </a:r>
            <a:r>
              <a:rPr sz="1150" b="0" i="1" baseline="-25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sz="15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</a:t>
            </a:r>
            <a:r>
              <a:rPr sz="1150" b="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sz="15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and learns the entire vector </a:t>
            </a:r>
            <a:r>
              <a:rPr sz="1500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</a:t>
            </a:r>
            <a:r>
              <a:rPr sz="1150" b="0" i="1" baseline="-25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sz="15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not just the realized cost (full information).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endParaRPr sz="1500" b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How do we evaluate the decision-maker? </a:t>
            </a:r>
            <a:r>
              <a:rPr lang="en-US" sz="1700" b="0" dirty="0">
                <a:solidFill>
                  <a:schemeClr val="tx1"/>
                </a:solidFill>
              </a:rPr>
              <a:t>It is not fair to compare against the optimal in hindsight decision as the adversary could react to the decision-makers action.</a:t>
            </a:r>
            <a:endParaRPr sz="1700" b="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FFC9F-00CE-49E8-AC71-E58A4B5B4CAF}" type="datetime1">
              <a:rPr lang="da-DK" smtClean="0"/>
              <a:t>15-09-2026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da-D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14</a:t>
            </a:fld>
            <a:endParaRPr lang="da-DK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No regret and no-regret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9019" y="1124744"/>
            <a:ext cx="9312374" cy="4839202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250"/>
              </a:spcAft>
              <a:buNone/>
            </a:pPr>
            <a:r>
              <a:rPr lang="en-US" sz="1900" b="1" dirty="0">
                <a:solidFill>
                  <a:schemeClr val="accent1"/>
                </a:solidFill>
              </a:rPr>
              <a:t>Definition.  </a:t>
            </a:r>
            <a:r>
              <a:rPr lang="en-US" sz="1900" dirty="0">
                <a:solidFill>
                  <a:schemeClr val="tx1"/>
                </a:solidFill>
              </a:rPr>
              <a:t>Player i's </a:t>
            </a:r>
            <a:r>
              <a:rPr lang="en-US" sz="1900" i="1" dirty="0">
                <a:solidFill>
                  <a:schemeClr val="tx1"/>
                </a:solidFill>
              </a:rPr>
              <a:t>regret</a:t>
            </a:r>
            <a:r>
              <a:rPr lang="en-US" sz="1900" dirty="0">
                <a:solidFill>
                  <a:schemeClr val="tx1"/>
                </a:solidFill>
              </a:rPr>
              <a:t> for not having played a fixed action a</a:t>
            </a:r>
            <a:r>
              <a:rPr lang="en-US" sz="1450" baseline="-25000" dirty="0">
                <a:solidFill>
                  <a:schemeClr val="tx1"/>
                </a:solidFill>
              </a:rPr>
              <a:t>i</a:t>
            </a:r>
            <a:r>
              <a:rPr lang="en-US" sz="1900" dirty="0">
                <a:solidFill>
                  <a:schemeClr val="tx1"/>
                </a:solidFill>
              </a:rPr>
              <a:t>′ ∈ A</a:t>
            </a:r>
            <a:r>
              <a:rPr lang="en-US" sz="1450" baseline="-25000" dirty="0">
                <a:solidFill>
                  <a:schemeClr val="tx1"/>
                </a:solidFill>
              </a:rPr>
              <a:t>i</a:t>
            </a:r>
            <a:r>
              <a:rPr lang="en-US" sz="1900" dirty="0">
                <a:solidFill>
                  <a:schemeClr val="tx1"/>
                </a:solidFill>
              </a:rPr>
              <a:t> throughout is:</a:t>
            </a:r>
          </a:p>
          <a:p>
            <a:pPr marL="0" indent="0" algn="ctr"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Reg</a:t>
            </a:r>
            <a:r>
              <a:rPr lang="en-US" sz="1650" i="1" baseline="-25000" dirty="0">
                <a:solidFill>
                  <a:schemeClr val="tx1"/>
                </a:solidFill>
              </a:rPr>
              <a:t>i</a:t>
            </a:r>
            <a:r>
              <a:rPr lang="en-US" sz="1650" i="1" baseline="30000" dirty="0">
                <a:solidFill>
                  <a:schemeClr val="tx1"/>
                </a:solidFill>
              </a:rPr>
              <a:t>T</a:t>
            </a:r>
            <a:r>
              <a:rPr lang="en-US" sz="2100" i="1" dirty="0">
                <a:solidFill>
                  <a:schemeClr val="tx1"/>
                </a:solidFill>
              </a:rPr>
              <a:t>(a</a:t>
            </a:r>
            <a:r>
              <a:rPr lang="en-US" sz="1650" i="1" baseline="-25000" dirty="0">
                <a:solidFill>
                  <a:schemeClr val="tx1"/>
                </a:solidFill>
              </a:rPr>
              <a:t>i</a:t>
            </a:r>
            <a:r>
              <a:rPr lang="en-US" sz="2100" i="1" dirty="0">
                <a:solidFill>
                  <a:schemeClr val="tx1"/>
                </a:solidFill>
              </a:rPr>
              <a:t>′)   =   Σ</a:t>
            </a:r>
            <a:r>
              <a:rPr lang="en-US" sz="1400" i="1" baseline="-25000" dirty="0">
                <a:solidFill>
                  <a:schemeClr val="tx1"/>
                </a:solidFill>
              </a:rPr>
              <a:t>t=1,…,T</a:t>
            </a:r>
            <a:r>
              <a:rPr lang="en-US" sz="2100" i="1" dirty="0">
                <a:solidFill>
                  <a:schemeClr val="tx1"/>
                </a:solidFill>
              </a:rPr>
              <a:t> [ c</a:t>
            </a:r>
            <a:r>
              <a:rPr lang="en-US" sz="1650" i="1" baseline="-25000" dirty="0">
                <a:solidFill>
                  <a:schemeClr val="tx1"/>
                </a:solidFill>
              </a:rPr>
              <a:t>i</a:t>
            </a:r>
            <a:r>
              <a:rPr lang="en-US" sz="2100" i="1" dirty="0">
                <a:solidFill>
                  <a:schemeClr val="tx1"/>
                </a:solidFill>
              </a:rPr>
              <a:t>(a</a:t>
            </a:r>
            <a:r>
              <a:rPr lang="en-US" sz="1650" i="1" baseline="-25000" dirty="0">
                <a:solidFill>
                  <a:schemeClr val="tx1"/>
                </a:solidFill>
              </a:rPr>
              <a:t>i</a:t>
            </a:r>
            <a:r>
              <a:rPr lang="en-US" sz="1650" i="1" baseline="30000" dirty="0">
                <a:solidFill>
                  <a:schemeClr val="tx1"/>
                </a:solidFill>
              </a:rPr>
              <a:t>t</a:t>
            </a:r>
            <a:r>
              <a:rPr lang="en-US" sz="2100" i="1" dirty="0">
                <a:solidFill>
                  <a:schemeClr val="tx1"/>
                </a:solidFill>
              </a:rPr>
              <a:t>, a</a:t>
            </a:r>
            <a:r>
              <a:rPr lang="en-US" sz="1650" i="1" baseline="-25000" dirty="0">
                <a:solidFill>
                  <a:schemeClr val="tx1"/>
                </a:solidFill>
              </a:rPr>
              <a:t>−i</a:t>
            </a:r>
            <a:r>
              <a:rPr lang="en-US" sz="1650" i="1" baseline="30000" dirty="0">
                <a:solidFill>
                  <a:schemeClr val="tx1"/>
                </a:solidFill>
              </a:rPr>
              <a:t>t</a:t>
            </a:r>
            <a:r>
              <a:rPr lang="en-US" sz="2100" i="1" dirty="0">
                <a:solidFill>
                  <a:schemeClr val="tx1"/>
                </a:solidFill>
              </a:rPr>
              <a:t>) − c</a:t>
            </a:r>
            <a:r>
              <a:rPr lang="en-US" sz="1650" i="1" baseline="-25000" dirty="0">
                <a:solidFill>
                  <a:schemeClr val="tx1"/>
                </a:solidFill>
              </a:rPr>
              <a:t>i</a:t>
            </a:r>
            <a:r>
              <a:rPr lang="en-US" sz="2100" i="1" dirty="0">
                <a:solidFill>
                  <a:schemeClr val="tx1"/>
                </a:solidFill>
              </a:rPr>
              <a:t>(a</a:t>
            </a:r>
            <a:r>
              <a:rPr lang="en-US" sz="1650" i="1" baseline="-25000" dirty="0">
                <a:solidFill>
                  <a:schemeClr val="tx1"/>
                </a:solidFill>
              </a:rPr>
              <a:t>i</a:t>
            </a:r>
            <a:r>
              <a:rPr lang="en-US" sz="2100" i="1" dirty="0">
                <a:solidFill>
                  <a:schemeClr val="tx1"/>
                </a:solidFill>
              </a:rPr>
              <a:t>′, a</a:t>
            </a:r>
            <a:r>
              <a:rPr lang="en-US" sz="1650" i="1" baseline="-25000" dirty="0">
                <a:solidFill>
                  <a:schemeClr val="tx1"/>
                </a:solidFill>
              </a:rPr>
              <a:t>−i</a:t>
            </a:r>
            <a:r>
              <a:rPr lang="en-US" sz="1650" i="1" baseline="30000" dirty="0">
                <a:solidFill>
                  <a:schemeClr val="tx1"/>
                </a:solidFill>
              </a:rPr>
              <a:t>t</a:t>
            </a:r>
            <a:r>
              <a:rPr lang="en-US" sz="2100" i="1" dirty="0">
                <a:solidFill>
                  <a:schemeClr val="tx1"/>
                </a:solidFill>
              </a:rPr>
              <a:t>) ]</a:t>
            </a:r>
          </a:p>
          <a:p>
            <a:pPr marL="0" indent="0">
              <a:spcBef>
                <a:spcPts val="0"/>
              </a:spcBef>
              <a:spcAft>
                <a:spcPts val="450"/>
              </a:spcAft>
              <a:buNone/>
            </a:pPr>
            <a:r>
              <a:rPr lang="en-US" sz="15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extra cost from following the realized play a</a:t>
            </a:r>
            <a:r>
              <a:rPr lang="en-US" sz="12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20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en-US" sz="15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…, a</a:t>
            </a:r>
            <a:r>
              <a:rPr lang="en-US" sz="12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20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en-US" sz="15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instead of a</a:t>
            </a:r>
            <a:r>
              <a:rPr lang="en-US" sz="12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5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′ throughout, holding the opponents' actual play fixed.</a:t>
            </a:r>
          </a:p>
          <a:p>
            <a:pPr marL="0" indent="0">
              <a:spcBef>
                <a:spcPts val="0"/>
              </a:spcBef>
              <a:spcAft>
                <a:spcPts val="25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Player i has </a:t>
            </a:r>
            <a:r>
              <a:rPr lang="en-US" sz="1900" i="1" dirty="0">
                <a:solidFill>
                  <a:schemeClr val="tx1"/>
                </a:solidFill>
              </a:rPr>
              <a:t>no regret</a:t>
            </a:r>
            <a:r>
              <a:rPr lang="en-US" sz="1900" dirty="0">
                <a:solidFill>
                  <a:schemeClr val="tx1"/>
                </a:solidFill>
              </a:rPr>
              <a:t> if</a:t>
            </a:r>
          </a:p>
          <a:p>
            <a:pPr marL="0" indent="0" algn="ctr">
              <a:spcBef>
                <a:spcPts val="150"/>
              </a:spcBef>
              <a:spcAft>
                <a:spcPts val="25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lim sup</a:t>
            </a:r>
            <a:r>
              <a:rPr lang="en-US" sz="1400" i="1" baseline="-25000" dirty="0">
                <a:solidFill>
                  <a:schemeClr val="tx1"/>
                </a:solidFill>
              </a:rPr>
              <a:t>T→∞</a:t>
            </a:r>
            <a:r>
              <a:rPr lang="en-US" sz="2100" i="1" dirty="0">
                <a:solidFill>
                  <a:schemeClr val="tx1"/>
                </a:solidFill>
              </a:rPr>
              <a:t>   (1/T) max</a:t>
            </a:r>
            <a:r>
              <a:rPr lang="en-US" sz="1400" i="1" baseline="-25000" dirty="0">
                <a:solidFill>
                  <a:schemeClr val="tx1"/>
                </a:solidFill>
              </a:rPr>
              <a:t>ai′∈Ai</a:t>
            </a:r>
            <a:r>
              <a:rPr lang="en-US" sz="2100" i="1" dirty="0">
                <a:solidFill>
                  <a:schemeClr val="tx1"/>
                </a:solidFill>
              </a:rPr>
              <a:t> Reg</a:t>
            </a:r>
            <a:r>
              <a:rPr lang="en-US" sz="1650" i="1" baseline="-25000" dirty="0">
                <a:solidFill>
                  <a:schemeClr val="tx1"/>
                </a:solidFill>
              </a:rPr>
              <a:t>i</a:t>
            </a:r>
            <a:r>
              <a:rPr lang="en-US" sz="1650" i="1" baseline="30000" dirty="0">
                <a:solidFill>
                  <a:schemeClr val="tx1"/>
                </a:solidFill>
              </a:rPr>
              <a:t>T</a:t>
            </a:r>
            <a:r>
              <a:rPr lang="en-US" sz="2100" i="1" dirty="0">
                <a:solidFill>
                  <a:schemeClr val="tx1"/>
                </a:solidFill>
              </a:rPr>
              <a:t>(a</a:t>
            </a:r>
            <a:r>
              <a:rPr lang="en-US" sz="1650" i="1" baseline="-25000" dirty="0">
                <a:solidFill>
                  <a:schemeClr val="tx1"/>
                </a:solidFill>
              </a:rPr>
              <a:t>i</a:t>
            </a:r>
            <a:r>
              <a:rPr lang="en-US" sz="2100" i="1" dirty="0">
                <a:solidFill>
                  <a:schemeClr val="tx1"/>
                </a:solidFill>
              </a:rPr>
              <a:t>′)   ≤   0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no-regret algorithm maps histories to actions and guarantees this for every player, whatever the opponents do.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A8736-2704-445B-AE38-291559DD2B1A}" type="datetime1">
              <a:rPr lang="da-DK" smtClean="0"/>
              <a:t>15-09-2026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da-D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15</a:t>
            </a:fld>
            <a:endParaRPr lang="da-DK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No-regret dynamics converge to CCE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9019" y="1124744"/>
            <a:ext cx="9312374" cy="4839202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Theorem.  </a:t>
            </a:r>
            <a:r>
              <a:rPr lang="en-US" sz="1800" dirty="0">
                <a:solidFill>
                  <a:schemeClr val="tx1"/>
                </a:solidFill>
              </a:rPr>
              <a:t>If every player follows a no-regret algorithm, every limit point of the empirical distribution </a:t>
            </a:r>
            <a:r>
              <a:rPr lang="en-US" sz="1800" i="1" dirty="0">
                <a:solidFill>
                  <a:schemeClr val="tx1"/>
                </a:solidFill>
              </a:rPr>
              <a:t>π</a:t>
            </a:r>
            <a:r>
              <a:rPr lang="en-US" sz="1350" i="1" baseline="30000" dirty="0">
                <a:solidFill>
                  <a:schemeClr val="tx1"/>
                </a:solidFill>
              </a:rPr>
              <a:t>T</a:t>
            </a:r>
            <a:r>
              <a:rPr lang="en-US" sz="1800" dirty="0">
                <a:solidFill>
                  <a:schemeClr val="tx1"/>
                </a:solidFill>
              </a:rPr>
              <a:t> is a coarse correlated equilibrium of Γ.</a:t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Proof.  </a:t>
            </a:r>
            <a:r>
              <a:rPr lang="en-US" sz="1800" dirty="0">
                <a:solidFill>
                  <a:schemeClr val="tx1"/>
                </a:solidFill>
              </a:rPr>
              <a:t>Since π</a:t>
            </a:r>
            <a:r>
              <a:rPr lang="en-US" sz="1350" i="1" baseline="30000" dirty="0">
                <a:solidFill>
                  <a:schemeClr val="tx1"/>
                </a:solidFill>
              </a:rPr>
              <a:t>T</a:t>
            </a:r>
            <a:r>
              <a:rPr lang="en-US" sz="1800" dirty="0">
                <a:solidFill>
                  <a:schemeClr val="tx1"/>
                </a:solidFill>
              </a:rPr>
              <a:t> is the empirical distribution of (a</a:t>
            </a:r>
            <a:r>
              <a:rPr lang="en-US" sz="1350" baseline="-25000" dirty="0">
                <a:solidFill>
                  <a:schemeClr val="tx1"/>
                </a:solidFill>
              </a:rPr>
              <a:t>i</a:t>
            </a:r>
            <a:r>
              <a:rPr lang="en-US" sz="1350" baseline="30000" dirty="0">
                <a:solidFill>
                  <a:schemeClr val="tx1"/>
                </a:solidFill>
              </a:rPr>
              <a:t>t</a:t>
            </a:r>
            <a:r>
              <a:rPr lang="en-US" sz="1800" dirty="0">
                <a:solidFill>
                  <a:schemeClr val="tx1"/>
                </a:solidFill>
              </a:rPr>
              <a:t>, a</a:t>
            </a:r>
            <a:r>
              <a:rPr lang="en-US" sz="1350" baseline="-25000" dirty="0">
                <a:solidFill>
                  <a:schemeClr val="tx1"/>
                </a:solidFill>
              </a:rPr>
              <a:t>−i</a:t>
            </a:r>
            <a:r>
              <a:rPr lang="en-US" sz="1350" baseline="30000" dirty="0">
                <a:solidFill>
                  <a:schemeClr val="tx1"/>
                </a:solidFill>
              </a:rPr>
              <a:t>t</a:t>
            </a:r>
            <a:r>
              <a:rPr lang="en-US" sz="1800" dirty="0">
                <a:solidFill>
                  <a:schemeClr val="tx1"/>
                </a:solidFill>
              </a:rPr>
              <a:t>) over t = 1, …, T:</a:t>
            </a:r>
          </a:p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Σ</a:t>
            </a:r>
            <a:r>
              <a:rPr lang="en-US" sz="1350" i="1" baseline="-25000" dirty="0">
                <a:solidFill>
                  <a:schemeClr val="tx1"/>
                </a:solidFill>
              </a:rPr>
              <a:t>a∈A</a:t>
            </a:r>
            <a:r>
              <a:rPr lang="en-US" sz="2000" i="1" dirty="0">
                <a:solidFill>
                  <a:schemeClr val="tx1"/>
                </a:solidFill>
              </a:rPr>
              <a:t> π</a:t>
            </a:r>
            <a:r>
              <a:rPr lang="en-US" sz="1500" i="1" baseline="30000" dirty="0">
                <a:solidFill>
                  <a:schemeClr val="tx1"/>
                </a:solidFill>
              </a:rPr>
              <a:t>T</a:t>
            </a:r>
            <a:r>
              <a:rPr lang="en-US" sz="2000" i="1" dirty="0">
                <a:solidFill>
                  <a:schemeClr val="tx1"/>
                </a:solidFill>
              </a:rPr>
              <a:t>(a) [c</a:t>
            </a:r>
            <a:r>
              <a:rPr lang="en-US" sz="1500" i="1" baseline="-25000" dirty="0">
                <a:solidFill>
                  <a:schemeClr val="tx1"/>
                </a:solidFill>
              </a:rPr>
              <a:t>i</a:t>
            </a:r>
            <a:r>
              <a:rPr lang="en-US" sz="2000" i="1" dirty="0">
                <a:solidFill>
                  <a:schemeClr val="tx1"/>
                </a:solidFill>
              </a:rPr>
              <a:t>(a) − c</a:t>
            </a:r>
            <a:r>
              <a:rPr lang="en-US" sz="1500" i="1" baseline="-25000" dirty="0">
                <a:solidFill>
                  <a:schemeClr val="tx1"/>
                </a:solidFill>
              </a:rPr>
              <a:t>i</a:t>
            </a:r>
            <a:r>
              <a:rPr lang="en-US" sz="2000" i="1" dirty="0">
                <a:solidFill>
                  <a:schemeClr val="tx1"/>
                </a:solidFill>
              </a:rPr>
              <a:t>(a</a:t>
            </a:r>
            <a:r>
              <a:rPr lang="en-US" sz="1500" i="1" baseline="-25000" dirty="0">
                <a:solidFill>
                  <a:schemeClr val="tx1"/>
                </a:solidFill>
              </a:rPr>
              <a:t>i</a:t>
            </a:r>
            <a:r>
              <a:rPr lang="en-US" sz="2000" i="1" dirty="0">
                <a:solidFill>
                  <a:schemeClr val="tx1"/>
                </a:solidFill>
              </a:rPr>
              <a:t>′, a</a:t>
            </a:r>
            <a:r>
              <a:rPr lang="en-US" sz="1500" i="1" baseline="-25000" dirty="0">
                <a:solidFill>
                  <a:schemeClr val="tx1"/>
                </a:solidFill>
              </a:rPr>
              <a:t>−i</a:t>
            </a:r>
            <a:r>
              <a:rPr lang="en-US" sz="2000" i="1" dirty="0">
                <a:solidFill>
                  <a:schemeClr val="tx1"/>
                </a:solidFill>
              </a:rPr>
              <a:t>)]   =   (1/T) Reg</a:t>
            </a:r>
            <a:r>
              <a:rPr lang="en-US" sz="1500" i="1" baseline="-25000" dirty="0">
                <a:solidFill>
                  <a:schemeClr val="tx1"/>
                </a:solidFill>
              </a:rPr>
              <a:t>i</a:t>
            </a:r>
            <a:r>
              <a:rPr lang="en-US" sz="1500" i="1" baseline="30000" dirty="0">
                <a:solidFill>
                  <a:schemeClr val="tx1"/>
                </a:solidFill>
              </a:rPr>
              <a:t>T</a:t>
            </a:r>
            <a:r>
              <a:rPr lang="en-US" sz="2000" i="1" dirty="0">
                <a:solidFill>
                  <a:schemeClr val="tx1"/>
                </a:solidFill>
              </a:rPr>
              <a:t>(a</a:t>
            </a:r>
            <a:r>
              <a:rPr lang="en-US" sz="1500" i="1" baseline="-25000" dirty="0">
                <a:solidFill>
                  <a:schemeClr val="tx1"/>
                </a:solidFill>
              </a:rPr>
              <a:t>i</a:t>
            </a:r>
            <a:r>
              <a:rPr lang="en-US" sz="2000" i="1" dirty="0">
                <a:solidFill>
                  <a:schemeClr val="tx1"/>
                </a:solidFill>
              </a:rPr>
              <a:t>′)</a:t>
            </a:r>
          </a:p>
          <a:p>
            <a:pPr marL="0" indent="0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every i ∈ N and a</a:t>
            </a:r>
            <a:r>
              <a:rPr lang="en-US" sz="11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′ ∈ A</a:t>
            </a:r>
            <a:r>
              <a:rPr lang="en-US" sz="11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Both sides are just the time-average of c</a:t>
            </a:r>
            <a:r>
              <a:rPr lang="en-US" sz="11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</a:t>
            </a:r>
            <a:r>
              <a:rPr lang="en-US" sz="11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15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</a:t>
            </a:r>
            <a:r>
              <a:rPr lang="en-US" sz="11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−i</a:t>
            </a:r>
            <a:r>
              <a:rPr lang="en-US" sz="115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− c</a:t>
            </a:r>
            <a:r>
              <a:rPr lang="en-US" sz="11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</a:t>
            </a:r>
            <a:r>
              <a:rPr lang="en-US" sz="11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′, a</a:t>
            </a:r>
            <a:r>
              <a:rPr lang="en-US" sz="115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−i</a:t>
            </a:r>
            <a:r>
              <a:rPr lang="en-US" sz="115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over the realized history.</a:t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Since player i has no regret, letting T → ∞ gives:</a:t>
            </a:r>
          </a:p>
          <a:p>
            <a:pPr marL="0" indent="0" algn="ctr">
              <a:spcBef>
                <a:spcPts val="100"/>
              </a:spcBef>
              <a:spcAft>
                <a:spcPts val="25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lim sup</a:t>
            </a:r>
            <a:r>
              <a:rPr lang="en-US" sz="1350" i="1" baseline="-25000" dirty="0">
                <a:solidFill>
                  <a:schemeClr val="tx1"/>
                </a:solidFill>
              </a:rPr>
              <a:t>T→∞</a:t>
            </a:r>
            <a:r>
              <a:rPr lang="en-US" sz="2000" i="1" dirty="0">
                <a:solidFill>
                  <a:schemeClr val="tx1"/>
                </a:solidFill>
              </a:rPr>
              <a:t>   Σ</a:t>
            </a:r>
            <a:r>
              <a:rPr lang="en-US" sz="1350" i="1" baseline="-25000" dirty="0">
                <a:solidFill>
                  <a:schemeClr val="tx1"/>
                </a:solidFill>
              </a:rPr>
              <a:t>a∈A</a:t>
            </a:r>
            <a:r>
              <a:rPr lang="en-US" sz="2000" i="1" dirty="0">
                <a:solidFill>
                  <a:schemeClr val="tx1"/>
                </a:solidFill>
              </a:rPr>
              <a:t> π</a:t>
            </a:r>
            <a:r>
              <a:rPr lang="en-US" sz="1500" i="1" baseline="30000" dirty="0">
                <a:solidFill>
                  <a:schemeClr val="tx1"/>
                </a:solidFill>
              </a:rPr>
              <a:t>T</a:t>
            </a:r>
            <a:r>
              <a:rPr lang="en-US" sz="2000" i="1" dirty="0">
                <a:solidFill>
                  <a:schemeClr val="tx1"/>
                </a:solidFill>
              </a:rPr>
              <a:t>(a) [c</a:t>
            </a:r>
            <a:r>
              <a:rPr lang="en-US" sz="1500" i="1" baseline="-25000" dirty="0">
                <a:solidFill>
                  <a:schemeClr val="tx1"/>
                </a:solidFill>
              </a:rPr>
              <a:t>i</a:t>
            </a:r>
            <a:r>
              <a:rPr lang="en-US" sz="2000" i="1" dirty="0">
                <a:solidFill>
                  <a:schemeClr val="tx1"/>
                </a:solidFill>
              </a:rPr>
              <a:t>(a) − c</a:t>
            </a:r>
            <a:r>
              <a:rPr lang="en-US" sz="1500" i="1" baseline="-25000" dirty="0">
                <a:solidFill>
                  <a:schemeClr val="tx1"/>
                </a:solidFill>
              </a:rPr>
              <a:t>i</a:t>
            </a:r>
            <a:r>
              <a:rPr lang="en-US" sz="2000" i="1" dirty="0">
                <a:solidFill>
                  <a:schemeClr val="tx1"/>
                </a:solidFill>
              </a:rPr>
              <a:t>(a</a:t>
            </a:r>
            <a:r>
              <a:rPr lang="en-US" sz="1500" i="1" baseline="-25000" dirty="0">
                <a:solidFill>
                  <a:schemeClr val="tx1"/>
                </a:solidFill>
              </a:rPr>
              <a:t>i</a:t>
            </a:r>
            <a:r>
              <a:rPr lang="en-US" sz="2000" i="1" dirty="0">
                <a:solidFill>
                  <a:schemeClr val="tx1"/>
                </a:solidFill>
              </a:rPr>
              <a:t>′, a</a:t>
            </a:r>
            <a:r>
              <a:rPr lang="en-US" sz="1500" i="1" baseline="-25000" dirty="0">
                <a:solidFill>
                  <a:schemeClr val="tx1"/>
                </a:solidFill>
              </a:rPr>
              <a:t>−i</a:t>
            </a:r>
            <a:r>
              <a:rPr lang="en-US" sz="2000" i="1" dirty="0">
                <a:solidFill>
                  <a:schemeClr val="tx1"/>
                </a:solidFill>
              </a:rPr>
              <a:t>)]   ≤   0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every i ∈ N and a</a:t>
            </a:r>
            <a:r>
              <a:rPr lang="en-US" sz="120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55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′. This is exactly the CCE condition. So every limit point π* of (π</a:t>
            </a:r>
            <a:r>
              <a:rPr lang="en-US" sz="1200" i="1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en-US" sz="155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satisfies π* ∈ Π</a:t>
            </a:r>
            <a:r>
              <a:rPr lang="en-US" sz="120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CCE</a:t>
            </a:r>
            <a:r>
              <a:rPr lang="en-US" sz="155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(Γ).  ∎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BD972-A5BE-48BB-8A18-A2BBB900EC85}" type="datetime1">
              <a:rPr lang="da-DK" smtClean="0"/>
              <a:t>15-09-2026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da-D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16</a:t>
            </a:fld>
            <a:endParaRPr lang="da-DK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C3283-A30F-7773-856A-AADEA0F0C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No-regret dynamics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CF359-E2B4-DAB5-1174-8A0EF78B6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800" y="1706400"/>
            <a:ext cx="3888355" cy="4545578"/>
          </a:xfrm>
        </p:spPr>
        <p:txBody>
          <a:bodyPr/>
          <a:lstStyle/>
          <a:p>
            <a:r>
              <a:rPr lang="en-US" dirty="0"/>
              <a:t>No-regret essentially means “I could not have done better playing one fixed action all the time”. </a:t>
            </a:r>
          </a:p>
          <a:p>
            <a:r>
              <a:rPr lang="en-US" dirty="0"/>
              <a:t>This is a rather soft condition that most learning algorithms can assure.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78E64-8729-8730-CD7D-AC4C81A5D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A50CF-21DE-4C01-8D17-C2DEF0F3EFFF}" type="datetime1">
              <a:rPr lang="da-DK" smtClean="0"/>
              <a:t>15-09-2026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B3B78-DF2E-77C4-64A2-9EA53CD41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55DD9-534A-92AC-3D20-30E73F262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17</a:t>
            </a:fld>
            <a:endParaRPr lang="da-DK" dirty="0"/>
          </a:p>
        </p:txBody>
      </p:sp>
      <p:cxnSp>
        <p:nvCxnSpPr>
          <p:cNvPr id="7" name="Straight Connector Divider">
            <a:extLst>
              <a:ext uri="{FF2B5EF4-FFF2-40B4-BE49-F238E27FC236}">
                <a16:creationId xmlns:a16="http://schemas.microsoft.com/office/drawing/2014/main" id="{2FF39560-E8C4-4339-5123-0C7B831915A3}"/>
              </a:ext>
            </a:extLst>
          </p:cNvPr>
          <p:cNvCxnSpPr>
            <a:cxnSpLocks/>
          </p:cNvCxnSpPr>
          <p:nvPr/>
        </p:nvCxnSpPr>
        <p:spPr bwMode="auto">
          <a:xfrm>
            <a:off x="6431489" y="1706399"/>
            <a:ext cx="0" cy="2658705"/>
          </a:xfrm>
          <a:prstGeom prst="line">
            <a:avLst/>
          </a:prstGeom>
          <a:ln w="9525" cap="flat" cmpd="sng" algn="ctr">
            <a:solidFill>
              <a:schemeClr val="tx1">
                <a:lumMod val="35000"/>
                <a:lumOff val="6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F69A80F-E0B7-BC7B-36D1-6ED752F4C404}"/>
              </a:ext>
            </a:extLst>
          </p:cNvPr>
          <p:cNvSpPr txBox="1">
            <a:spLocks/>
          </p:cNvSpPr>
          <p:nvPr/>
        </p:nvSpPr>
        <p:spPr bwMode="auto">
          <a:xfrm>
            <a:off x="6887295" y="1706399"/>
            <a:ext cx="4199805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kern="0" dirty="0"/>
              <a:t>We can not hope to achieve much more as other players react to our strategy</a:t>
            </a:r>
          </a:p>
          <a:p>
            <a:r>
              <a:rPr lang="en-US" kern="0" dirty="0"/>
              <a:t>It can even be proven that generally no-regret algorithms need to accept some loss as one needs to randomize over actions</a:t>
            </a:r>
          </a:p>
          <a:p>
            <a:endParaRPr lang="en-US" kern="0" dirty="0"/>
          </a:p>
        </p:txBody>
      </p:sp>
      <p:sp>
        <p:nvSpPr>
          <p:cNvPr id="10" name="Callout">
            <a:extLst>
              <a:ext uri="{FF2B5EF4-FFF2-40B4-BE49-F238E27FC236}">
                <a16:creationId xmlns:a16="http://schemas.microsoft.com/office/drawing/2014/main" id="{635B1735-0C29-0C24-31F7-6FF830C37D0F}"/>
              </a:ext>
            </a:extLst>
          </p:cNvPr>
          <p:cNvSpPr/>
          <p:nvPr/>
        </p:nvSpPr>
        <p:spPr>
          <a:xfrm>
            <a:off x="3586597" y="4776600"/>
            <a:ext cx="5688631" cy="1028664"/>
          </a:xfrm>
          <a:prstGeom prst="roundRect">
            <a:avLst>
              <a:gd name="adj" fmla="val 8000"/>
            </a:avLst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rIns="180000" anchor="ctr">
            <a:normAutofit/>
          </a:bodyPr>
          <a:lstStyle/>
          <a:p>
            <a:pPr algn="ctr"/>
            <a:r>
              <a:rPr lang="en-US" sz="1800" b="1" i="1" dirty="0">
                <a:solidFill>
                  <a:srgbClr val="FFFFFF"/>
                </a:solidFill>
              </a:rPr>
              <a:t>That each player achieves no-regret is neither to optimistic nor to pessimistic and therefore a realistic assumption</a:t>
            </a:r>
          </a:p>
        </p:txBody>
      </p:sp>
    </p:spTree>
    <p:extLst>
      <p:ext uri="{BB962C8B-B14F-4D97-AF65-F5344CB8AC3E}">
        <p14:creationId xmlns:p14="http://schemas.microsoft.com/office/powerpoint/2010/main" val="3964555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multiplicative weights (MW)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900" b="1" dirty="0">
                <a:solidFill>
                  <a:schemeClr val="accent1"/>
                </a:solidFill>
              </a:rPr>
              <a:t>Algorithm.  </a:t>
            </a:r>
            <a:r>
              <a:rPr sz="1900" b="0" dirty="0">
                <a:solidFill>
                  <a:schemeClr val="tx1"/>
                </a:solidFill>
              </a:rPr>
              <a:t>Maintain a weight </a:t>
            </a:r>
            <a:r>
              <a:rPr sz="1900" b="0" dirty="0" err="1">
                <a:solidFill>
                  <a:schemeClr val="tx1"/>
                </a:solidFill>
              </a:rPr>
              <a:t>w</a:t>
            </a:r>
            <a:r>
              <a:rPr sz="1400" b="0" i="1" baseline="30000" dirty="0" err="1">
                <a:solidFill>
                  <a:schemeClr val="tx1"/>
                </a:solidFill>
              </a:rPr>
              <a:t>t</a:t>
            </a:r>
            <a:r>
              <a:rPr sz="1900" b="0" dirty="0">
                <a:solidFill>
                  <a:schemeClr val="tx1"/>
                </a:solidFill>
              </a:rPr>
              <a:t>(a) for every action a ∈ A, initialized to w</a:t>
            </a:r>
            <a:r>
              <a:rPr sz="1400" b="0" baseline="30000" dirty="0">
                <a:solidFill>
                  <a:schemeClr val="tx1"/>
                </a:solidFill>
              </a:rPr>
              <a:t>1</a:t>
            </a:r>
            <a:r>
              <a:rPr sz="1900" b="0" dirty="0">
                <a:solidFill>
                  <a:schemeClr val="tx1"/>
                </a:solidFill>
              </a:rPr>
              <a:t>(a) = 1. At each time t = 1, …, T: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dirty="0">
                <a:solidFill>
                  <a:schemeClr val="accent1"/>
                </a:solidFill>
              </a:rPr>
              <a:t>p</a:t>
            </a:r>
            <a:r>
              <a:rPr sz="1400" b="1" i="1" baseline="30000" dirty="0">
                <a:solidFill>
                  <a:schemeClr val="accent1"/>
                </a:solidFill>
              </a:rPr>
              <a:t>t</a:t>
            </a:r>
            <a:r>
              <a:rPr sz="1800" b="1" dirty="0">
                <a:solidFill>
                  <a:schemeClr val="accent1"/>
                </a:solidFill>
              </a:rPr>
              <a:t> := </a:t>
            </a:r>
            <a:r>
              <a:rPr sz="1800" b="1" dirty="0" err="1">
                <a:solidFill>
                  <a:schemeClr val="accent1"/>
                </a:solidFill>
              </a:rPr>
              <a:t>w</a:t>
            </a:r>
            <a:r>
              <a:rPr sz="1400" b="1" i="1" baseline="30000" dirty="0" err="1">
                <a:solidFill>
                  <a:schemeClr val="accent1"/>
                </a:solidFill>
              </a:rPr>
              <a:t>t</a:t>
            </a:r>
            <a:r>
              <a:rPr sz="1800" b="1" dirty="0">
                <a:solidFill>
                  <a:schemeClr val="accent1"/>
                </a:solidFill>
              </a:rPr>
              <a:t>/</a:t>
            </a:r>
            <a:r>
              <a:rPr sz="1800" b="1" dirty="0" err="1">
                <a:solidFill>
                  <a:schemeClr val="accent1"/>
                </a:solidFill>
              </a:rPr>
              <a:t>Γ</a:t>
            </a:r>
            <a:r>
              <a:rPr sz="1400" b="1" i="1" baseline="30000" dirty="0" err="1">
                <a:solidFill>
                  <a:schemeClr val="accent1"/>
                </a:solidFill>
              </a:rPr>
              <a:t>t</a:t>
            </a:r>
            <a:r>
              <a:rPr sz="1800" b="1" dirty="0">
                <a:solidFill>
                  <a:schemeClr val="tx1"/>
                </a:solidFill>
              </a:rPr>
              <a:t>   play action a with probability p</a:t>
            </a:r>
            <a:r>
              <a:rPr sz="1400" b="1" i="1" baseline="30000" dirty="0">
                <a:solidFill>
                  <a:schemeClr val="tx1"/>
                </a:solidFill>
              </a:rPr>
              <a:t>t</a:t>
            </a:r>
            <a:r>
              <a:rPr sz="1800" b="1" dirty="0">
                <a:solidFill>
                  <a:schemeClr val="tx1"/>
                </a:solidFill>
              </a:rPr>
              <a:t>(a)</a:t>
            </a:r>
          </a:p>
          <a:p>
            <a:pPr marL="0" indent="0">
              <a:spcBef>
                <a:spcPts val="0"/>
              </a:spcBef>
              <a:spcAft>
                <a:spcPts val="1600"/>
              </a:spcAft>
              <a:buNone/>
            </a:pPr>
            <a:r>
              <a:rPr sz="1500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Γ</a:t>
            </a:r>
            <a:r>
              <a:rPr sz="1150" b="0" i="1" baseline="30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sz="15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= </a:t>
            </a:r>
            <a:r>
              <a:rPr sz="1500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Σ</a:t>
            </a:r>
            <a:r>
              <a:rPr sz="1050" b="0" baseline="-25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a∈A</a:t>
            </a:r>
            <a:r>
              <a:rPr sz="15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1500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sz="1150" b="0" i="1" baseline="30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sz="15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is the sum of the weights</a:t>
            </a:r>
            <a:r>
              <a:rPr lang="en-US" sz="15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=&gt;</a:t>
            </a:r>
            <a:r>
              <a:rPr sz="15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an action is played with probability proportional to its own weight.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dirty="0">
                <a:solidFill>
                  <a:schemeClr val="accent1"/>
                </a:solidFill>
              </a:rPr>
              <a:t>w</a:t>
            </a:r>
            <a:r>
              <a:rPr sz="1300" b="1" i="1" baseline="30000" dirty="0">
                <a:solidFill>
                  <a:schemeClr val="accent1"/>
                </a:solidFill>
              </a:rPr>
              <a:t>t+1</a:t>
            </a:r>
            <a:r>
              <a:rPr sz="1800" b="1" dirty="0">
                <a:solidFill>
                  <a:schemeClr val="accent1"/>
                </a:solidFill>
              </a:rPr>
              <a:t>(a) = </a:t>
            </a:r>
            <a:r>
              <a:rPr sz="1800" b="1" dirty="0" err="1">
                <a:solidFill>
                  <a:schemeClr val="accent1"/>
                </a:solidFill>
              </a:rPr>
              <a:t>w</a:t>
            </a:r>
            <a:r>
              <a:rPr sz="1400" b="1" i="1" baseline="30000" dirty="0" err="1">
                <a:solidFill>
                  <a:schemeClr val="accent1"/>
                </a:solidFill>
              </a:rPr>
              <a:t>t</a:t>
            </a:r>
            <a:r>
              <a:rPr sz="1800" b="1" dirty="0">
                <a:solidFill>
                  <a:schemeClr val="accent1"/>
                </a:solidFill>
              </a:rPr>
              <a:t>(a) · (1 − ε)</a:t>
            </a:r>
            <a:r>
              <a:rPr sz="1300" b="1" i="1" baseline="30000" dirty="0" err="1">
                <a:solidFill>
                  <a:schemeClr val="accent1"/>
                </a:solidFill>
              </a:rPr>
              <a:t>c</a:t>
            </a:r>
            <a:r>
              <a:rPr sz="1100" b="1" i="1" baseline="30000" dirty="0" err="1">
                <a:solidFill>
                  <a:schemeClr val="accent1"/>
                </a:solidFill>
              </a:rPr>
              <a:t>t</a:t>
            </a:r>
            <a:r>
              <a:rPr sz="1300" b="1" baseline="30000" dirty="0">
                <a:solidFill>
                  <a:schemeClr val="accent1"/>
                </a:solidFill>
              </a:rPr>
              <a:t>(a)</a:t>
            </a:r>
            <a:r>
              <a:rPr sz="1800" b="1" dirty="0">
                <a:solidFill>
                  <a:schemeClr val="tx1"/>
                </a:solidFill>
              </a:rPr>
              <a:t>   update every action's weight using the cost vector </a:t>
            </a:r>
            <a:r>
              <a:rPr sz="1800" b="1" dirty="0" err="1">
                <a:solidFill>
                  <a:schemeClr val="tx1"/>
                </a:solidFill>
              </a:rPr>
              <a:t>c</a:t>
            </a:r>
            <a:r>
              <a:rPr sz="1400" b="1" i="1" baseline="30000" dirty="0" err="1">
                <a:solidFill>
                  <a:schemeClr val="tx1"/>
                </a:solidFill>
              </a:rPr>
              <a:t>t</a:t>
            </a:r>
            <a:endParaRPr sz="1400" b="1" i="1" baseline="300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1600"/>
              </a:spcAft>
              <a:buNone/>
            </a:pPr>
            <a:r>
              <a:rPr sz="15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If costs are 0/1: a weight is unchanged when </a:t>
            </a:r>
            <a:r>
              <a:rPr sz="1500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</a:t>
            </a:r>
            <a:r>
              <a:rPr sz="1150" b="0" i="1" baseline="30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sz="15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0, and multiplied by (1 − ε) when </a:t>
            </a:r>
            <a:r>
              <a:rPr sz="1500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</a:t>
            </a:r>
            <a:r>
              <a:rPr sz="1150" b="0" i="1" baseline="30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sz="15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1 — bad actions are punished at an exponential rate.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500" b="1" dirty="0">
                <a:solidFill>
                  <a:schemeClr val="accent1"/>
                </a:solidFill>
              </a:rPr>
              <a:t>Role of ε ∈ (0, ½].  </a:t>
            </a:r>
            <a:r>
              <a:rPr sz="15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Small ε → p</a:t>
            </a:r>
            <a:r>
              <a:rPr sz="1150" b="0" i="1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sz="15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close to uniform (exploration); ε → 1 → all mass on the action with lowest cost so far (exploitation).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700" b="1" dirty="0">
                <a:solidFill>
                  <a:schemeClr val="accent1"/>
                </a:solidFill>
              </a:rPr>
              <a:t>Guarantee.  </a:t>
            </a:r>
            <a:r>
              <a:rPr sz="1700" b="0" dirty="0">
                <a:solidFill>
                  <a:schemeClr val="tx1"/>
                </a:solidFill>
              </a:rPr>
              <a:t>Setting ε = √(ln n / T) gives expected regret ≤ 2√(ln n / T) with respect to every fixed action and only O(ln n / ε²) rounds are needed for regret ≤ ε.</a:t>
            </a:r>
            <a:r>
              <a:rPr lang="en-US" sz="1700" b="0" dirty="0">
                <a:solidFill>
                  <a:schemeClr val="tx1"/>
                </a:solidFill>
              </a:rPr>
              <a:t> (This is provably as good as it gets.)</a:t>
            </a:r>
            <a:endParaRPr sz="1700" b="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40B5-0991-4F5B-A4AA-139A8CA183CA}" type="datetime1">
              <a:rPr lang="da-DK" smtClean="0"/>
              <a:t>15-09-2026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da-D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18</a:t>
            </a:fld>
            <a:endParaRPr lang="da-DK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1F633-A7D5-477F-F225-267907D24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B42EC-8D8B-85DC-6ED5-23DB9468B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Mixed Nash equilibrium, bad fact 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330CE-A049-51DB-A8A0-4615DA3DD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1713" y="1628800"/>
            <a:ext cx="9312374" cy="4545578"/>
          </a:xfrm>
        </p:spPr>
        <p:txBody>
          <a:bodyPr/>
          <a:lstStyle/>
          <a:p>
            <a:r>
              <a:rPr lang="en-US" dirty="0"/>
              <a:t>To find it is PPAD hard (not in polynomial time)</a:t>
            </a:r>
          </a:p>
          <a:p>
            <a:pPr lvl="1"/>
            <a:r>
              <a:rPr lang="en-US" dirty="0"/>
              <a:t>How can players with simple algorithms even reach it?</a:t>
            </a:r>
          </a:p>
          <a:p>
            <a:r>
              <a:rPr lang="en-US" dirty="0"/>
              <a:t>The set of mixed Nash equilibria is not arbitrary, but ugly</a:t>
            </a:r>
          </a:p>
          <a:p>
            <a:pPr lvl="1"/>
            <a:r>
              <a:rPr lang="en-US" dirty="0"/>
              <a:t>This is bad given that we want to optimize over it for </a:t>
            </a:r>
            <a:r>
              <a:rPr lang="en-US" dirty="0" err="1"/>
              <a:t>PoA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EFA65-95F7-388C-88C0-616E0E50E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2FD71-ECAA-4097-831E-66E55434C5FA}" type="datetime1">
              <a:rPr lang="da-DK" smtClean="0"/>
              <a:t>15-09-2026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E375C-03E5-C29A-6537-9B23E7A9C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21894-126C-B0ED-A0F7-2A7DB48DB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19</a:t>
            </a:fld>
            <a:endParaRPr lang="da-DK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6A0A879-F492-47A3-2379-DBE4164C99D8}"/>
              </a:ext>
            </a:extLst>
          </p:cNvPr>
          <p:cNvGrpSpPr/>
          <p:nvPr/>
        </p:nvGrpSpPr>
        <p:grpSpPr>
          <a:xfrm>
            <a:off x="7802956" y="2492896"/>
            <a:ext cx="3974807" cy="3742242"/>
            <a:chOff x="5699623" y="1865624"/>
            <a:chExt cx="4769110" cy="4490071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641D8D1-2076-FD46-0291-A17BA49F51DB}"/>
                </a:ext>
              </a:extLst>
            </p:cNvPr>
            <p:cNvSpPr/>
            <p:nvPr/>
          </p:nvSpPr>
          <p:spPr bwMode="auto">
            <a:xfrm>
              <a:off x="5699623" y="1865624"/>
              <a:ext cx="4769110" cy="449007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F07A663-0D1F-A0FF-E18D-AAC258D2E8C4}"/>
                </a:ext>
              </a:extLst>
            </p:cNvPr>
            <p:cNvSpPr/>
            <p:nvPr/>
          </p:nvSpPr>
          <p:spPr bwMode="auto">
            <a:xfrm>
              <a:off x="6527914" y="2809198"/>
              <a:ext cx="3569045" cy="3171283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E972171-0380-86A4-6F0C-0ED7AE9C88D2}"/>
                </a:ext>
              </a:extLst>
            </p:cNvPr>
            <p:cNvSpPr/>
            <p:nvPr/>
          </p:nvSpPr>
          <p:spPr bwMode="auto">
            <a:xfrm>
              <a:off x="7845129" y="3699288"/>
              <a:ext cx="1975733" cy="183631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chemeClr val="tx1"/>
                  </a:solidFill>
                  <a:ea typeface="ＭＳ Ｐゴシック" pitchFamily="-80" charset="-128"/>
                </a:rPr>
                <a:t>NE</a:t>
              </a:r>
              <a:endParaRPr kumimoji="0" lang="en-US" sz="1600" b="0" i="0" u="none" strike="noStrike" cap="none" normalizeH="0" baseline="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234491F-F6F9-1373-9397-07556932026F}"/>
                </a:ext>
              </a:extLst>
            </p:cNvPr>
            <p:cNvSpPr txBox="1"/>
            <p:nvPr/>
          </p:nvSpPr>
          <p:spPr>
            <a:xfrm>
              <a:off x="7081763" y="3064902"/>
              <a:ext cx="1884156" cy="4062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432"/>
                </a:spcBef>
              </a:pPr>
              <a:r>
                <a:rPr lang="en-US" dirty="0"/>
                <a:t>CE</a:t>
              </a: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96DA0A3-6A9B-FDB1-D178-CE4C50F91F59}"/>
                </a:ext>
              </a:extLst>
            </p:cNvPr>
            <p:cNvSpPr txBox="1"/>
            <p:nvPr/>
          </p:nvSpPr>
          <p:spPr>
            <a:xfrm>
              <a:off x="6861023" y="2079034"/>
              <a:ext cx="2238161" cy="4062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solidFill>
                    <a:schemeClr val="tx1"/>
                  </a:solidFill>
                  <a:ea typeface="ＭＳ Ｐゴシック" pitchFamily="-80" charset="-128"/>
                </a:rPr>
                <a:t>CCE</a:t>
              </a:r>
              <a:endParaRPr kumimoji="0" lang="en-US" sz="1600" b="0" i="0" u="none" strike="noStrike" cap="none" normalizeH="0" baseline="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</p:grp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6291E8B-AF16-E7FD-739A-AD6C1E8B2F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64086" y="2406158"/>
            <a:ext cx="529208" cy="529208"/>
          </a:xfrm>
          <a:prstGeom prst="rect">
            <a:avLst/>
          </a:prstGeom>
        </p:spPr>
      </p:pic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F4783972-96EE-604D-24BD-5D6AC4494C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64086" y="1723919"/>
            <a:ext cx="529208" cy="52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359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82094-253B-76EC-EE36-8D64A834B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take-aways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67AAC-C0E4-2B0F-C49C-B579ED35C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learning algorithms lead to (approximate) CCE’s very quickly.</a:t>
            </a:r>
          </a:p>
          <a:p>
            <a:pPr lvl="1"/>
            <a:r>
              <a:rPr lang="en-US" dirty="0"/>
              <a:t>They are therefore surprisingly tractable and surprisingly realistic as predictions for game outcomes</a:t>
            </a:r>
          </a:p>
          <a:p>
            <a:r>
              <a:rPr lang="en-US" dirty="0"/>
              <a:t>We moved away from considering the outcome of one game but or now considering the outcome of one game played multiple times.</a:t>
            </a:r>
          </a:p>
          <a:p>
            <a:pPr lvl="1"/>
            <a:r>
              <a:rPr lang="en-US" dirty="0"/>
              <a:t>We understand the learning trajectory of a game as its true outcome.</a:t>
            </a:r>
          </a:p>
          <a:p>
            <a:r>
              <a:rPr lang="en-US" dirty="0"/>
              <a:t>What we do not know is if any CCE is reachable by learning dynamics and if so under how realistic ones.</a:t>
            </a:r>
          </a:p>
          <a:p>
            <a:pPr lvl="1"/>
            <a:r>
              <a:rPr lang="en-US" dirty="0"/>
              <a:t>This is the weakness in how realistic this equilibrium notation is.</a:t>
            </a:r>
          </a:p>
          <a:p>
            <a:r>
              <a:rPr lang="en-US" dirty="0"/>
              <a:t>The set of all CCE or CE of a game can be described via linear inequalities</a:t>
            </a:r>
          </a:p>
          <a:p>
            <a:pPr lvl="1"/>
            <a:r>
              <a:rPr lang="en-US" dirty="0"/>
              <a:t>That’s as nice as it gets, especially if one wants to optimize over them.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7BB3F-03FF-88E9-6C97-550BB5F88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9FA70-A522-47E1-8501-CC37FC7F686C}" type="datetime1">
              <a:rPr lang="da-DK" smtClean="0"/>
              <a:t>15-09-2026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FCBCF-CB13-CE56-2426-8A688A100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12413-7911-ABD7-DFE5-D4B46DDFC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20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59821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FD78B-30E8-BE48-D8DF-E2EC76D65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A9C857-684A-B0FC-943B-370AF8C7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04BE6F-A03A-4BAD-B3B7-D83A09052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2F1E-DBC6-4852-9FED-183CD75D99D6}" type="datetime1">
              <a:rPr lang="da-DK" smtClean="0"/>
              <a:t>15-09-2026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C161D-4D93-5CD9-7ECD-8946D6DCF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3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108069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TU Template 16_9 - Corporate red-ENG.potx" id="{ED70A225-5B60-42AC-912C-67898019C42C}" vid="{E9106579-58D4-45CA-A6E9-5E2F157EFB5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F6007D7CF16C40B69BF019D03F7C28" ma:contentTypeVersion="3" ma:contentTypeDescription="Create a new document." ma:contentTypeScope="" ma:versionID="34f4c2f49eb3d6d60a86785797f3a7f6">
  <xsd:schema xmlns:xsd="http://www.w3.org/2001/XMLSchema" xmlns:xs="http://www.w3.org/2001/XMLSchema" xmlns:p="http://schemas.microsoft.com/office/2006/metadata/properties" xmlns:ns2="45ca789d-f10b-42cb-a0c4-5a5c9c074fd5" targetNamespace="http://schemas.microsoft.com/office/2006/metadata/properties" ma:root="true" ma:fieldsID="8a4b7de105e7e203facdcbd34edff5c6" ns2:_="">
    <xsd:import namespace="45ca789d-f10b-42cb-a0c4-5a5c9c074f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ca789d-f10b-42cb-a0c4-5a5c9c074f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TemplafyTemplateConfiguration><![CDATA[{"elementsMetadata":[],"transformationConfigurations":[{"language":"{{DocumentLanguage}}","disableUpdates":false,"type":"proofingLanguage"}],"templateName":"DTU Template 16_9 - Corporate red","templateDescription":"","enableDocumentContentUpdater":true,"version":"1.2"}]]></Templafy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TemplafyFormConfiguration><![CDATA[{"formFields":[{"required":false,"type":"datePicker","name":"Date","label":"Date","helpTexts":{"prefix":"","postfix":""},"spacing":{},"fullyQualifiedName":"Date"},{"required":false,"placeholder":"","lines":0,"type":"textBox","name":"PresentationTitle","label":"Presentation title","helpTexts":{"prefix":"","postfix":""},"spacing":{},"fullyQualifiedName":"PresentationTitle"}],"formDataEntries":[]}]]></TemplafyFormConfiguration>
</file>

<file path=customXml/item6.xml><?xml version="1.0" encoding="utf-8"?>
<TemplafySlideTemplateConfiguration><![CDATA[{"elementsMetadata":[],"documentContentValidatorConfiguration":{"enableDocumentContentValidator":false,"documentContentValidatorVersion":0},"slideId":"636957680393236694","enableDocumentContentUpdater":true,"version":"1.2"}]]></TemplafySlideTemplateConfiguration>
</file>

<file path=customXml/item7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8.xml><?xml version="1.0" encoding="utf-8"?>
<TemplafySlideTemplateConfiguration><![CDATA[{"elementsMetadata":[],"documentContentValidatorConfiguration":{"enableDocumentContentValidator":false,"documentContentValidatorVersion":0},"slideId":"636957680393408390","enableDocumentContentUpdater":true,"version":"1.2"}]]></TemplafySlideTemplateConfiguration>
</file>

<file path=customXml/item9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79EECA92-C6D9-4458-BC1F-01D2BEF6171C}"/>
</file>

<file path=customXml/itemProps2.xml><?xml version="1.0" encoding="utf-8"?>
<ds:datastoreItem xmlns:ds="http://schemas.openxmlformats.org/officeDocument/2006/customXml" ds:itemID="{1334258C-C3E7-4029-A615-C886A240FB15}">
  <ds:schemaRefs/>
</ds:datastoreItem>
</file>

<file path=customXml/itemProps3.xml><?xml version="1.0" encoding="utf-8"?>
<ds:datastoreItem xmlns:ds="http://schemas.openxmlformats.org/officeDocument/2006/customXml" ds:itemID="{8D505698-4786-CC44-9094-099CC766D7F6}">
  <ds:schemaRefs/>
</ds:datastoreItem>
</file>

<file path=customXml/itemProps4.xml><?xml version="1.0" encoding="utf-8"?>
<ds:datastoreItem xmlns:ds="http://schemas.openxmlformats.org/officeDocument/2006/customXml" ds:itemID="{49765D68-68C5-4CFA-97ED-A38AD8E70B7F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43763224-B85A-4B53-A86A-261D26A71C30}">
  <ds:schemaRefs/>
</ds:datastoreItem>
</file>

<file path=customXml/itemProps6.xml><?xml version="1.0" encoding="utf-8"?>
<ds:datastoreItem xmlns:ds="http://schemas.openxmlformats.org/officeDocument/2006/customXml" ds:itemID="{A25A155D-B383-6A4F-B91D-EEBF1BDDEEDC}">
  <ds:schemaRefs/>
</ds:datastoreItem>
</file>

<file path=customXml/itemProps7.xml><?xml version="1.0" encoding="utf-8"?>
<ds:datastoreItem xmlns:ds="http://schemas.openxmlformats.org/officeDocument/2006/customXml" ds:itemID="{CD7A73E0-5E80-4908-B0DB-9E20244FD02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8.xml><?xml version="1.0" encoding="utf-8"?>
<ds:datastoreItem xmlns:ds="http://schemas.openxmlformats.org/officeDocument/2006/customXml" ds:itemID="{B22FF1D6-F8AD-4319-9EBA-0A8483BB33F6}">
  <ds:schemaRefs/>
</ds:datastoreItem>
</file>

<file path=customXml/itemProps9.xml><?xml version="1.0" encoding="utf-8"?>
<ds:datastoreItem xmlns:ds="http://schemas.openxmlformats.org/officeDocument/2006/customXml" ds:itemID="{4BADD803-C5D1-4CE4-9E94-B9CD2ABC465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22150</TotalTime>
  <Words>2446</Words>
  <Application>Microsoft Office PowerPoint</Application>
  <PresentationFormat>Custom</PresentationFormat>
  <Paragraphs>289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ＭＳ Ｐゴシック</vt:lpstr>
      <vt:lpstr>Arial</vt:lpstr>
      <vt:lpstr>Verdana</vt:lpstr>
      <vt:lpstr>Blank</vt:lpstr>
      <vt:lpstr>Game Theory in Electricity Markets</vt:lpstr>
      <vt:lpstr>Nash equilibria in practice</vt:lpstr>
      <vt:lpstr>Mixed Nash equilibrium, bad fact sheet</vt:lpstr>
      <vt:lpstr>Stop and Go</vt:lpstr>
      <vt:lpstr>Stop and Go</vt:lpstr>
      <vt:lpstr>Correlated equilibrium</vt:lpstr>
      <vt:lpstr>The set of correlated equilibria</vt:lpstr>
      <vt:lpstr>Stop and Go</vt:lpstr>
      <vt:lpstr>The CE set for Stop and Go</vt:lpstr>
      <vt:lpstr>Stop and Go and Slow</vt:lpstr>
      <vt:lpstr>Stop and Go and Slow</vt:lpstr>
      <vt:lpstr>Coarse correlated equilibrium</vt:lpstr>
      <vt:lpstr>Mixed Nash equilibrium, bad fact sheet</vt:lpstr>
      <vt:lpstr>Repeated game</vt:lpstr>
      <vt:lpstr>How to measure quality of a decision</vt:lpstr>
      <vt:lpstr>No regret and no-regret algorithms</vt:lpstr>
      <vt:lpstr>No-regret dynamics converge to CCE</vt:lpstr>
      <vt:lpstr>No-regret dynamics </vt:lpstr>
      <vt:lpstr>The multiplicative weights (MW) algorithm</vt:lpstr>
      <vt:lpstr>Mixed Nash equilibrium, bad fact sheet</vt:lpstr>
      <vt:lpstr>Key take-aways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Linus Strauch</dc:creator>
  <cp:lastModifiedBy>Linus Strauch</cp:lastModifiedBy>
  <cp:revision>190</cp:revision>
  <dcterms:created xsi:type="dcterms:W3CDTF">2025-01-10T13:07:19Z</dcterms:created>
  <dcterms:modified xsi:type="dcterms:W3CDTF">2026-09-16T06:23:17Z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imeStamp">
    <vt:lpwstr>2019-06-10T12:53:59.0527961Z</vt:lpwstr>
  </property>
  <property fmtid="{D5CDD505-2E9C-101B-9397-08002B2CF9AE}" pid="4" name="ContentTypeId">
    <vt:lpwstr>0x010100F8F6007D7CF16C40B69BF019D03F7C28</vt:lpwstr>
  </property>
</Properties>
</file>